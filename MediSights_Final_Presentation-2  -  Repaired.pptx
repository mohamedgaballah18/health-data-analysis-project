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86" r:id="rId3"/>
    <p:sldId id="287" r:id="rId4"/>
    <p:sldId id="257" r:id="rId5"/>
    <p:sldId id="258" r:id="rId6"/>
    <p:sldId id="290" r:id="rId7"/>
    <p:sldId id="289" r:id="rId8"/>
    <p:sldId id="288" r:id="rId9"/>
    <p:sldId id="297" r:id="rId10"/>
    <p:sldId id="298" r:id="rId11"/>
    <p:sldId id="300" r:id="rId12"/>
    <p:sldId id="299" r:id="rId13"/>
    <p:sldId id="259" r:id="rId14"/>
    <p:sldId id="265" r:id="rId15"/>
    <p:sldId id="260" r:id="rId16"/>
    <p:sldId id="261" r:id="rId17"/>
    <p:sldId id="262" r:id="rId18"/>
    <p:sldId id="263" r:id="rId19"/>
    <p:sldId id="264" r:id="rId20"/>
    <p:sldId id="270" r:id="rId21"/>
    <p:sldId id="266" r:id="rId22"/>
    <p:sldId id="267" r:id="rId23"/>
    <p:sldId id="268" r:id="rId24"/>
    <p:sldId id="269" r:id="rId25"/>
    <p:sldId id="275" r:id="rId26"/>
    <p:sldId id="271" r:id="rId27"/>
    <p:sldId id="272" r:id="rId28"/>
    <p:sldId id="273" r:id="rId29"/>
    <p:sldId id="274" r:id="rId30"/>
    <p:sldId id="280" r:id="rId31"/>
    <p:sldId id="276" r:id="rId32"/>
    <p:sldId id="277" r:id="rId33"/>
    <p:sldId id="278" r:id="rId34"/>
    <p:sldId id="279" r:id="rId35"/>
    <p:sldId id="291" r:id="rId36"/>
    <p:sldId id="292" r:id="rId37"/>
    <p:sldId id="293" r:id="rId38"/>
    <p:sldId id="281" r:id="rId39"/>
    <p:sldId id="294" r:id="rId40"/>
    <p:sldId id="295" r:id="rId41"/>
    <p:sldId id="296" r:id="rId42"/>
    <p:sldId id="282" r:id="rId43"/>
    <p:sldId id="283" r:id="rId44"/>
    <p:sldId id="284" r:id="rId45"/>
    <p:sldId id="285"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26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117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72308-D2BE-8AD5-65C7-278A16C62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A6AFC-3176-4C53-8547-24123E63F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683F1-E397-1F3A-278C-B928D578BC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77F3D-57DD-A6DE-1FC7-EB8C87AC00D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95485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github.com/MohamedGaballah18/Health-Data-Analysis-Project"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final-project-nti-efqn6ed7gmx68o3rxtczpj.streamlit.app/" TargetMode="External"/><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medisights_ppt/photo_2026-08-13_22-13-20.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4251960"/>
            <a:ext cx="12191695" cy="2606040"/>
          </a:xfrm>
          <a:prstGeom prst="rect">
            <a:avLst/>
          </a:prstGeom>
          <a:solidFill>
            <a:srgbClr val="0B1B2E">
              <a:alpha val="88000"/>
            </a:srgbClr>
          </a:solidFill>
          <a:ln/>
        </p:spPr>
        <p:txBody>
          <a:bodyPr/>
          <a:lstStyle/>
          <a:p>
            <a:endParaRPr lang="en-US"/>
          </a:p>
        </p:txBody>
      </p:sp>
      <p:sp>
        <p:nvSpPr>
          <p:cNvPr id="4" name="Shape 1"/>
          <p:cNvSpPr/>
          <p:nvPr/>
        </p:nvSpPr>
        <p:spPr>
          <a:xfrm>
            <a:off x="640080" y="4526280"/>
            <a:ext cx="3877056" cy="310896"/>
          </a:xfrm>
          <a:prstGeom prst="roundRect">
            <a:avLst>
              <a:gd name="adj" fmla="val 50000"/>
            </a:avLst>
          </a:prstGeom>
          <a:solidFill>
            <a:srgbClr val="22C3A6"/>
          </a:solidFill>
          <a:ln/>
        </p:spPr>
        <p:txBody>
          <a:bodyPr/>
          <a:lstStyle/>
          <a:p>
            <a:endParaRPr lang="en-US"/>
          </a:p>
        </p:txBody>
      </p:sp>
      <p:sp>
        <p:nvSpPr>
          <p:cNvPr id="5" name="Text 2"/>
          <p:cNvSpPr/>
          <p:nvPr/>
        </p:nvSpPr>
        <p:spPr>
          <a:xfrm>
            <a:off x="640080" y="4526280"/>
            <a:ext cx="3877056" cy="310896"/>
          </a:xfrm>
          <a:prstGeom prst="rect">
            <a:avLst/>
          </a:prstGeom>
          <a:noFill/>
          <a:ln/>
        </p:spPr>
        <p:txBody>
          <a:bodyPr wrap="square" lIns="0" tIns="0" rIns="0" bIns="0" rtlCol="0" anchor="ctr"/>
          <a:lstStyle/>
          <a:p>
            <a:pPr marL="0" indent="0" algn="ctr">
              <a:buNone/>
            </a:pPr>
            <a:r>
              <a:rPr lang="en-US" sz="1050" b="1" kern="0" spc="120" dirty="0">
                <a:solidFill>
                  <a:srgbClr val="0B1B2E"/>
                </a:solidFill>
                <a:latin typeface="Calibri" pitchFamily="34" charset="0"/>
                <a:ea typeface="Calibri" pitchFamily="34" charset="-122"/>
                <a:cs typeface="Calibri" pitchFamily="34" charset="-120"/>
              </a:rPr>
              <a:t>NTI FINAL PROJECT</a:t>
            </a:r>
            <a:endParaRPr lang="en-US" sz="1050" dirty="0"/>
          </a:p>
        </p:txBody>
      </p:sp>
      <p:sp>
        <p:nvSpPr>
          <p:cNvPr id="6" name="Text 3"/>
          <p:cNvSpPr/>
          <p:nvPr/>
        </p:nvSpPr>
        <p:spPr>
          <a:xfrm>
            <a:off x="640080" y="4937760"/>
            <a:ext cx="10881360" cy="1051560"/>
          </a:xfrm>
          <a:prstGeom prst="rect">
            <a:avLst/>
          </a:prstGeom>
          <a:noFill/>
          <a:ln/>
        </p:spPr>
        <p:txBody>
          <a:bodyPr wrap="square" lIns="0" tIns="0" rIns="0" bIns="0" rtlCol="0" anchor="ctr"/>
          <a:lstStyle/>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Data-Driven Clinical Insights for Smarter Population Health Decisions</a:t>
            </a:r>
            <a:endParaRPr lang="en-US" sz="3000" dirty="0"/>
          </a:p>
        </p:txBody>
      </p:sp>
      <p:sp>
        <p:nvSpPr>
          <p:cNvPr id="7" name="Text 4"/>
          <p:cNvSpPr/>
          <p:nvPr/>
        </p:nvSpPr>
        <p:spPr>
          <a:xfrm>
            <a:off x="640080" y="5989320"/>
            <a:ext cx="10424160" cy="548640"/>
          </a:xfrm>
          <a:prstGeom prst="rect">
            <a:avLst/>
          </a:prstGeom>
          <a:noFill/>
          <a:ln/>
        </p:spPr>
        <p:txBody>
          <a:bodyPr wrap="square" lIns="0" tIns="0" rIns="0" bIns="0" rtlCol="0" anchor="ctr"/>
          <a:lstStyle/>
          <a:p>
            <a:pPr marL="0" indent="0">
              <a:buNone/>
            </a:pPr>
            <a:r>
              <a:rPr lang="en-US" sz="1350" dirty="0">
                <a:solidFill>
                  <a:srgbClr val="CFE0EA"/>
                </a:solidFill>
                <a:latin typeface="Calibri" pitchFamily="34" charset="0"/>
                <a:ea typeface="Calibri" pitchFamily="34" charset="-122"/>
                <a:cs typeface="Calibri" pitchFamily="34" charset="-120"/>
              </a:rPr>
              <a:t>A full analytics pipeline — Python · SQL · Excel · Power BI · Tableau · Streamlit — turning raw health records into dashboards and an interactive app healthcare teams can act on.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3E031-9557-EB8A-8767-7493BEDC4737}"/>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6F915DFF-8BEE-0713-03C9-62E76C583BAD}"/>
              </a:ext>
            </a:extLst>
          </p:cNvPr>
          <p:cNvSpPr/>
          <p:nvPr/>
        </p:nvSpPr>
        <p:spPr>
          <a:xfrm>
            <a:off x="640080" y="4914178"/>
            <a:ext cx="10881360" cy="1051560"/>
          </a:xfrm>
          <a:prstGeom prst="rect">
            <a:avLst/>
          </a:prstGeom>
          <a:noFill/>
          <a:ln/>
        </p:spPr>
        <p:txBody>
          <a:bodyPr wrap="square" lIns="0" tIns="0" rIns="0" bIns="0" rtlCol="0" anchor="ctr"/>
          <a:lstStyle/>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Data-Driven Clinical Insights for Smarter Population Health Decisions</a:t>
            </a:r>
            <a:endParaRPr lang="en-US" sz="3000" dirty="0"/>
          </a:p>
        </p:txBody>
      </p:sp>
      <p:sp>
        <p:nvSpPr>
          <p:cNvPr id="7" name="Text 4">
            <a:extLst>
              <a:ext uri="{FF2B5EF4-FFF2-40B4-BE49-F238E27FC236}">
                <a16:creationId xmlns:a16="http://schemas.microsoft.com/office/drawing/2014/main" id="{0A614453-DDBF-BA1C-D278-D5B426BE5EC1}"/>
              </a:ext>
            </a:extLst>
          </p:cNvPr>
          <p:cNvSpPr/>
          <p:nvPr/>
        </p:nvSpPr>
        <p:spPr>
          <a:xfrm>
            <a:off x="640080" y="5989320"/>
            <a:ext cx="10424160" cy="548640"/>
          </a:xfrm>
          <a:prstGeom prst="rect">
            <a:avLst/>
          </a:prstGeom>
          <a:noFill/>
          <a:ln/>
        </p:spPr>
        <p:txBody>
          <a:bodyPr wrap="square" lIns="0" tIns="0" rIns="0" bIns="0" rtlCol="0" anchor="ctr"/>
          <a:lstStyle/>
          <a:p>
            <a:pPr marL="0" indent="0">
              <a:buNone/>
            </a:pPr>
            <a:endParaRPr lang="en-US" sz="1350" dirty="0"/>
          </a:p>
        </p:txBody>
      </p:sp>
      <p:pic>
        <p:nvPicPr>
          <p:cNvPr id="11" name="Picture 10">
            <a:extLst>
              <a:ext uri="{FF2B5EF4-FFF2-40B4-BE49-F238E27FC236}">
                <a16:creationId xmlns:a16="http://schemas.microsoft.com/office/drawing/2014/main" id="{793A8156-C56C-1F52-5F64-E19941B807A9}"/>
              </a:ext>
            </a:extLst>
          </p:cNvPr>
          <p:cNvPicPr>
            <a:picLocks noChangeAspect="1"/>
          </p:cNvPicPr>
          <p:nvPr/>
        </p:nvPicPr>
        <p:blipFill>
          <a:blip r:embed="rId3"/>
          <a:stretch>
            <a:fillRect/>
          </a:stretch>
        </p:blipFill>
        <p:spPr>
          <a:xfrm>
            <a:off x="1488" y="0"/>
            <a:ext cx="12189023" cy="6858000"/>
          </a:xfrm>
          <a:prstGeom prst="rect">
            <a:avLst/>
          </a:prstGeom>
        </p:spPr>
      </p:pic>
    </p:spTree>
    <p:extLst>
      <p:ext uri="{BB962C8B-B14F-4D97-AF65-F5344CB8AC3E}">
        <p14:creationId xmlns:p14="http://schemas.microsoft.com/office/powerpoint/2010/main" val="3988171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1664208"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1664208"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AGENDA</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Table of Contents</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What we'll walk through in this defense, section by section.</a:t>
            </a:r>
          </a:p>
        </p:txBody>
      </p:sp>
      <p:sp>
        <p:nvSpPr>
          <p:cNvPr id="6" name="Shape"/>
          <p:cNvSpPr/>
          <p:nvPr/>
        </p:nvSpPr>
        <p:spPr>
          <a:xfrm>
            <a:off x="548640" y="1950000"/>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7" name="Oval"/>
          <p:cNvSpPr/>
          <p:nvPr/>
        </p:nvSpPr>
        <p:spPr>
          <a:xfrm>
            <a:off x="728640" y="2110000"/>
            <a:ext cx="320000" cy="320000"/>
          </a:xfrm>
          <a:prstGeom prst="ellipse">
            <a:avLst/>
          </a:prstGeom>
          <a:solidFill>
            <a:srgbClr val="22C3A6"/>
          </a:solidFill>
          <a:ln>
            <a:noFill/>
          </a:ln>
        </p:spPr>
        <p:txBody>
          <a:bodyPr/>
          <a:lstStyle/>
          <a:p>
            <a:endParaRPr lang="en-US"/>
          </a:p>
        </p:txBody>
      </p:sp>
      <p:sp>
        <p:nvSpPr>
          <p:cNvPr id="8" name="Text"/>
          <p:cNvSpPr/>
          <p:nvPr/>
        </p:nvSpPr>
        <p:spPr>
          <a:xfrm>
            <a:off x="728640" y="2110000"/>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p>
        </p:txBody>
      </p:sp>
      <p:sp>
        <p:nvSpPr>
          <p:cNvPr id="9" name="Text"/>
          <p:cNvSpPr/>
          <p:nvPr/>
        </p:nvSpPr>
        <p:spPr>
          <a:xfrm>
            <a:off x="1168640" y="2090000"/>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Introduction &amp; Team</a:t>
            </a:r>
          </a:p>
        </p:txBody>
      </p:sp>
      <p:sp>
        <p:nvSpPr>
          <p:cNvPr id="10" name="Text"/>
          <p:cNvSpPr/>
          <p:nvPr/>
        </p:nvSpPr>
        <p:spPr>
          <a:xfrm>
            <a:off x="728640" y="2510000"/>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Who built MediSights and the story of the project.</a:t>
            </a:r>
          </a:p>
        </p:txBody>
      </p:sp>
      <p:sp>
        <p:nvSpPr>
          <p:cNvPr id="11" name="Shape"/>
          <p:cNvSpPr/>
          <p:nvPr/>
        </p:nvSpPr>
        <p:spPr>
          <a:xfrm>
            <a:off x="548640" y="2693333"/>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12" name="Oval"/>
          <p:cNvSpPr/>
          <p:nvPr/>
        </p:nvSpPr>
        <p:spPr>
          <a:xfrm>
            <a:off x="728640" y="2853333"/>
            <a:ext cx="320000" cy="320000"/>
          </a:xfrm>
          <a:prstGeom prst="ellipse">
            <a:avLst/>
          </a:prstGeom>
          <a:solidFill>
            <a:srgbClr val="22C3A6"/>
          </a:solidFill>
          <a:ln>
            <a:noFill/>
          </a:ln>
        </p:spPr>
        <p:txBody>
          <a:bodyPr/>
          <a:lstStyle/>
          <a:p>
            <a:endParaRPr lang="en-US"/>
          </a:p>
        </p:txBody>
      </p:sp>
      <p:sp>
        <p:nvSpPr>
          <p:cNvPr id="13" name="Text"/>
          <p:cNvSpPr/>
          <p:nvPr/>
        </p:nvSpPr>
        <p:spPr>
          <a:xfrm>
            <a:off x="728640" y="2853333"/>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p>
        </p:txBody>
      </p:sp>
      <p:sp>
        <p:nvSpPr>
          <p:cNvPr id="14" name="Text"/>
          <p:cNvSpPr/>
          <p:nvPr/>
        </p:nvSpPr>
        <p:spPr>
          <a:xfrm>
            <a:off x="1168640" y="2833333"/>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Project Workflow &amp; Tech Stack</a:t>
            </a:r>
          </a:p>
        </p:txBody>
      </p:sp>
      <p:sp>
        <p:nvSpPr>
          <p:cNvPr id="15" name="Text"/>
          <p:cNvSpPr/>
          <p:nvPr/>
        </p:nvSpPr>
        <p:spPr>
          <a:xfrm>
            <a:off x="728640" y="3253333"/>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The six-tool pipeline from raw data to app.</a:t>
            </a:r>
          </a:p>
        </p:txBody>
      </p:sp>
      <p:sp>
        <p:nvSpPr>
          <p:cNvPr id="16" name="Shape"/>
          <p:cNvSpPr/>
          <p:nvPr/>
        </p:nvSpPr>
        <p:spPr>
          <a:xfrm>
            <a:off x="548640" y="3436666"/>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17" name="Oval"/>
          <p:cNvSpPr/>
          <p:nvPr/>
        </p:nvSpPr>
        <p:spPr>
          <a:xfrm>
            <a:off x="728640" y="3596666"/>
            <a:ext cx="320000" cy="320000"/>
          </a:xfrm>
          <a:prstGeom prst="ellipse">
            <a:avLst/>
          </a:prstGeom>
          <a:solidFill>
            <a:srgbClr val="22C3A6"/>
          </a:solidFill>
          <a:ln>
            <a:noFill/>
          </a:ln>
        </p:spPr>
        <p:txBody>
          <a:bodyPr/>
          <a:lstStyle/>
          <a:p>
            <a:endParaRPr lang="en-US"/>
          </a:p>
        </p:txBody>
      </p:sp>
      <p:sp>
        <p:nvSpPr>
          <p:cNvPr id="18" name="Text"/>
          <p:cNvSpPr/>
          <p:nvPr/>
        </p:nvSpPr>
        <p:spPr>
          <a:xfrm>
            <a:off x="728640" y="3596666"/>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p>
        </p:txBody>
      </p:sp>
      <p:sp>
        <p:nvSpPr>
          <p:cNvPr id="19" name="Text"/>
          <p:cNvSpPr/>
          <p:nvPr/>
        </p:nvSpPr>
        <p:spPr>
          <a:xfrm>
            <a:off x="1168640" y="3576666"/>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Dataset Overview &amp; Statistics</a:t>
            </a:r>
          </a:p>
        </p:txBody>
      </p:sp>
      <p:sp>
        <p:nvSpPr>
          <p:cNvPr id="20" name="Text"/>
          <p:cNvSpPr/>
          <p:nvPr/>
        </p:nvSpPr>
        <p:spPr>
          <a:xfrm>
            <a:off x="728640" y="3996666"/>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4,155 records and the population's headline numbers.</a:t>
            </a:r>
          </a:p>
        </p:txBody>
      </p:sp>
      <p:sp>
        <p:nvSpPr>
          <p:cNvPr id="21" name="Shape"/>
          <p:cNvSpPr/>
          <p:nvPr/>
        </p:nvSpPr>
        <p:spPr>
          <a:xfrm>
            <a:off x="548640" y="4179999"/>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22" name="Oval"/>
          <p:cNvSpPr/>
          <p:nvPr/>
        </p:nvSpPr>
        <p:spPr>
          <a:xfrm>
            <a:off x="728640" y="4339999"/>
            <a:ext cx="320000" cy="320000"/>
          </a:xfrm>
          <a:prstGeom prst="ellipse">
            <a:avLst/>
          </a:prstGeom>
          <a:solidFill>
            <a:srgbClr val="22C3A6"/>
          </a:solidFill>
          <a:ln>
            <a:noFill/>
          </a:ln>
        </p:spPr>
        <p:txBody>
          <a:bodyPr/>
          <a:lstStyle/>
          <a:p>
            <a:endParaRPr lang="en-US"/>
          </a:p>
        </p:txBody>
      </p:sp>
      <p:sp>
        <p:nvSpPr>
          <p:cNvPr id="23" name="Text"/>
          <p:cNvSpPr/>
          <p:nvPr/>
        </p:nvSpPr>
        <p:spPr>
          <a:xfrm>
            <a:off x="728640" y="4339999"/>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p>
        </p:txBody>
      </p:sp>
      <p:sp>
        <p:nvSpPr>
          <p:cNvPr id="24" name="Text"/>
          <p:cNvSpPr/>
          <p:nvPr/>
        </p:nvSpPr>
        <p:spPr>
          <a:xfrm>
            <a:off x="1168640" y="4319999"/>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Dataset Columns &amp; Data Structure</a:t>
            </a:r>
          </a:p>
        </p:txBody>
      </p:sp>
      <p:sp>
        <p:nvSpPr>
          <p:cNvPr id="25" name="Text"/>
          <p:cNvSpPr/>
          <p:nvPr/>
        </p:nvSpPr>
        <p:spPr>
          <a:xfrm>
            <a:off x="728640" y="4739999"/>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Original fields vs. engineered analytical variables.</a:t>
            </a:r>
          </a:p>
        </p:txBody>
      </p:sp>
      <p:sp>
        <p:nvSpPr>
          <p:cNvPr id="26" name="Shape"/>
          <p:cNvSpPr/>
          <p:nvPr/>
        </p:nvSpPr>
        <p:spPr>
          <a:xfrm>
            <a:off x="548640" y="4923332"/>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27" name="Oval"/>
          <p:cNvSpPr/>
          <p:nvPr/>
        </p:nvSpPr>
        <p:spPr>
          <a:xfrm>
            <a:off x="728640" y="5083332"/>
            <a:ext cx="320000" cy="320000"/>
          </a:xfrm>
          <a:prstGeom prst="ellipse">
            <a:avLst/>
          </a:prstGeom>
          <a:solidFill>
            <a:srgbClr val="22C3A6"/>
          </a:solidFill>
          <a:ln>
            <a:noFill/>
          </a:ln>
        </p:spPr>
        <p:txBody>
          <a:bodyPr/>
          <a:lstStyle/>
          <a:p>
            <a:endParaRPr lang="en-US"/>
          </a:p>
        </p:txBody>
      </p:sp>
      <p:sp>
        <p:nvSpPr>
          <p:cNvPr id="28" name="Text"/>
          <p:cNvSpPr/>
          <p:nvPr/>
        </p:nvSpPr>
        <p:spPr>
          <a:xfrm>
            <a:off x="728640" y="5083332"/>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p>
        </p:txBody>
      </p:sp>
      <p:sp>
        <p:nvSpPr>
          <p:cNvPr id="29" name="Text"/>
          <p:cNvSpPr/>
          <p:nvPr/>
        </p:nvSpPr>
        <p:spPr>
          <a:xfrm>
            <a:off x="1168640" y="5063332"/>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Data Quality &amp; Preprocessing</a:t>
            </a:r>
          </a:p>
        </p:txBody>
      </p:sp>
      <p:sp>
        <p:nvSpPr>
          <p:cNvPr id="30" name="Text"/>
          <p:cNvSpPr/>
          <p:nvPr/>
        </p:nvSpPr>
        <p:spPr>
          <a:xfrm>
            <a:off x="728640" y="5483332"/>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Cleaning, outlier handling, and validation in Python.</a:t>
            </a:r>
          </a:p>
        </p:txBody>
      </p:sp>
      <p:sp>
        <p:nvSpPr>
          <p:cNvPr id="31" name="Shape"/>
          <p:cNvSpPr/>
          <p:nvPr/>
        </p:nvSpPr>
        <p:spPr>
          <a:xfrm>
            <a:off x="548640" y="5666665"/>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32" name="Oval"/>
          <p:cNvSpPr/>
          <p:nvPr/>
        </p:nvSpPr>
        <p:spPr>
          <a:xfrm>
            <a:off x="728640" y="5826665"/>
            <a:ext cx="320000" cy="320000"/>
          </a:xfrm>
          <a:prstGeom prst="ellipse">
            <a:avLst/>
          </a:prstGeom>
          <a:solidFill>
            <a:srgbClr val="22C3A6"/>
          </a:solidFill>
          <a:ln>
            <a:noFill/>
          </a:ln>
        </p:spPr>
        <p:txBody>
          <a:bodyPr/>
          <a:lstStyle/>
          <a:p>
            <a:endParaRPr lang="en-US"/>
          </a:p>
        </p:txBody>
      </p:sp>
      <p:sp>
        <p:nvSpPr>
          <p:cNvPr id="33" name="Text"/>
          <p:cNvSpPr/>
          <p:nvPr/>
        </p:nvSpPr>
        <p:spPr>
          <a:xfrm>
            <a:off x="728640" y="5826665"/>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p>
        </p:txBody>
      </p:sp>
      <p:sp>
        <p:nvSpPr>
          <p:cNvPr id="34" name="Text"/>
          <p:cNvSpPr/>
          <p:nvPr/>
        </p:nvSpPr>
        <p:spPr>
          <a:xfrm>
            <a:off x="1168640" y="5806665"/>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Python — EDA, Features &amp; ML</a:t>
            </a:r>
          </a:p>
        </p:txBody>
      </p:sp>
      <p:sp>
        <p:nvSpPr>
          <p:cNvPr id="35" name="Text"/>
          <p:cNvSpPr/>
          <p:nvPr/>
        </p:nvSpPr>
        <p:spPr>
          <a:xfrm>
            <a:off x="728640" y="6226665"/>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Notebook link and the modeling approach.</a:t>
            </a:r>
          </a:p>
        </p:txBody>
      </p:sp>
      <p:sp>
        <p:nvSpPr>
          <p:cNvPr id="36" name="Shape"/>
          <p:cNvSpPr/>
          <p:nvPr/>
        </p:nvSpPr>
        <p:spPr>
          <a:xfrm>
            <a:off x="5956440" y="1950000"/>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37" name="Oval"/>
          <p:cNvSpPr/>
          <p:nvPr/>
        </p:nvSpPr>
        <p:spPr>
          <a:xfrm>
            <a:off x="6136440" y="2110000"/>
            <a:ext cx="320000" cy="320000"/>
          </a:xfrm>
          <a:prstGeom prst="ellipse">
            <a:avLst/>
          </a:prstGeom>
          <a:solidFill>
            <a:srgbClr val="22C3A6"/>
          </a:solidFill>
          <a:ln>
            <a:noFill/>
          </a:ln>
        </p:spPr>
        <p:txBody>
          <a:bodyPr/>
          <a:lstStyle/>
          <a:p>
            <a:endParaRPr lang="en-US"/>
          </a:p>
        </p:txBody>
      </p:sp>
      <p:sp>
        <p:nvSpPr>
          <p:cNvPr id="38" name="Text"/>
          <p:cNvSpPr/>
          <p:nvPr/>
        </p:nvSpPr>
        <p:spPr>
          <a:xfrm>
            <a:off x="6136440" y="2110000"/>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p>
        </p:txBody>
      </p:sp>
      <p:sp>
        <p:nvSpPr>
          <p:cNvPr id="39" name="Text"/>
          <p:cNvSpPr/>
          <p:nvPr/>
        </p:nvSpPr>
        <p:spPr>
          <a:xfrm>
            <a:off x="6576440" y="2090000"/>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Excel Dashboard</a:t>
            </a:r>
          </a:p>
        </p:txBody>
      </p:sp>
      <p:sp>
        <p:nvSpPr>
          <p:cNvPr id="40" name="Text"/>
          <p:cNvSpPr/>
          <p:nvPr/>
        </p:nvSpPr>
        <p:spPr>
          <a:xfrm>
            <a:off x="6136440" y="2510000"/>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The Health Overview workbook and its 12 charts.</a:t>
            </a:r>
          </a:p>
        </p:txBody>
      </p:sp>
      <p:sp>
        <p:nvSpPr>
          <p:cNvPr id="41" name="Shape"/>
          <p:cNvSpPr/>
          <p:nvPr/>
        </p:nvSpPr>
        <p:spPr>
          <a:xfrm>
            <a:off x="5956440" y="2693333"/>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42" name="Oval"/>
          <p:cNvSpPr/>
          <p:nvPr/>
        </p:nvSpPr>
        <p:spPr>
          <a:xfrm>
            <a:off x="6136440" y="2853333"/>
            <a:ext cx="320000" cy="320000"/>
          </a:xfrm>
          <a:prstGeom prst="ellipse">
            <a:avLst/>
          </a:prstGeom>
          <a:solidFill>
            <a:srgbClr val="22C3A6"/>
          </a:solidFill>
          <a:ln>
            <a:noFill/>
          </a:ln>
        </p:spPr>
        <p:txBody>
          <a:bodyPr/>
          <a:lstStyle/>
          <a:p>
            <a:endParaRPr lang="en-US"/>
          </a:p>
        </p:txBody>
      </p:sp>
      <p:sp>
        <p:nvSpPr>
          <p:cNvPr id="43" name="Text"/>
          <p:cNvSpPr/>
          <p:nvPr/>
        </p:nvSpPr>
        <p:spPr>
          <a:xfrm>
            <a:off x="6136440" y="2853333"/>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p>
        </p:txBody>
      </p:sp>
      <p:sp>
        <p:nvSpPr>
          <p:cNvPr id="44" name="Text"/>
          <p:cNvSpPr/>
          <p:nvPr/>
        </p:nvSpPr>
        <p:spPr>
          <a:xfrm>
            <a:off x="6576440" y="2833333"/>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Power BI Dashboards</a:t>
            </a:r>
          </a:p>
        </p:txBody>
      </p:sp>
      <p:sp>
        <p:nvSpPr>
          <p:cNvPr id="45" name="Text"/>
          <p:cNvSpPr/>
          <p:nvPr/>
        </p:nvSpPr>
        <p:spPr>
          <a:xfrm>
            <a:off x="6136440" y="3253333"/>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Cardiometabolic, Cholesterol, and Lifestyle views.</a:t>
            </a:r>
          </a:p>
        </p:txBody>
      </p:sp>
      <p:sp>
        <p:nvSpPr>
          <p:cNvPr id="46" name="Shape"/>
          <p:cNvSpPr/>
          <p:nvPr/>
        </p:nvSpPr>
        <p:spPr>
          <a:xfrm>
            <a:off x="5956440" y="3436666"/>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47" name="Oval"/>
          <p:cNvSpPr/>
          <p:nvPr/>
        </p:nvSpPr>
        <p:spPr>
          <a:xfrm>
            <a:off x="6136440" y="3596666"/>
            <a:ext cx="320000" cy="320000"/>
          </a:xfrm>
          <a:prstGeom prst="ellipse">
            <a:avLst/>
          </a:prstGeom>
          <a:solidFill>
            <a:srgbClr val="22C3A6"/>
          </a:solidFill>
          <a:ln>
            <a:noFill/>
          </a:ln>
        </p:spPr>
        <p:txBody>
          <a:bodyPr/>
          <a:lstStyle/>
          <a:p>
            <a:endParaRPr lang="en-US"/>
          </a:p>
        </p:txBody>
      </p:sp>
      <p:sp>
        <p:nvSpPr>
          <p:cNvPr id="48" name="Text"/>
          <p:cNvSpPr/>
          <p:nvPr/>
        </p:nvSpPr>
        <p:spPr>
          <a:xfrm>
            <a:off x="6136440" y="3596666"/>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p>
        </p:txBody>
      </p:sp>
      <p:sp>
        <p:nvSpPr>
          <p:cNvPr id="49" name="Text"/>
          <p:cNvSpPr/>
          <p:nvPr/>
        </p:nvSpPr>
        <p:spPr>
          <a:xfrm>
            <a:off x="6576440" y="3576666"/>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SQL Server &amp; DAX Measures</a:t>
            </a:r>
          </a:p>
        </p:txBody>
      </p:sp>
      <p:sp>
        <p:nvSpPr>
          <p:cNvPr id="50" name="Text"/>
          <p:cNvSpPr/>
          <p:nvPr/>
        </p:nvSpPr>
        <p:spPr>
          <a:xfrm>
            <a:off x="6136440" y="3996666"/>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Business questions in T-SQL and Power BI measures.</a:t>
            </a:r>
          </a:p>
        </p:txBody>
      </p:sp>
      <p:sp>
        <p:nvSpPr>
          <p:cNvPr id="51" name="Shape"/>
          <p:cNvSpPr/>
          <p:nvPr/>
        </p:nvSpPr>
        <p:spPr>
          <a:xfrm>
            <a:off x="5956440" y="4179999"/>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52" name="Oval"/>
          <p:cNvSpPr/>
          <p:nvPr/>
        </p:nvSpPr>
        <p:spPr>
          <a:xfrm>
            <a:off x="6136440" y="4339999"/>
            <a:ext cx="320000" cy="320000"/>
          </a:xfrm>
          <a:prstGeom prst="ellipse">
            <a:avLst/>
          </a:prstGeom>
          <a:solidFill>
            <a:srgbClr val="22C3A6"/>
          </a:solidFill>
          <a:ln>
            <a:noFill/>
          </a:ln>
        </p:spPr>
        <p:txBody>
          <a:bodyPr/>
          <a:lstStyle/>
          <a:p>
            <a:endParaRPr lang="en-US"/>
          </a:p>
        </p:txBody>
      </p:sp>
      <p:sp>
        <p:nvSpPr>
          <p:cNvPr id="53" name="Text"/>
          <p:cNvSpPr/>
          <p:nvPr/>
        </p:nvSpPr>
        <p:spPr>
          <a:xfrm>
            <a:off x="6136440" y="4339999"/>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p>
        </p:txBody>
      </p:sp>
      <p:sp>
        <p:nvSpPr>
          <p:cNvPr id="54" name="Text"/>
          <p:cNvSpPr/>
          <p:nvPr/>
        </p:nvSpPr>
        <p:spPr>
          <a:xfrm>
            <a:off x="6576440" y="4319999"/>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Tableau &amp; Streamlit</a:t>
            </a:r>
          </a:p>
        </p:txBody>
      </p:sp>
      <p:sp>
        <p:nvSpPr>
          <p:cNvPr id="55" name="Text"/>
          <p:cNvSpPr/>
          <p:nvPr/>
        </p:nvSpPr>
        <p:spPr>
          <a:xfrm>
            <a:off x="6136440" y="4739999"/>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The visual-exploration and interactive-app layers.</a:t>
            </a:r>
          </a:p>
        </p:txBody>
      </p:sp>
      <p:sp>
        <p:nvSpPr>
          <p:cNvPr id="56" name="Shape"/>
          <p:cNvSpPr/>
          <p:nvPr/>
        </p:nvSpPr>
        <p:spPr>
          <a:xfrm>
            <a:off x="5956440" y="4923332"/>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57" name="Oval"/>
          <p:cNvSpPr/>
          <p:nvPr/>
        </p:nvSpPr>
        <p:spPr>
          <a:xfrm>
            <a:off x="6136440" y="5083332"/>
            <a:ext cx="320000" cy="320000"/>
          </a:xfrm>
          <a:prstGeom prst="ellipse">
            <a:avLst/>
          </a:prstGeom>
          <a:solidFill>
            <a:srgbClr val="22C3A6"/>
          </a:solidFill>
          <a:ln>
            <a:noFill/>
          </a:ln>
        </p:spPr>
        <p:txBody>
          <a:bodyPr/>
          <a:lstStyle/>
          <a:p>
            <a:endParaRPr lang="en-US"/>
          </a:p>
        </p:txBody>
      </p:sp>
      <p:sp>
        <p:nvSpPr>
          <p:cNvPr id="58" name="Text"/>
          <p:cNvSpPr/>
          <p:nvPr/>
        </p:nvSpPr>
        <p:spPr>
          <a:xfrm>
            <a:off x="6136440" y="5083332"/>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p>
        </p:txBody>
      </p:sp>
      <p:sp>
        <p:nvSpPr>
          <p:cNvPr id="59" name="Text"/>
          <p:cNvSpPr/>
          <p:nvPr/>
        </p:nvSpPr>
        <p:spPr>
          <a:xfrm>
            <a:off x="6576440" y="5063332"/>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Key Findings &amp; Recommendations</a:t>
            </a:r>
          </a:p>
        </p:txBody>
      </p:sp>
      <p:sp>
        <p:nvSpPr>
          <p:cNvPr id="60" name="Text"/>
          <p:cNvSpPr/>
          <p:nvPr/>
        </p:nvSpPr>
        <p:spPr>
          <a:xfrm>
            <a:off x="6136440" y="5483332"/>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What the data shows, and what to do about it.</a:t>
            </a:r>
          </a:p>
        </p:txBody>
      </p:sp>
      <p:sp>
        <p:nvSpPr>
          <p:cNvPr id="61" name="Shape"/>
          <p:cNvSpPr/>
          <p:nvPr/>
        </p:nvSpPr>
        <p:spPr>
          <a:xfrm>
            <a:off x="5956440" y="5666665"/>
            <a:ext cx="5107800" cy="61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62" name="Oval"/>
          <p:cNvSpPr/>
          <p:nvPr/>
        </p:nvSpPr>
        <p:spPr>
          <a:xfrm>
            <a:off x="6136440" y="5826665"/>
            <a:ext cx="320000" cy="320000"/>
          </a:xfrm>
          <a:prstGeom prst="ellipse">
            <a:avLst/>
          </a:prstGeom>
          <a:solidFill>
            <a:srgbClr val="22C3A6"/>
          </a:solidFill>
          <a:ln>
            <a:noFill/>
          </a:ln>
        </p:spPr>
        <p:txBody>
          <a:bodyPr/>
          <a:lstStyle/>
          <a:p>
            <a:endParaRPr lang="en-US"/>
          </a:p>
        </p:txBody>
      </p:sp>
      <p:sp>
        <p:nvSpPr>
          <p:cNvPr id="63" name="Text"/>
          <p:cNvSpPr/>
          <p:nvPr/>
        </p:nvSpPr>
        <p:spPr>
          <a:xfrm>
            <a:off x="6136440" y="5826665"/>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p>
        </p:txBody>
      </p:sp>
      <p:sp>
        <p:nvSpPr>
          <p:cNvPr id="64" name="Text"/>
          <p:cNvSpPr/>
          <p:nvPr/>
        </p:nvSpPr>
        <p:spPr>
          <a:xfrm>
            <a:off x="6576440" y="5806665"/>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Final Value &amp; Conclusion</a:t>
            </a:r>
          </a:p>
        </p:txBody>
      </p:sp>
      <p:sp>
        <p:nvSpPr>
          <p:cNvPr id="65" name="Text"/>
          <p:cNvSpPr/>
          <p:nvPr/>
        </p:nvSpPr>
        <p:spPr>
          <a:xfrm>
            <a:off x="6136440" y="6226665"/>
            <a:ext cx="4747800" cy="0"/>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Why this is an end-to-end analytics solution.</a:t>
            </a:r>
          </a:p>
        </p:txBody>
      </p:sp>
      <p:sp>
        <p:nvSpPr>
          <p:cNvPr id="66"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Agenda</a:t>
            </a:r>
          </a:p>
        </p:txBody>
      </p:sp>
      <p:sp>
        <p:nvSpPr>
          <p:cNvPr id="67"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03 / 45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medisights_ppt/fb340c62-36a2-49b6-9e4d-76435c75dcda.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685800" y="777240"/>
            <a:ext cx="2871216" cy="310896"/>
          </a:xfrm>
          <a:prstGeom prst="roundRect">
            <a:avLst>
              <a:gd name="adj" fmla="val 50000"/>
            </a:avLst>
          </a:prstGeom>
          <a:solidFill>
            <a:srgbClr val="1C7293"/>
          </a:solidFill>
          <a:ln/>
        </p:spPr>
        <p:txBody>
          <a:bodyPr/>
          <a:lstStyle/>
          <a:p>
            <a:endParaRPr lang="en-US"/>
          </a:p>
        </p:txBody>
      </p:sp>
      <p:sp>
        <p:nvSpPr>
          <p:cNvPr id="4" name="Text 1"/>
          <p:cNvSpPr/>
          <p:nvPr/>
        </p:nvSpPr>
        <p:spPr>
          <a:xfrm>
            <a:off x="685800" y="777240"/>
            <a:ext cx="2871216"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PROJECT CODE</a:t>
            </a:r>
            <a:endParaRPr lang="en-US" sz="1050" dirty="0"/>
          </a:p>
        </p:txBody>
      </p:sp>
      <p:sp>
        <p:nvSpPr>
          <p:cNvPr id="5" name="Text 2"/>
          <p:cNvSpPr/>
          <p:nvPr/>
        </p:nvSpPr>
        <p:spPr>
          <a:xfrm>
            <a:off x="685800" y="1188720"/>
            <a:ext cx="8686800" cy="914400"/>
          </a:xfrm>
          <a:prstGeom prst="rect">
            <a:avLst/>
          </a:prstGeom>
          <a:noFill/>
          <a:ln/>
        </p:spPr>
        <p:txBody>
          <a:bodyPr wrap="square" lIns="0" tIns="0" rIns="0" bIns="0" rtlCol="0" anchor="ctr"/>
          <a:lstStyle/>
          <a:p>
            <a:pPr marL="0" indent="0">
              <a:lnSpc>
                <a:spcPts val="3400"/>
              </a:lnSpc>
              <a:buNone/>
            </a:pPr>
            <a:r>
              <a:rPr lang="en-US" sz="3000" b="1" dirty="0">
                <a:solidFill>
                  <a:srgbClr val="12283F"/>
                </a:solidFill>
                <a:latin typeface="Cambria" pitchFamily="34" charset="0"/>
                <a:ea typeface="Cambria" pitchFamily="34" charset="-122"/>
                <a:cs typeface="Cambria" pitchFamily="34" charset="-120"/>
              </a:rPr>
              <a:t>Explore the Python Engine Behind MediSights</a:t>
            </a:r>
            <a:endParaRPr lang="en-US" sz="3000" dirty="0"/>
          </a:p>
        </p:txBody>
      </p:sp>
      <p:sp>
        <p:nvSpPr>
          <p:cNvPr id="6" name="Text 3"/>
          <p:cNvSpPr/>
          <p:nvPr/>
        </p:nvSpPr>
        <p:spPr>
          <a:xfrm>
            <a:off x="685800" y="2148840"/>
            <a:ext cx="7955280" cy="868680"/>
          </a:xfrm>
          <a:prstGeom prst="rect">
            <a:avLst/>
          </a:prstGeom>
          <a:noFill/>
          <a:ln/>
        </p:spPr>
        <p:txBody>
          <a:bodyPr wrap="square" lIns="0" tIns="0" rIns="0" bIns="0" rtlCol="0" anchor="ctr"/>
          <a:lstStyle/>
          <a:p>
            <a:pPr marL="0" indent="0">
              <a:lnSpc>
                <a:spcPts val="2000"/>
              </a:lnSpc>
              <a:buNone/>
            </a:pPr>
            <a:r>
              <a:rPr lang="en-US" sz="1350" dirty="0">
                <a:solidFill>
                  <a:srgbClr val="1A2733"/>
                </a:solidFill>
                <a:latin typeface="Calibri" pitchFamily="34" charset="0"/>
                <a:ea typeface="Calibri" pitchFamily="34" charset="-122"/>
                <a:cs typeface="Calibri" pitchFamily="34" charset="-120"/>
              </a:rPr>
              <a:t>All data cleaning, preprocessing, and machine learning for this project were built in Python. The complete source code, notebooks, and scripts live in the GitHub repository below — this is the home for everything related to the project.</a:t>
            </a:r>
            <a:endParaRPr lang="en-US" sz="1350" dirty="0"/>
          </a:p>
        </p:txBody>
      </p:sp>
      <p:sp>
        <p:nvSpPr>
          <p:cNvPr id="7" name="Shape 4"/>
          <p:cNvSpPr/>
          <p:nvPr/>
        </p:nvSpPr>
        <p:spPr>
          <a:xfrm>
            <a:off x="685800" y="3246120"/>
            <a:ext cx="7498080" cy="1234440"/>
          </a:xfrm>
          <a:prstGeom prst="roundRect">
            <a:avLst>
              <a:gd name="adj" fmla="val 8889"/>
            </a:avLst>
          </a:prstGeom>
          <a:solidFill>
            <a:srgbClr val="FFFFFF"/>
          </a:solidFill>
          <a:ln w="12700">
            <a:solidFill>
              <a:srgbClr val="D7E4EC"/>
            </a:solidFill>
            <a:prstDash val="solid"/>
          </a:ln>
          <a:effectLst>
            <a:outerShdw blurRad="152400" dist="38100" dir="5400000" algn="bl" rotWithShape="0">
              <a:srgbClr val="12283F">
                <a:alpha val="18000"/>
              </a:srgbClr>
            </a:outerShdw>
          </a:effectLst>
        </p:spPr>
        <p:txBody>
          <a:bodyPr/>
          <a:lstStyle/>
          <a:p>
            <a:endParaRPr lang="en-US"/>
          </a:p>
        </p:txBody>
      </p:sp>
      <p:sp>
        <p:nvSpPr>
          <p:cNvPr id="8" name="Shape 5"/>
          <p:cNvSpPr/>
          <p:nvPr/>
        </p:nvSpPr>
        <p:spPr>
          <a:xfrm>
            <a:off x="960120" y="3520440"/>
            <a:ext cx="685800" cy="685800"/>
          </a:xfrm>
          <a:prstGeom prst="ellipse">
            <a:avLst/>
          </a:prstGeom>
          <a:solidFill>
            <a:srgbClr val="12283F"/>
          </a:solidFill>
          <a:ln/>
        </p:spPr>
        <p:txBody>
          <a:bodyPr/>
          <a:lstStyle/>
          <a:p>
            <a:endParaRPr lang="en-US"/>
          </a:p>
        </p:txBody>
      </p:sp>
      <p:sp>
        <p:nvSpPr>
          <p:cNvPr id="9" name="Text 6"/>
          <p:cNvSpPr/>
          <p:nvPr/>
        </p:nvSpPr>
        <p:spPr>
          <a:xfrm>
            <a:off x="960120" y="352044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GH</a:t>
            </a:r>
            <a:endParaRPr lang="en-US" sz="1600" dirty="0"/>
          </a:p>
        </p:txBody>
      </p:sp>
      <p:sp>
        <p:nvSpPr>
          <p:cNvPr id="10" name="Text 7"/>
          <p:cNvSpPr/>
          <p:nvPr/>
        </p:nvSpPr>
        <p:spPr>
          <a:xfrm>
            <a:off x="1874520" y="3401568"/>
            <a:ext cx="6126480" cy="320040"/>
          </a:xfrm>
          <a:prstGeom prst="rect">
            <a:avLst/>
          </a:prstGeom>
          <a:noFill/>
          <a:ln/>
        </p:spPr>
        <p:txBody>
          <a:bodyPr wrap="square" lIns="0" tIns="0" rIns="0" bIns="0"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GITHUB REPOSITORY</a:t>
            </a:r>
            <a:endParaRPr lang="en-US" sz="1100" dirty="0"/>
          </a:p>
        </p:txBody>
      </p:sp>
      <p:sp>
        <p:nvSpPr>
          <p:cNvPr id="11" name="Text 8"/>
          <p:cNvSpPr/>
          <p:nvPr/>
        </p:nvSpPr>
        <p:spPr>
          <a:xfrm>
            <a:off x="1874520" y="3730752"/>
            <a:ext cx="6126480" cy="411480"/>
          </a:xfrm>
          <a:prstGeom prst="rect">
            <a:avLst/>
          </a:prstGeom>
          <a:noFill/>
          <a:ln/>
        </p:spPr>
        <p:txBody>
          <a:bodyPr wrap="square" lIns="0" tIns="0" rIns="0" bIns="0" rtlCol="0" anchor="ctr"/>
          <a:lstStyle/>
          <a:p>
            <a:r>
              <a:rPr lang="en-US" sz="1600" dirty="0">
                <a:hlinkClick r:id="rId4"/>
              </a:rPr>
              <a:t>MohamedGaballah18/Health-Data-Analysis-Project</a:t>
            </a:r>
            <a:endParaRPr lang="en-US" sz="1500" dirty="0"/>
          </a:p>
        </p:txBody>
      </p:sp>
      <p:sp>
        <p:nvSpPr>
          <p:cNvPr id="12" name="Text 9"/>
          <p:cNvSpPr/>
          <p:nvPr/>
        </p:nvSpPr>
        <p:spPr>
          <a:xfrm>
            <a:off x="1874520" y="4114800"/>
            <a:ext cx="6126480" cy="292608"/>
          </a:xfrm>
          <a:prstGeom prst="rect">
            <a:avLst/>
          </a:prstGeom>
          <a:noFill/>
          <a:ln/>
        </p:spPr>
        <p:txBody>
          <a:bodyPr wrap="square" lIns="0" tIns="0" rIns="0" bIns="0" rtlCol="0" anchor="ctr"/>
          <a:lstStyle/>
          <a:p>
            <a:pPr marL="0" indent="0">
              <a:buNone/>
            </a:pPr>
            <a:r>
              <a:rPr lang="en-US" sz="1100" dirty="0">
                <a:solidFill>
                  <a:srgbClr val="9AAAB6"/>
                </a:solidFill>
                <a:latin typeface="Calibri" pitchFamily="34" charset="0"/>
                <a:ea typeface="Calibri" pitchFamily="34" charset="-122"/>
                <a:cs typeface="Calibri" pitchFamily="34" charset="-120"/>
              </a:rPr>
              <a:t>github.com/MohamedGaballah18/Health-Data-Analysis-Project</a:t>
            </a:r>
            <a:endParaRPr lang="en-US" sz="1100" dirty="0"/>
          </a:p>
        </p:txBody>
      </p:sp>
      <p:sp>
        <p:nvSpPr>
          <p:cNvPr id="13" name="Shape 10"/>
          <p:cNvSpPr/>
          <p:nvPr/>
        </p:nvSpPr>
        <p:spPr>
          <a:xfrm>
            <a:off x="685800" y="4754880"/>
            <a:ext cx="2048256" cy="365760"/>
          </a:xfrm>
          <a:prstGeom prst="roundRect">
            <a:avLst>
              <a:gd name="adj" fmla="val 50000"/>
            </a:avLst>
          </a:prstGeom>
          <a:solidFill>
            <a:srgbClr val="EAF3F8"/>
          </a:solidFill>
          <a:ln w="9525">
            <a:solidFill>
              <a:srgbClr val="1C7293"/>
            </a:solidFill>
            <a:prstDash val="solid"/>
          </a:ln>
        </p:spPr>
        <p:txBody>
          <a:bodyPr/>
          <a:lstStyle/>
          <a:p>
            <a:endParaRPr lang="en-US"/>
          </a:p>
        </p:txBody>
      </p:sp>
      <p:sp>
        <p:nvSpPr>
          <p:cNvPr id="14" name="Text 11"/>
          <p:cNvSpPr/>
          <p:nvPr/>
        </p:nvSpPr>
        <p:spPr>
          <a:xfrm>
            <a:off x="685800" y="4754880"/>
            <a:ext cx="2048256" cy="365760"/>
          </a:xfrm>
          <a:prstGeom prst="rect">
            <a:avLst/>
          </a:prstGeom>
          <a:noFill/>
          <a:ln/>
        </p:spPr>
        <p:txBody>
          <a:bodyPr wrap="square" lIns="0" tIns="0" rIns="0" bIns="0" rtlCol="0" anchor="ctr"/>
          <a:lstStyle/>
          <a:p>
            <a:pPr marL="0" indent="0" algn="ctr">
              <a:buNone/>
            </a:pPr>
            <a:r>
              <a:rPr lang="en-US" sz="1100" b="1" dirty="0">
                <a:solidFill>
                  <a:srgbClr val="12283F"/>
                </a:solidFill>
                <a:latin typeface="Calibri" pitchFamily="34" charset="0"/>
                <a:ea typeface="Calibri" pitchFamily="34" charset="-122"/>
                <a:cs typeface="Calibri" pitchFamily="34" charset="-120"/>
              </a:rPr>
              <a:t>Data Cleaning</a:t>
            </a:r>
            <a:endParaRPr lang="en-US" sz="1100" dirty="0"/>
          </a:p>
        </p:txBody>
      </p:sp>
      <p:sp>
        <p:nvSpPr>
          <p:cNvPr id="15" name="Shape 12"/>
          <p:cNvSpPr/>
          <p:nvPr/>
        </p:nvSpPr>
        <p:spPr>
          <a:xfrm>
            <a:off x="2935224" y="4754880"/>
            <a:ext cx="859536" cy="365760"/>
          </a:xfrm>
          <a:prstGeom prst="roundRect">
            <a:avLst>
              <a:gd name="adj" fmla="val 50000"/>
            </a:avLst>
          </a:prstGeom>
          <a:solidFill>
            <a:srgbClr val="EAF3F8"/>
          </a:solidFill>
          <a:ln w="9525">
            <a:solidFill>
              <a:srgbClr val="1C7293"/>
            </a:solidFill>
            <a:prstDash val="solid"/>
          </a:ln>
        </p:spPr>
        <p:txBody>
          <a:bodyPr/>
          <a:lstStyle/>
          <a:p>
            <a:endParaRPr lang="en-US"/>
          </a:p>
        </p:txBody>
      </p:sp>
      <p:sp>
        <p:nvSpPr>
          <p:cNvPr id="16" name="Text 13"/>
          <p:cNvSpPr/>
          <p:nvPr/>
        </p:nvSpPr>
        <p:spPr>
          <a:xfrm>
            <a:off x="2935224" y="4754880"/>
            <a:ext cx="859536" cy="365760"/>
          </a:xfrm>
          <a:prstGeom prst="rect">
            <a:avLst/>
          </a:prstGeom>
          <a:noFill/>
          <a:ln/>
        </p:spPr>
        <p:txBody>
          <a:bodyPr wrap="square" lIns="0" tIns="0" rIns="0" bIns="0" rtlCol="0" anchor="ctr"/>
          <a:lstStyle/>
          <a:p>
            <a:pPr marL="0" indent="0" algn="ctr">
              <a:buNone/>
            </a:pPr>
            <a:r>
              <a:rPr lang="en-US" sz="1100" b="1" dirty="0">
                <a:solidFill>
                  <a:srgbClr val="12283F"/>
                </a:solidFill>
                <a:latin typeface="Calibri" pitchFamily="34" charset="0"/>
                <a:ea typeface="Calibri" pitchFamily="34" charset="-122"/>
                <a:cs typeface="Calibri" pitchFamily="34" charset="-120"/>
              </a:rPr>
              <a:t>EDA</a:t>
            </a:r>
            <a:endParaRPr lang="en-US" sz="1100" dirty="0"/>
          </a:p>
        </p:txBody>
      </p:sp>
      <p:sp>
        <p:nvSpPr>
          <p:cNvPr id="17" name="Shape 14"/>
          <p:cNvSpPr/>
          <p:nvPr/>
        </p:nvSpPr>
        <p:spPr>
          <a:xfrm>
            <a:off x="3995928" y="4754880"/>
            <a:ext cx="2761488" cy="365760"/>
          </a:xfrm>
          <a:prstGeom prst="roundRect">
            <a:avLst>
              <a:gd name="adj" fmla="val 50000"/>
            </a:avLst>
          </a:prstGeom>
          <a:solidFill>
            <a:srgbClr val="EAF3F8"/>
          </a:solidFill>
          <a:ln w="9525">
            <a:solidFill>
              <a:srgbClr val="1C7293"/>
            </a:solidFill>
            <a:prstDash val="solid"/>
          </a:ln>
        </p:spPr>
        <p:txBody>
          <a:bodyPr/>
          <a:lstStyle/>
          <a:p>
            <a:endParaRPr lang="en-US"/>
          </a:p>
        </p:txBody>
      </p:sp>
      <p:sp>
        <p:nvSpPr>
          <p:cNvPr id="18" name="Text 15"/>
          <p:cNvSpPr/>
          <p:nvPr/>
        </p:nvSpPr>
        <p:spPr>
          <a:xfrm>
            <a:off x="3995928" y="4754880"/>
            <a:ext cx="2761488" cy="365760"/>
          </a:xfrm>
          <a:prstGeom prst="rect">
            <a:avLst/>
          </a:prstGeom>
          <a:noFill/>
          <a:ln/>
        </p:spPr>
        <p:txBody>
          <a:bodyPr wrap="square" lIns="0" tIns="0" rIns="0" bIns="0" rtlCol="0" anchor="ctr"/>
          <a:lstStyle/>
          <a:p>
            <a:pPr marL="0" indent="0" algn="ctr">
              <a:buNone/>
            </a:pPr>
            <a:r>
              <a:rPr lang="en-US" sz="1100" b="1" dirty="0">
                <a:solidFill>
                  <a:srgbClr val="12283F"/>
                </a:solidFill>
                <a:latin typeface="Calibri" pitchFamily="34" charset="0"/>
                <a:ea typeface="Calibri" pitchFamily="34" charset="-122"/>
                <a:cs typeface="Calibri" pitchFamily="34" charset="-120"/>
              </a:rPr>
              <a:t>Feature Engineering</a:t>
            </a:r>
            <a:endParaRPr lang="en-US" sz="1100" dirty="0"/>
          </a:p>
        </p:txBody>
      </p:sp>
      <p:sp>
        <p:nvSpPr>
          <p:cNvPr id="19" name="Shape 16"/>
          <p:cNvSpPr/>
          <p:nvPr/>
        </p:nvSpPr>
        <p:spPr>
          <a:xfrm>
            <a:off x="6958584" y="4754880"/>
            <a:ext cx="1810512" cy="365760"/>
          </a:xfrm>
          <a:prstGeom prst="roundRect">
            <a:avLst>
              <a:gd name="adj" fmla="val 50000"/>
            </a:avLst>
          </a:prstGeom>
          <a:solidFill>
            <a:srgbClr val="EAF3F8"/>
          </a:solidFill>
          <a:ln w="9525">
            <a:solidFill>
              <a:srgbClr val="1C7293"/>
            </a:solidFill>
            <a:prstDash val="solid"/>
          </a:ln>
        </p:spPr>
        <p:txBody>
          <a:bodyPr/>
          <a:lstStyle/>
          <a:p>
            <a:endParaRPr lang="en-US"/>
          </a:p>
        </p:txBody>
      </p:sp>
      <p:sp>
        <p:nvSpPr>
          <p:cNvPr id="20" name="Text 17"/>
          <p:cNvSpPr/>
          <p:nvPr/>
        </p:nvSpPr>
        <p:spPr>
          <a:xfrm>
            <a:off x="6958584" y="4754880"/>
            <a:ext cx="1810512" cy="365760"/>
          </a:xfrm>
          <a:prstGeom prst="rect">
            <a:avLst/>
          </a:prstGeom>
          <a:noFill/>
          <a:ln/>
        </p:spPr>
        <p:txBody>
          <a:bodyPr wrap="square" lIns="0" tIns="0" rIns="0" bIns="0" rtlCol="0" anchor="ctr"/>
          <a:lstStyle/>
          <a:p>
            <a:pPr marL="0" indent="0" algn="ctr">
              <a:buNone/>
            </a:pPr>
            <a:r>
              <a:rPr lang="en-US" sz="1100" b="1" dirty="0">
                <a:solidFill>
                  <a:srgbClr val="12283F"/>
                </a:solidFill>
                <a:latin typeface="Calibri" pitchFamily="34" charset="0"/>
                <a:ea typeface="Calibri" pitchFamily="34" charset="-122"/>
                <a:cs typeface="Calibri" pitchFamily="34" charset="-120"/>
              </a:rPr>
              <a:t>ML Modeling</a:t>
            </a:r>
            <a:endParaRPr lang="en-US" sz="1100" dirty="0"/>
          </a:p>
        </p:txBody>
      </p:sp>
      <p:sp>
        <p:nvSpPr>
          <p:cNvPr id="21"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Project Code</a:t>
            </a:r>
            <a:endParaRPr lang="en-US" sz="900" dirty="0"/>
          </a:p>
        </p:txBody>
      </p:sp>
      <p:sp>
        <p:nvSpPr>
          <p:cNvPr id="22" name="Text 19"/>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04 / 45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3675888"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3675888"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PROJECT WORKFLOW</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How We Built MediSights</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From raw records to an interactive app — the eight-stage pipeline behind this project.</a:t>
            </a:r>
          </a:p>
        </p:txBody>
      </p:sp>
      <p:sp>
        <p:nvSpPr>
          <p:cNvPr id="6" name="Shape"/>
          <p:cNvSpPr/>
          <p:nvPr/>
        </p:nvSpPr>
        <p:spPr>
          <a:xfrm>
            <a:off x="548640" y="198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7" name="Oval"/>
          <p:cNvSpPr/>
          <p:nvPr/>
        </p:nvSpPr>
        <p:spPr>
          <a:xfrm>
            <a:off x="1585590" y="2140000"/>
            <a:ext cx="420000" cy="420000"/>
          </a:xfrm>
          <a:prstGeom prst="ellipse">
            <a:avLst/>
          </a:prstGeom>
          <a:solidFill>
            <a:srgbClr val="22C3A6"/>
          </a:solidFill>
          <a:ln>
            <a:noFill/>
          </a:ln>
        </p:spPr>
        <p:txBody>
          <a:bodyPr/>
          <a:lstStyle/>
          <a:p>
            <a:endParaRPr lang="en-US"/>
          </a:p>
        </p:txBody>
      </p:sp>
      <p:sp>
        <p:nvSpPr>
          <p:cNvPr id="8" name="Text"/>
          <p:cNvSpPr/>
          <p:nvPr/>
        </p:nvSpPr>
        <p:spPr>
          <a:xfrm>
            <a:off x="1585590" y="214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p>
        </p:txBody>
      </p:sp>
      <p:sp>
        <p:nvSpPr>
          <p:cNvPr id="9" name="Text"/>
          <p:cNvSpPr/>
          <p:nvPr/>
        </p:nvSpPr>
        <p:spPr>
          <a:xfrm>
            <a:off x="648640" y="266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Data Collection</a:t>
            </a:r>
          </a:p>
        </p:txBody>
      </p:sp>
      <p:sp>
        <p:nvSpPr>
          <p:cNvPr id="10" name="Text"/>
          <p:cNvSpPr/>
          <p:nvPr/>
        </p:nvSpPr>
        <p:spPr>
          <a:xfrm>
            <a:off x="678640" y="313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Gathering the raw population health dataset from source records.</a:t>
            </a:r>
          </a:p>
        </p:txBody>
      </p:sp>
      <p:sp>
        <p:nvSpPr>
          <p:cNvPr id="11" name="Shape"/>
          <p:cNvSpPr/>
          <p:nvPr/>
        </p:nvSpPr>
        <p:spPr>
          <a:xfrm>
            <a:off x="3222540" y="198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2" name="Oval"/>
          <p:cNvSpPr/>
          <p:nvPr/>
        </p:nvSpPr>
        <p:spPr>
          <a:xfrm>
            <a:off x="4259490" y="2140000"/>
            <a:ext cx="420000" cy="420000"/>
          </a:xfrm>
          <a:prstGeom prst="ellipse">
            <a:avLst/>
          </a:prstGeom>
          <a:solidFill>
            <a:srgbClr val="22C3A6"/>
          </a:solidFill>
          <a:ln>
            <a:noFill/>
          </a:ln>
        </p:spPr>
        <p:txBody>
          <a:bodyPr/>
          <a:lstStyle/>
          <a:p>
            <a:endParaRPr lang="en-US"/>
          </a:p>
        </p:txBody>
      </p:sp>
      <p:sp>
        <p:nvSpPr>
          <p:cNvPr id="13" name="Text"/>
          <p:cNvSpPr/>
          <p:nvPr/>
        </p:nvSpPr>
        <p:spPr>
          <a:xfrm>
            <a:off x="4259490" y="214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p>
        </p:txBody>
      </p:sp>
      <p:sp>
        <p:nvSpPr>
          <p:cNvPr id="14" name="Text"/>
          <p:cNvSpPr/>
          <p:nvPr/>
        </p:nvSpPr>
        <p:spPr>
          <a:xfrm>
            <a:off x="3322540" y="266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Data Cleaning (Python)</a:t>
            </a:r>
          </a:p>
        </p:txBody>
      </p:sp>
      <p:sp>
        <p:nvSpPr>
          <p:cNvPr id="15" name="Text"/>
          <p:cNvSpPr/>
          <p:nvPr/>
        </p:nvSpPr>
        <p:spPr>
          <a:xfrm>
            <a:off x="3352540" y="313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Handling missing values, outliers, and inconsistent formatting.</a:t>
            </a:r>
          </a:p>
        </p:txBody>
      </p:sp>
      <p:sp>
        <p:nvSpPr>
          <p:cNvPr id="16" name="Shape"/>
          <p:cNvSpPr/>
          <p:nvPr/>
        </p:nvSpPr>
        <p:spPr>
          <a:xfrm>
            <a:off x="5896440" y="198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7" name="Oval"/>
          <p:cNvSpPr/>
          <p:nvPr/>
        </p:nvSpPr>
        <p:spPr>
          <a:xfrm>
            <a:off x="6933390" y="2140000"/>
            <a:ext cx="420000" cy="420000"/>
          </a:xfrm>
          <a:prstGeom prst="ellipse">
            <a:avLst/>
          </a:prstGeom>
          <a:solidFill>
            <a:srgbClr val="22C3A6"/>
          </a:solidFill>
          <a:ln>
            <a:noFill/>
          </a:ln>
        </p:spPr>
        <p:txBody>
          <a:bodyPr/>
          <a:lstStyle/>
          <a:p>
            <a:endParaRPr lang="en-US"/>
          </a:p>
        </p:txBody>
      </p:sp>
      <p:sp>
        <p:nvSpPr>
          <p:cNvPr id="18" name="Text"/>
          <p:cNvSpPr/>
          <p:nvPr/>
        </p:nvSpPr>
        <p:spPr>
          <a:xfrm>
            <a:off x="6933390" y="214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p>
        </p:txBody>
      </p:sp>
      <p:sp>
        <p:nvSpPr>
          <p:cNvPr id="19" name="Text"/>
          <p:cNvSpPr/>
          <p:nvPr/>
        </p:nvSpPr>
        <p:spPr>
          <a:xfrm>
            <a:off x="5996440" y="266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Machine Learning</a:t>
            </a:r>
          </a:p>
        </p:txBody>
      </p:sp>
      <p:sp>
        <p:nvSpPr>
          <p:cNvPr id="20" name="Text"/>
          <p:cNvSpPr/>
          <p:nvPr/>
        </p:nvSpPr>
        <p:spPr>
          <a:xfrm>
            <a:off x="6026440" y="313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Building models to explore health risk patterns in the data.</a:t>
            </a:r>
          </a:p>
        </p:txBody>
      </p:sp>
      <p:sp>
        <p:nvSpPr>
          <p:cNvPr id="21" name="Shape"/>
          <p:cNvSpPr/>
          <p:nvPr/>
        </p:nvSpPr>
        <p:spPr>
          <a:xfrm>
            <a:off x="8570340" y="198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2" name="Oval"/>
          <p:cNvSpPr/>
          <p:nvPr/>
        </p:nvSpPr>
        <p:spPr>
          <a:xfrm>
            <a:off x="9607290" y="2140000"/>
            <a:ext cx="420000" cy="420000"/>
          </a:xfrm>
          <a:prstGeom prst="ellipse">
            <a:avLst/>
          </a:prstGeom>
          <a:solidFill>
            <a:srgbClr val="22C3A6"/>
          </a:solidFill>
          <a:ln>
            <a:noFill/>
          </a:ln>
        </p:spPr>
        <p:txBody>
          <a:bodyPr/>
          <a:lstStyle/>
          <a:p>
            <a:endParaRPr lang="en-US"/>
          </a:p>
        </p:txBody>
      </p:sp>
      <p:sp>
        <p:nvSpPr>
          <p:cNvPr id="23" name="Text"/>
          <p:cNvSpPr/>
          <p:nvPr/>
        </p:nvSpPr>
        <p:spPr>
          <a:xfrm>
            <a:off x="9607290" y="214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p>
        </p:txBody>
      </p:sp>
      <p:sp>
        <p:nvSpPr>
          <p:cNvPr id="24" name="Text"/>
          <p:cNvSpPr/>
          <p:nvPr/>
        </p:nvSpPr>
        <p:spPr>
          <a:xfrm>
            <a:off x="8670340" y="266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SQL Queries</a:t>
            </a:r>
          </a:p>
        </p:txBody>
      </p:sp>
      <p:sp>
        <p:nvSpPr>
          <p:cNvPr id="25" name="Text"/>
          <p:cNvSpPr/>
          <p:nvPr/>
        </p:nvSpPr>
        <p:spPr>
          <a:xfrm>
            <a:off x="8700340" y="313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Answering structured business questions with SQL Server.</a:t>
            </a:r>
          </a:p>
        </p:txBody>
      </p:sp>
      <p:sp>
        <p:nvSpPr>
          <p:cNvPr id="26" name="Shape"/>
          <p:cNvSpPr/>
          <p:nvPr/>
        </p:nvSpPr>
        <p:spPr>
          <a:xfrm>
            <a:off x="548640" y="417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7" name="Oval"/>
          <p:cNvSpPr/>
          <p:nvPr/>
        </p:nvSpPr>
        <p:spPr>
          <a:xfrm>
            <a:off x="1585590" y="4330000"/>
            <a:ext cx="420000" cy="420000"/>
          </a:xfrm>
          <a:prstGeom prst="ellipse">
            <a:avLst/>
          </a:prstGeom>
          <a:solidFill>
            <a:srgbClr val="22C3A6"/>
          </a:solidFill>
          <a:ln>
            <a:noFill/>
          </a:ln>
        </p:spPr>
        <p:txBody>
          <a:bodyPr/>
          <a:lstStyle/>
          <a:p>
            <a:endParaRPr lang="en-US"/>
          </a:p>
        </p:txBody>
      </p:sp>
      <p:sp>
        <p:nvSpPr>
          <p:cNvPr id="28" name="Text"/>
          <p:cNvSpPr/>
          <p:nvPr/>
        </p:nvSpPr>
        <p:spPr>
          <a:xfrm>
            <a:off x="1585590" y="433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p>
        </p:txBody>
      </p:sp>
      <p:sp>
        <p:nvSpPr>
          <p:cNvPr id="29" name="Text"/>
          <p:cNvSpPr/>
          <p:nvPr/>
        </p:nvSpPr>
        <p:spPr>
          <a:xfrm>
            <a:off x="648640" y="485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Excel Dashboard</a:t>
            </a:r>
          </a:p>
        </p:txBody>
      </p:sp>
      <p:sp>
        <p:nvSpPr>
          <p:cNvPr id="30" name="Text"/>
          <p:cNvSpPr/>
          <p:nvPr/>
        </p:nvSpPr>
        <p:spPr>
          <a:xfrm>
            <a:off x="678640" y="532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Building the Health Overview dashboard in Excel.</a:t>
            </a:r>
          </a:p>
        </p:txBody>
      </p:sp>
      <p:sp>
        <p:nvSpPr>
          <p:cNvPr id="31" name="Shape"/>
          <p:cNvSpPr/>
          <p:nvPr/>
        </p:nvSpPr>
        <p:spPr>
          <a:xfrm>
            <a:off x="3222540" y="417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2" name="Oval"/>
          <p:cNvSpPr/>
          <p:nvPr/>
        </p:nvSpPr>
        <p:spPr>
          <a:xfrm>
            <a:off x="4259490" y="4330000"/>
            <a:ext cx="420000" cy="420000"/>
          </a:xfrm>
          <a:prstGeom prst="ellipse">
            <a:avLst/>
          </a:prstGeom>
          <a:solidFill>
            <a:srgbClr val="22C3A6"/>
          </a:solidFill>
          <a:ln>
            <a:noFill/>
          </a:ln>
        </p:spPr>
        <p:txBody>
          <a:bodyPr/>
          <a:lstStyle/>
          <a:p>
            <a:endParaRPr lang="en-US"/>
          </a:p>
        </p:txBody>
      </p:sp>
      <p:sp>
        <p:nvSpPr>
          <p:cNvPr id="33" name="Text"/>
          <p:cNvSpPr/>
          <p:nvPr/>
        </p:nvSpPr>
        <p:spPr>
          <a:xfrm>
            <a:off x="4259490" y="433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p>
        </p:txBody>
      </p:sp>
      <p:sp>
        <p:nvSpPr>
          <p:cNvPr id="34" name="Text"/>
          <p:cNvSpPr/>
          <p:nvPr/>
        </p:nvSpPr>
        <p:spPr>
          <a:xfrm>
            <a:off x="3322540" y="485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Power BI Dashboards</a:t>
            </a:r>
          </a:p>
        </p:txBody>
      </p:sp>
      <p:sp>
        <p:nvSpPr>
          <p:cNvPr id="35" name="Text"/>
          <p:cNvSpPr/>
          <p:nvPr/>
        </p:nvSpPr>
        <p:spPr>
          <a:xfrm>
            <a:off x="3352540" y="532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Building three interactive analytical dashboards.</a:t>
            </a:r>
          </a:p>
        </p:txBody>
      </p:sp>
      <p:sp>
        <p:nvSpPr>
          <p:cNvPr id="36" name="Shape"/>
          <p:cNvSpPr/>
          <p:nvPr/>
        </p:nvSpPr>
        <p:spPr>
          <a:xfrm>
            <a:off x="5896440" y="417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7" name="Oval"/>
          <p:cNvSpPr/>
          <p:nvPr/>
        </p:nvSpPr>
        <p:spPr>
          <a:xfrm>
            <a:off x="6933390" y="4330000"/>
            <a:ext cx="420000" cy="420000"/>
          </a:xfrm>
          <a:prstGeom prst="ellipse">
            <a:avLst/>
          </a:prstGeom>
          <a:solidFill>
            <a:srgbClr val="1C7293"/>
          </a:solidFill>
          <a:ln>
            <a:noFill/>
          </a:ln>
        </p:spPr>
        <p:txBody>
          <a:bodyPr/>
          <a:lstStyle/>
          <a:p>
            <a:endParaRPr lang="en-US"/>
          </a:p>
        </p:txBody>
      </p:sp>
      <p:sp>
        <p:nvSpPr>
          <p:cNvPr id="38" name="Text"/>
          <p:cNvSpPr/>
          <p:nvPr/>
        </p:nvSpPr>
        <p:spPr>
          <a:xfrm>
            <a:off x="6933390" y="433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p>
        </p:txBody>
      </p:sp>
      <p:sp>
        <p:nvSpPr>
          <p:cNvPr id="39" name="Text"/>
          <p:cNvSpPr/>
          <p:nvPr/>
        </p:nvSpPr>
        <p:spPr>
          <a:xfrm>
            <a:off x="5996440" y="485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Tableau Workbook</a:t>
            </a:r>
          </a:p>
        </p:txBody>
      </p:sp>
      <p:sp>
        <p:nvSpPr>
          <p:cNvPr id="40" name="Text"/>
          <p:cNvSpPr/>
          <p:nvPr/>
        </p:nvSpPr>
        <p:spPr>
          <a:xfrm>
            <a:off x="6026440" y="532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Adding a visual, exploration-first layer on the same data.</a:t>
            </a:r>
          </a:p>
        </p:txBody>
      </p:sp>
      <p:sp>
        <p:nvSpPr>
          <p:cNvPr id="41" name="Shape"/>
          <p:cNvSpPr/>
          <p:nvPr/>
        </p:nvSpPr>
        <p:spPr>
          <a:xfrm>
            <a:off x="8570340" y="4170000"/>
            <a:ext cx="2493900" cy="197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42" name="Oval"/>
          <p:cNvSpPr/>
          <p:nvPr/>
        </p:nvSpPr>
        <p:spPr>
          <a:xfrm>
            <a:off x="9607290" y="4330000"/>
            <a:ext cx="420000" cy="420000"/>
          </a:xfrm>
          <a:prstGeom prst="ellipse">
            <a:avLst/>
          </a:prstGeom>
          <a:solidFill>
            <a:srgbClr val="1C7293"/>
          </a:solidFill>
          <a:ln>
            <a:noFill/>
          </a:ln>
        </p:spPr>
        <p:txBody>
          <a:bodyPr/>
          <a:lstStyle/>
          <a:p>
            <a:endParaRPr lang="en-US"/>
          </a:p>
        </p:txBody>
      </p:sp>
      <p:sp>
        <p:nvSpPr>
          <p:cNvPr id="43" name="Text"/>
          <p:cNvSpPr/>
          <p:nvPr/>
        </p:nvSpPr>
        <p:spPr>
          <a:xfrm>
            <a:off x="9607290" y="4330000"/>
            <a:ext cx="420000" cy="420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p>
        </p:txBody>
      </p:sp>
      <p:sp>
        <p:nvSpPr>
          <p:cNvPr id="44" name="Text"/>
          <p:cNvSpPr/>
          <p:nvPr/>
        </p:nvSpPr>
        <p:spPr>
          <a:xfrm>
            <a:off x="8670340" y="4850000"/>
            <a:ext cx="2293900" cy="480000"/>
          </a:xfrm>
          <a:prstGeom prst="rect">
            <a:avLst/>
          </a:prstGeom>
          <a:noFill/>
          <a:ln/>
        </p:spPr>
        <p:txBody>
          <a:bodyPr wrap="square" lIns="0" tIns="0" rIns="0" bIns="0" rtlCol="0" anchor="ctr"/>
          <a:lstStyle/>
          <a:p>
            <a:pPr marL="0" indent="0" algn="ctr">
              <a:lnSpc>
                <a:spcPts val="1250"/>
              </a:lnSpc>
              <a:buNone/>
            </a:pPr>
            <a:r>
              <a:rPr lang="en-US" sz="1050" b="1" dirty="0">
                <a:solidFill>
                  <a:srgbClr val="12283F"/>
                </a:solidFill>
                <a:latin typeface="Calibri" pitchFamily="34" charset="0"/>
                <a:ea typeface="Calibri" pitchFamily="34" charset="-122"/>
                <a:cs typeface="Calibri" pitchFamily="34" charset="-120"/>
              </a:rPr>
              <a:t>Streamlit App</a:t>
            </a:r>
          </a:p>
        </p:txBody>
      </p:sp>
      <p:sp>
        <p:nvSpPr>
          <p:cNvPr id="45" name="Text"/>
          <p:cNvSpPr/>
          <p:nvPr/>
        </p:nvSpPr>
        <p:spPr>
          <a:xfrm>
            <a:off x="8700340" y="5320000"/>
            <a:ext cx="2233900" cy="720000"/>
          </a:xfrm>
          <a:prstGeom prst="rect">
            <a:avLst/>
          </a:prstGeom>
          <a:noFill/>
          <a:ln/>
        </p:spPr>
        <p:txBody>
          <a:bodyPr wrap="square" lIns="0" tIns="0" rIns="0" bIns="0" rtlCol="0" anchor="ctr"/>
          <a:lstStyle/>
          <a:p>
            <a:pPr marL="0" indent="0" algn="ctr">
              <a:lnSpc>
                <a:spcPts val="1150"/>
              </a:lnSpc>
              <a:buNone/>
            </a:pPr>
            <a:r>
              <a:rPr lang="en-US" sz="900" dirty="0">
                <a:solidFill>
                  <a:srgbClr val="5B7284"/>
                </a:solidFill>
                <a:latin typeface="Calibri" pitchFamily="34" charset="0"/>
                <a:ea typeface="Calibri" pitchFamily="34" charset="-122"/>
                <a:cs typeface="Calibri" pitchFamily="34" charset="-120"/>
              </a:rPr>
              <a:t>Packaging the analysis into a browser-based interactive app.</a:t>
            </a:r>
          </a:p>
        </p:txBody>
      </p:sp>
      <p:sp>
        <p:nvSpPr>
          <p:cNvPr id="46"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Project Workflow</a:t>
            </a:r>
          </a:p>
        </p:txBody>
      </p:sp>
      <p:sp>
        <p:nvSpPr>
          <p:cNvPr id="47"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05 / 45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387705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387705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ABOUT THE DATASET</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Dataset Overview &amp; Statistics</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4,155 population health records, cleaned and engineered for end-to-end analysis.</a:t>
            </a:r>
          </a:p>
        </p:txBody>
      </p:sp>
      <p:sp>
        <p:nvSpPr>
          <p:cNvPr id="6" name="Text"/>
          <p:cNvSpPr/>
          <p:nvPr/>
        </p:nvSpPr>
        <p:spPr>
          <a:xfrm>
            <a:off x="548640" y="1900000"/>
            <a:ext cx="10515600" cy="620000"/>
          </a:xfrm>
          <a:prstGeom prst="rect">
            <a:avLst/>
          </a:prstGeom>
          <a:noFill/>
          <a:ln/>
        </p:spPr>
        <p:txBody>
          <a:bodyPr wrap="square" lIns="0" tIns="0" rIns="0" bIns="0" rtlCol="0" anchor="t"/>
          <a:lstStyle/>
          <a:p>
            <a:pPr marL="0" indent="0" algn="l">
              <a:lnSpc>
                <a:spcPts val="1450"/>
              </a:lnSpc>
              <a:buNone/>
            </a:pPr>
            <a:r>
              <a:rPr lang="en-US" sz="1150" dirty="0">
                <a:solidFill>
                  <a:srgbClr val="5B7284"/>
                </a:solidFill>
                <a:latin typeface="Calibri" pitchFamily="34" charset="0"/>
                <a:ea typeface="Calibri" pitchFamily="34" charset="-122"/>
                <a:cs typeface="Calibri" pitchFamily="34" charset="-120"/>
              </a:rPr>
              <a:t>MediSights is built on a population health dataset that started as 4,157 individual records and was cleaned in Python to 4,155 records across 10 original fields. Five engineered analytical variables were added on top, and the same set of numbers is reused consistently across SQL, Excel, Power BI, Tableau, and the Streamlit app.</a:t>
            </a:r>
          </a:p>
        </p:txBody>
      </p:sp>
      <p:sp>
        <p:nvSpPr>
          <p:cNvPr id="7" name="Shape"/>
          <p:cNvSpPr/>
          <p:nvPr/>
        </p:nvSpPr>
        <p:spPr>
          <a:xfrm>
            <a:off x="548640" y="26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8" name="Text"/>
          <p:cNvSpPr/>
          <p:nvPr/>
        </p:nvSpPr>
        <p:spPr>
          <a:xfrm>
            <a:off x="638640" y="28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4,155</a:t>
            </a:r>
          </a:p>
        </p:txBody>
      </p:sp>
      <p:sp>
        <p:nvSpPr>
          <p:cNvPr id="9" name="Text"/>
          <p:cNvSpPr/>
          <p:nvPr/>
        </p:nvSpPr>
        <p:spPr>
          <a:xfrm>
            <a:off x="638640" y="32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Total Records</a:t>
            </a:r>
          </a:p>
        </p:txBody>
      </p:sp>
      <p:sp>
        <p:nvSpPr>
          <p:cNvPr id="10" name="Text"/>
          <p:cNvSpPr/>
          <p:nvPr/>
        </p:nvSpPr>
        <p:spPr>
          <a:xfrm>
            <a:off x="638640" y="36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Cleaned population size</a:t>
            </a:r>
          </a:p>
        </p:txBody>
      </p:sp>
      <p:sp>
        <p:nvSpPr>
          <p:cNvPr id="11" name="Shape"/>
          <p:cNvSpPr/>
          <p:nvPr/>
        </p:nvSpPr>
        <p:spPr>
          <a:xfrm>
            <a:off x="3222540" y="26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2" name="Text"/>
          <p:cNvSpPr/>
          <p:nvPr/>
        </p:nvSpPr>
        <p:spPr>
          <a:xfrm>
            <a:off x="3312540" y="28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53.30 yrs</a:t>
            </a:r>
          </a:p>
        </p:txBody>
      </p:sp>
      <p:sp>
        <p:nvSpPr>
          <p:cNvPr id="13" name="Text"/>
          <p:cNvSpPr/>
          <p:nvPr/>
        </p:nvSpPr>
        <p:spPr>
          <a:xfrm>
            <a:off x="3312540" y="32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Average Age</a:t>
            </a:r>
          </a:p>
        </p:txBody>
      </p:sp>
      <p:sp>
        <p:nvSpPr>
          <p:cNvPr id="14" name="Text"/>
          <p:cNvSpPr/>
          <p:nvPr/>
        </p:nvSpPr>
        <p:spPr>
          <a:xfrm>
            <a:off x="3312540" y="36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Mean across the population</a:t>
            </a:r>
          </a:p>
        </p:txBody>
      </p:sp>
      <p:sp>
        <p:nvSpPr>
          <p:cNvPr id="15" name="Shape"/>
          <p:cNvSpPr/>
          <p:nvPr/>
        </p:nvSpPr>
        <p:spPr>
          <a:xfrm>
            <a:off x="5896440" y="26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6" name="Text"/>
          <p:cNvSpPr/>
          <p:nvPr/>
        </p:nvSpPr>
        <p:spPr>
          <a:xfrm>
            <a:off x="5986440" y="28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27.03 kg/m²</a:t>
            </a:r>
          </a:p>
        </p:txBody>
      </p:sp>
      <p:sp>
        <p:nvSpPr>
          <p:cNvPr id="17" name="Text"/>
          <p:cNvSpPr/>
          <p:nvPr/>
        </p:nvSpPr>
        <p:spPr>
          <a:xfrm>
            <a:off x="5986440" y="32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Average BMI</a:t>
            </a:r>
          </a:p>
        </p:txBody>
      </p:sp>
      <p:sp>
        <p:nvSpPr>
          <p:cNvPr id="18" name="Text"/>
          <p:cNvSpPr/>
          <p:nvPr/>
        </p:nvSpPr>
        <p:spPr>
          <a:xfrm>
            <a:off x="5986440" y="36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Population-wide mean</a:t>
            </a:r>
          </a:p>
        </p:txBody>
      </p:sp>
      <p:sp>
        <p:nvSpPr>
          <p:cNvPr id="19" name="Shape"/>
          <p:cNvSpPr/>
          <p:nvPr/>
        </p:nvSpPr>
        <p:spPr>
          <a:xfrm>
            <a:off x="8570340" y="26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0" name="Text"/>
          <p:cNvSpPr/>
          <p:nvPr/>
        </p:nvSpPr>
        <p:spPr>
          <a:xfrm>
            <a:off x="8660340" y="28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108.96 mmHg</a:t>
            </a:r>
          </a:p>
        </p:txBody>
      </p:sp>
      <p:sp>
        <p:nvSpPr>
          <p:cNvPr id="21" name="Text"/>
          <p:cNvSpPr/>
          <p:nvPr/>
        </p:nvSpPr>
        <p:spPr>
          <a:xfrm>
            <a:off x="8660340" y="32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Avg Systolic BP</a:t>
            </a:r>
          </a:p>
        </p:txBody>
      </p:sp>
      <p:sp>
        <p:nvSpPr>
          <p:cNvPr id="22" name="Text"/>
          <p:cNvSpPr/>
          <p:nvPr/>
        </p:nvSpPr>
        <p:spPr>
          <a:xfrm>
            <a:off x="8660340" y="36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Notebook df.describe() mean</a:t>
            </a:r>
          </a:p>
        </p:txBody>
      </p:sp>
      <p:sp>
        <p:nvSpPr>
          <p:cNvPr id="23" name="Shape"/>
          <p:cNvSpPr/>
          <p:nvPr/>
        </p:nvSpPr>
        <p:spPr>
          <a:xfrm>
            <a:off x="548640" y="43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4" name="Text"/>
          <p:cNvSpPr/>
          <p:nvPr/>
        </p:nvSpPr>
        <p:spPr>
          <a:xfrm>
            <a:off x="638640" y="45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81.85 mmHg</a:t>
            </a:r>
          </a:p>
        </p:txBody>
      </p:sp>
      <p:sp>
        <p:nvSpPr>
          <p:cNvPr id="25" name="Text"/>
          <p:cNvSpPr/>
          <p:nvPr/>
        </p:nvSpPr>
        <p:spPr>
          <a:xfrm>
            <a:off x="638640" y="49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Avg Diastolic BP</a:t>
            </a:r>
          </a:p>
        </p:txBody>
      </p:sp>
      <p:sp>
        <p:nvSpPr>
          <p:cNvPr id="26" name="Text"/>
          <p:cNvSpPr/>
          <p:nvPr/>
        </p:nvSpPr>
        <p:spPr>
          <a:xfrm>
            <a:off x="638640" y="53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Notebook df.describe() mean</a:t>
            </a:r>
          </a:p>
        </p:txBody>
      </p:sp>
      <p:sp>
        <p:nvSpPr>
          <p:cNvPr id="27" name="Shape"/>
          <p:cNvSpPr/>
          <p:nvPr/>
        </p:nvSpPr>
        <p:spPr>
          <a:xfrm>
            <a:off x="3222540" y="43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8" name="Text"/>
          <p:cNvSpPr/>
          <p:nvPr/>
        </p:nvSpPr>
        <p:spPr>
          <a:xfrm>
            <a:off x="3312540" y="45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193.19 mg/dL</a:t>
            </a:r>
          </a:p>
        </p:txBody>
      </p:sp>
      <p:sp>
        <p:nvSpPr>
          <p:cNvPr id="29" name="Text"/>
          <p:cNvSpPr/>
          <p:nvPr/>
        </p:nvSpPr>
        <p:spPr>
          <a:xfrm>
            <a:off x="3312540" y="49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Avg Total Cholesterol</a:t>
            </a:r>
          </a:p>
        </p:txBody>
      </p:sp>
      <p:sp>
        <p:nvSpPr>
          <p:cNvPr id="30" name="Text"/>
          <p:cNvSpPr/>
          <p:nvPr/>
        </p:nvSpPr>
        <p:spPr>
          <a:xfrm>
            <a:off x="3312540" y="53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Population-wide mean</a:t>
            </a:r>
          </a:p>
        </p:txBody>
      </p:sp>
      <p:sp>
        <p:nvSpPr>
          <p:cNvPr id="31" name="Shape"/>
          <p:cNvSpPr/>
          <p:nvPr/>
        </p:nvSpPr>
        <p:spPr>
          <a:xfrm>
            <a:off x="5896440" y="43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2" name="Text"/>
          <p:cNvSpPr/>
          <p:nvPr/>
        </p:nvSpPr>
        <p:spPr>
          <a:xfrm>
            <a:off x="5986440" y="45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29.72%</a:t>
            </a:r>
          </a:p>
        </p:txBody>
      </p:sp>
      <p:sp>
        <p:nvSpPr>
          <p:cNvPr id="33" name="Text"/>
          <p:cNvSpPr/>
          <p:nvPr/>
        </p:nvSpPr>
        <p:spPr>
          <a:xfrm>
            <a:off x="5986440" y="49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Smoking Rate</a:t>
            </a:r>
          </a:p>
        </p:txBody>
      </p:sp>
      <p:sp>
        <p:nvSpPr>
          <p:cNvPr id="34" name="Text"/>
          <p:cNvSpPr/>
          <p:nvPr/>
        </p:nvSpPr>
        <p:spPr>
          <a:xfrm>
            <a:off x="5986440" y="53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Confirmed: notebook + Tableau</a:t>
            </a:r>
          </a:p>
        </p:txBody>
      </p:sp>
      <p:sp>
        <p:nvSpPr>
          <p:cNvPr id="35" name="Shape"/>
          <p:cNvSpPr/>
          <p:nvPr/>
        </p:nvSpPr>
        <p:spPr>
          <a:xfrm>
            <a:off x="8570340" y="4380000"/>
            <a:ext cx="2493900" cy="148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6" name="Text"/>
          <p:cNvSpPr/>
          <p:nvPr/>
        </p:nvSpPr>
        <p:spPr>
          <a:xfrm>
            <a:off x="8660340" y="4530000"/>
            <a:ext cx="2313900" cy="420000"/>
          </a:xfrm>
          <a:prstGeom prst="rect">
            <a:avLst/>
          </a:prstGeom>
          <a:noFill/>
          <a:ln/>
        </p:spPr>
        <p:txBody>
          <a:bodyPr wrap="square" lIns="0" tIns="0" rIns="0" bIns="0" rtlCol="0" anchor="ctr"/>
          <a:lstStyle/>
          <a:p>
            <a:pPr marL="0" indent="0" algn="ctr">
              <a:buNone/>
            </a:pPr>
            <a:r>
              <a:rPr lang="en-US" sz="1650" b="1" dirty="0">
                <a:solidFill>
                  <a:srgbClr val="1C7293"/>
                </a:solidFill>
                <a:latin typeface="Cambria" pitchFamily="34" charset="0"/>
                <a:ea typeface="Cambria" pitchFamily="34" charset="-122"/>
                <a:cs typeface="Cambria" pitchFamily="34" charset="-120"/>
              </a:rPr>
              <a:t>65.78%</a:t>
            </a:r>
          </a:p>
        </p:txBody>
      </p:sp>
      <p:sp>
        <p:nvSpPr>
          <p:cNvPr id="37" name="Text"/>
          <p:cNvSpPr/>
          <p:nvPr/>
        </p:nvSpPr>
        <p:spPr>
          <a:xfrm>
            <a:off x="8660340" y="4980000"/>
            <a:ext cx="231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BMI ≥ 25</a:t>
            </a:r>
          </a:p>
        </p:txBody>
      </p:sp>
      <p:sp>
        <p:nvSpPr>
          <p:cNvPr id="38" name="Text"/>
          <p:cNvSpPr/>
          <p:nvPr/>
        </p:nvSpPr>
        <p:spPr>
          <a:xfrm>
            <a:off x="8660340" y="5370000"/>
            <a:ext cx="2313900" cy="4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Overweight + Obese, confirmed</a:t>
            </a:r>
          </a:p>
        </p:txBody>
      </p:sp>
      <p:sp>
        <p:nvSpPr>
          <p:cNvPr id="39" name="Text"/>
          <p:cNvSpPr/>
          <p:nvPr/>
        </p:nvSpPr>
        <p:spPr>
          <a:xfrm>
            <a:off x="548640" y="6050000"/>
            <a:ext cx="10515600" cy="380000"/>
          </a:xfrm>
          <a:prstGeom prst="rect">
            <a:avLst/>
          </a:prstGeom>
          <a:noFill/>
          <a:ln/>
        </p:spPr>
        <p:txBody>
          <a:bodyPr wrap="square" lIns="0" tIns="0" rIns="0" bIns="0" rtlCol="0" anchor="t"/>
          <a:lstStyle/>
          <a:p>
            <a:pPr marL="0" indent="0" algn="l">
              <a:lnSpc>
                <a:spcPts val="1000"/>
              </a:lnSpc>
              <a:buNone/>
            </a:pPr>
            <a:r>
              <a:rPr lang="en-US" sz="800" i="1" dirty="0">
                <a:solidFill>
                  <a:srgbClr val="5B7284"/>
                </a:solidFill>
                <a:latin typeface="Calibri" pitchFamily="34" charset="0"/>
                <a:ea typeface="Calibri" pitchFamily="34" charset="-122"/>
                <a:cs typeface="Calibri" pitchFamily="34" charset="-120"/>
              </a:rPr>
              <a:t>Smoking rate and BMI≥ 25 are now verified against the executed notebook (notebook_results.py) and match the Tableau workbook exactly (1,235/4,155 smokers; 2,733/4,155 overweight+obese). The Excel homepage summary card (26.14% / 56.15%) reflects a stale/cached calculation and should be refreshed to match the values above.</a:t>
            </a:r>
          </a:p>
        </p:txBody>
      </p:sp>
      <p:sp>
        <p:nvSpPr>
          <p:cNvPr id="40"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Dataset Overview</a:t>
            </a:r>
          </a:p>
        </p:txBody>
      </p:sp>
      <p:sp>
        <p:nvSpPr>
          <p:cNvPr id="41"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06 / 45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387705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387705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ABOUT THE DATASET</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Dataset Columns &amp; Data Structure</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Ten original fields, organized into four categories, plus five confirmed engineered variables.</a:t>
            </a:r>
          </a:p>
        </p:txBody>
      </p:sp>
      <p:sp>
        <p:nvSpPr>
          <p:cNvPr id="6" name="Shape"/>
          <p:cNvSpPr/>
          <p:nvPr/>
        </p:nvSpPr>
        <p:spPr>
          <a:xfrm>
            <a:off x="548640" y="1950000"/>
            <a:ext cx="5107800" cy="17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7" name="Shape"/>
          <p:cNvSpPr/>
          <p:nvPr/>
        </p:nvSpPr>
        <p:spPr>
          <a:xfrm>
            <a:off x="698640" y="2100000"/>
            <a:ext cx="2212000" cy="300000"/>
          </a:xfrm>
          <a:prstGeom prst="roundRect">
            <a:avLst>
              <a:gd name="adj" fmla="val 50000"/>
            </a:avLst>
          </a:prstGeom>
          <a:solidFill>
            <a:srgbClr val="22A699"/>
          </a:solidFill>
          <a:ln>
            <a:noFill/>
          </a:ln>
        </p:spPr>
        <p:txBody>
          <a:bodyPr/>
          <a:lstStyle/>
          <a:p>
            <a:endParaRPr lang="en-US"/>
          </a:p>
        </p:txBody>
      </p:sp>
      <p:sp>
        <p:nvSpPr>
          <p:cNvPr id="8" name="Text"/>
          <p:cNvSpPr/>
          <p:nvPr/>
        </p:nvSpPr>
        <p:spPr>
          <a:xfrm>
            <a:off x="698640" y="2100000"/>
            <a:ext cx="2212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A. DEMOGRAPHIC</a:t>
            </a:r>
          </a:p>
        </p:txBody>
      </p:sp>
      <p:sp>
        <p:nvSpPr>
          <p:cNvPr id="9" name="Text"/>
          <p:cNvSpPr/>
          <p:nvPr/>
        </p:nvSpPr>
        <p:spPr>
          <a:xfrm>
            <a:off x="748640" y="2510000"/>
            <a:ext cx="4707800" cy="1100000"/>
          </a:xfrm>
          <a:prstGeom prst="rect">
            <a:avLst/>
          </a:prstGeom>
          <a:noFill/>
          <a:ln/>
        </p:spPr>
        <p:txBody>
          <a:bodyPr wrap="square" lIns="0" tIns="0" rIns="0" bIns="0" rtlCol="0" anchor="t"/>
          <a:lstStyle/>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Age — individual's age in years</a:t>
            </a:r>
          </a:p>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Age_Group — engineered age band (18-29 … 70+)</a:t>
            </a:r>
          </a:p>
        </p:txBody>
      </p:sp>
      <p:sp>
        <p:nvSpPr>
          <p:cNvPr id="10" name="Shape"/>
          <p:cNvSpPr/>
          <p:nvPr/>
        </p:nvSpPr>
        <p:spPr>
          <a:xfrm>
            <a:off x="5956440" y="1950000"/>
            <a:ext cx="5107800" cy="17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1" name="Shape"/>
          <p:cNvSpPr/>
          <p:nvPr/>
        </p:nvSpPr>
        <p:spPr>
          <a:xfrm>
            <a:off x="6106440" y="2100000"/>
            <a:ext cx="4132000" cy="300000"/>
          </a:xfrm>
          <a:prstGeom prst="roundRect">
            <a:avLst>
              <a:gd name="adj" fmla="val 50000"/>
            </a:avLst>
          </a:prstGeom>
          <a:solidFill>
            <a:srgbClr val="22A699"/>
          </a:solidFill>
          <a:ln>
            <a:noFill/>
          </a:ln>
        </p:spPr>
        <p:txBody>
          <a:bodyPr/>
          <a:lstStyle/>
          <a:p>
            <a:endParaRPr lang="en-US"/>
          </a:p>
        </p:txBody>
      </p:sp>
      <p:sp>
        <p:nvSpPr>
          <p:cNvPr id="12" name="Text"/>
          <p:cNvSpPr/>
          <p:nvPr/>
        </p:nvSpPr>
        <p:spPr>
          <a:xfrm>
            <a:off x="6106440" y="2100000"/>
            <a:ext cx="4132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B. CLINICAL / CARDIOMETABOLIC</a:t>
            </a:r>
          </a:p>
        </p:txBody>
      </p:sp>
      <p:sp>
        <p:nvSpPr>
          <p:cNvPr id="13" name="Text"/>
          <p:cNvSpPr/>
          <p:nvPr/>
        </p:nvSpPr>
        <p:spPr>
          <a:xfrm>
            <a:off x="6156440" y="2510000"/>
            <a:ext cx="4707800" cy="1100000"/>
          </a:xfrm>
          <a:prstGeom prst="rect">
            <a:avLst/>
          </a:prstGeom>
          <a:noFill/>
          <a:ln/>
        </p:spPr>
        <p:txBody>
          <a:bodyPr wrap="square" lIns="0" tIns="0" rIns="0" bIns="0" rtlCol="0" anchor="t"/>
          <a:lstStyle/>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BMI, Systolic_BP, Diastolic_BP</a:t>
            </a:r>
          </a:p>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Total_Cholesterol, HDL_Cholesterol, LDL_Cholesterol</a:t>
            </a:r>
          </a:p>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Triglycerides</a:t>
            </a:r>
          </a:p>
        </p:txBody>
      </p:sp>
      <p:sp>
        <p:nvSpPr>
          <p:cNvPr id="14" name="Shape"/>
          <p:cNvSpPr/>
          <p:nvPr/>
        </p:nvSpPr>
        <p:spPr>
          <a:xfrm>
            <a:off x="548640" y="3950000"/>
            <a:ext cx="5107800" cy="17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5" name="Shape"/>
          <p:cNvSpPr/>
          <p:nvPr/>
        </p:nvSpPr>
        <p:spPr>
          <a:xfrm>
            <a:off x="698640" y="4100000"/>
            <a:ext cx="1956000" cy="300000"/>
          </a:xfrm>
          <a:prstGeom prst="roundRect">
            <a:avLst>
              <a:gd name="adj" fmla="val 50000"/>
            </a:avLst>
          </a:prstGeom>
          <a:solidFill>
            <a:srgbClr val="22A699"/>
          </a:solidFill>
          <a:ln>
            <a:noFill/>
          </a:ln>
        </p:spPr>
        <p:txBody>
          <a:bodyPr/>
          <a:lstStyle/>
          <a:p>
            <a:endParaRPr lang="en-US"/>
          </a:p>
        </p:txBody>
      </p:sp>
      <p:sp>
        <p:nvSpPr>
          <p:cNvPr id="16" name="Text"/>
          <p:cNvSpPr/>
          <p:nvPr/>
        </p:nvSpPr>
        <p:spPr>
          <a:xfrm>
            <a:off x="698640" y="4100000"/>
            <a:ext cx="1956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C. LIFESTYLE</a:t>
            </a:r>
          </a:p>
        </p:txBody>
      </p:sp>
      <p:sp>
        <p:nvSpPr>
          <p:cNvPr id="17" name="Text"/>
          <p:cNvSpPr/>
          <p:nvPr/>
        </p:nvSpPr>
        <p:spPr>
          <a:xfrm>
            <a:off x="748640" y="4510000"/>
            <a:ext cx="4707800" cy="1100000"/>
          </a:xfrm>
          <a:prstGeom prst="rect">
            <a:avLst/>
          </a:prstGeom>
          <a:noFill/>
          <a:ln/>
        </p:spPr>
        <p:txBody>
          <a:bodyPr wrap="square" lIns="0" tIns="0" rIns="0" bIns="0" rtlCol="0" anchor="t"/>
          <a:lstStyle/>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Smoking_Status — smoker / non-smoker</a:t>
            </a:r>
          </a:p>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Physical_Activity_Level — low / moderate / high</a:t>
            </a:r>
          </a:p>
        </p:txBody>
      </p:sp>
      <p:sp>
        <p:nvSpPr>
          <p:cNvPr id="18" name="Shape"/>
          <p:cNvSpPr/>
          <p:nvPr/>
        </p:nvSpPr>
        <p:spPr>
          <a:xfrm>
            <a:off x="5956440" y="3950000"/>
            <a:ext cx="5107800" cy="17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9" name="Shape"/>
          <p:cNvSpPr/>
          <p:nvPr/>
        </p:nvSpPr>
        <p:spPr>
          <a:xfrm>
            <a:off x="6106440" y="4100000"/>
            <a:ext cx="5668000" cy="300000"/>
          </a:xfrm>
          <a:prstGeom prst="roundRect">
            <a:avLst>
              <a:gd name="adj" fmla="val 50000"/>
            </a:avLst>
          </a:prstGeom>
          <a:solidFill>
            <a:srgbClr val="22A699"/>
          </a:solidFill>
          <a:ln>
            <a:noFill/>
          </a:ln>
        </p:spPr>
        <p:txBody>
          <a:bodyPr/>
          <a:lstStyle/>
          <a:p>
            <a:endParaRPr lang="en-US"/>
          </a:p>
        </p:txBody>
      </p:sp>
      <p:sp>
        <p:nvSpPr>
          <p:cNvPr id="20" name="Text"/>
          <p:cNvSpPr/>
          <p:nvPr/>
        </p:nvSpPr>
        <p:spPr>
          <a:xfrm>
            <a:off x="6106440" y="4100000"/>
            <a:ext cx="5668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D. ENGINEERED / ANALYTICAL (5, confirmed)</a:t>
            </a:r>
          </a:p>
        </p:txBody>
      </p:sp>
      <p:sp>
        <p:nvSpPr>
          <p:cNvPr id="21" name="Text"/>
          <p:cNvSpPr/>
          <p:nvPr/>
        </p:nvSpPr>
        <p:spPr>
          <a:xfrm>
            <a:off x="6156440" y="4510000"/>
            <a:ext cx="4707800" cy="1100000"/>
          </a:xfrm>
          <a:prstGeom prst="rect">
            <a:avLst/>
          </a:prstGeom>
          <a:noFill/>
          <a:ln/>
        </p:spPr>
        <p:txBody>
          <a:bodyPr wrap="square" lIns="0" tIns="0" rIns="0" bIns="0" rtlCol="0" anchor="t"/>
          <a:lstStyle/>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BP_Risk_Category, BMI_Category</a:t>
            </a:r>
          </a:p>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Cholesterol_Ratio, Pulse_Pressure</a:t>
            </a:r>
          </a:p>
          <a:p>
            <a:pPr marL="0" indent="0" algn="l">
              <a:spcAft>
                <a:spcPts val="700"/>
              </a:spcAft>
              <a:buNone/>
            </a:pPr>
            <a:r>
              <a:rPr lang="en-US" sz="1000" dirty="0">
                <a:solidFill>
                  <a:srgbClr val="12283F"/>
                </a:solidFill>
                <a:latin typeface="Calibri" pitchFamily="34" charset="0"/>
                <a:ea typeface="Calibri" pitchFamily="34" charset="-122"/>
                <a:cs typeface="Calibri" pitchFamily="34" charset="-120"/>
              </a:rPr>
              <a:t>•  Age_Group</a:t>
            </a:r>
          </a:p>
        </p:txBody>
      </p:sp>
      <p:sp>
        <p:nvSpPr>
          <p:cNvPr id="22" name="Text"/>
          <p:cNvSpPr/>
          <p:nvPr/>
        </p:nvSpPr>
        <p:spPr>
          <a:xfrm>
            <a:off x="548640" y="6020000"/>
            <a:ext cx="10515600" cy="420000"/>
          </a:xfrm>
          <a:prstGeom prst="rect">
            <a:avLst/>
          </a:prstGeom>
          <a:noFill/>
          <a:ln/>
        </p:spPr>
        <p:txBody>
          <a:bodyPr wrap="square" lIns="0" tIns="0" rIns="0" bIns="0" rtlCol="0" anchor="t"/>
          <a:lstStyle/>
          <a:p>
            <a:pPr marL="0" indent="0" algn="l">
              <a:lnSpc>
                <a:spcPts val="1100"/>
              </a:lnSpc>
              <a:buNone/>
            </a:pPr>
            <a:r>
              <a:rPr lang="en-US" sz="850" i="1" dirty="0">
                <a:solidFill>
                  <a:srgbClr val="5B7284"/>
                </a:solidFill>
                <a:latin typeface="Calibri" pitchFamily="34" charset="0"/>
                <a:ea typeface="Calibri" pitchFamily="34" charset="-122"/>
                <a:cs typeface="Calibri" pitchFamily="34" charset="-120"/>
              </a:rPr>
              <a:t>Confirmed from notebook_results.py: raw load is 4,157 rows x 11 columns; after dropping the Unnamed: 0 CSV index and removing 2 duplicates, the cleaned table is 4,155 x 10, then exactly 5 engineered features are added for a final 15 columns. Power BI / Excel extracts also carry a few tool-side calculated fields (e.g. BMI_Age_Interaction, Cholesterol_Category, Health_Risk_Score, Risk_Tier) built on top of these 15 for dashboard convenience.</a:t>
            </a:r>
          </a:p>
        </p:txBody>
      </p:sp>
      <p:sp>
        <p:nvSpPr>
          <p:cNvPr id="23"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Dataset Columns</a:t>
            </a:r>
          </a:p>
        </p:txBody>
      </p:sp>
      <p:sp>
        <p:nvSpPr>
          <p:cNvPr id="24"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07 / 45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387705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387705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ABOUT THE DATASET</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Data Quality &amp; Preprocessing</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Real cleaning results from the executed notebook — nothing here is estimated.</a:t>
            </a:r>
          </a:p>
        </p:txBody>
      </p:sp>
      <p:sp>
        <p:nvSpPr>
          <p:cNvPr id="6" name="Shape"/>
          <p:cNvSpPr/>
          <p:nvPr/>
        </p:nvSpPr>
        <p:spPr>
          <a:xfrm>
            <a:off x="548640" y="1980000"/>
            <a:ext cx="2463900" cy="15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7" name="Text"/>
          <p:cNvSpPr/>
          <p:nvPr/>
        </p:nvSpPr>
        <p:spPr>
          <a:xfrm>
            <a:off x="648640" y="2130000"/>
            <a:ext cx="2263900" cy="480000"/>
          </a:xfrm>
          <a:prstGeom prst="rect">
            <a:avLst/>
          </a:prstGeom>
          <a:noFill/>
          <a:ln/>
        </p:spPr>
        <p:txBody>
          <a:bodyPr wrap="square" lIns="0" tIns="0" rIns="0" bIns="0" rtlCol="0" anchor="ctr"/>
          <a:lstStyle/>
          <a:p>
            <a:pPr marL="0" indent="0" algn="ctr">
              <a:buNone/>
            </a:pPr>
            <a:r>
              <a:rPr lang="en-US" sz="1700" b="1" dirty="0">
                <a:solidFill>
                  <a:srgbClr val="1C7293"/>
                </a:solidFill>
                <a:latin typeface="Cambria" pitchFamily="34" charset="0"/>
                <a:ea typeface="Cambria" pitchFamily="34" charset="-122"/>
                <a:cs typeface="Cambria" pitchFamily="34" charset="-120"/>
              </a:rPr>
              <a:t>4,157 → 4,155</a:t>
            </a:r>
          </a:p>
        </p:txBody>
      </p:sp>
      <p:sp>
        <p:nvSpPr>
          <p:cNvPr id="8" name="Text"/>
          <p:cNvSpPr/>
          <p:nvPr/>
        </p:nvSpPr>
        <p:spPr>
          <a:xfrm>
            <a:off x="648640" y="2620000"/>
            <a:ext cx="226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Rows In / Out</a:t>
            </a:r>
          </a:p>
        </p:txBody>
      </p:sp>
      <p:sp>
        <p:nvSpPr>
          <p:cNvPr id="9" name="Text"/>
          <p:cNvSpPr/>
          <p:nvPr/>
        </p:nvSpPr>
        <p:spPr>
          <a:xfrm>
            <a:off x="648640" y="3000000"/>
            <a:ext cx="2263900" cy="5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Raw load (4,157 x 11) to cleaned table (4,155 x 10)</a:t>
            </a:r>
          </a:p>
        </p:txBody>
      </p:sp>
      <p:sp>
        <p:nvSpPr>
          <p:cNvPr id="10" name="Shape"/>
          <p:cNvSpPr/>
          <p:nvPr/>
        </p:nvSpPr>
        <p:spPr>
          <a:xfrm>
            <a:off x="3232540" y="1980000"/>
            <a:ext cx="2463900" cy="15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1" name="Text"/>
          <p:cNvSpPr/>
          <p:nvPr/>
        </p:nvSpPr>
        <p:spPr>
          <a:xfrm>
            <a:off x="3332540" y="2130000"/>
            <a:ext cx="2263900" cy="480000"/>
          </a:xfrm>
          <a:prstGeom prst="rect">
            <a:avLst/>
          </a:prstGeom>
          <a:noFill/>
          <a:ln/>
        </p:spPr>
        <p:txBody>
          <a:bodyPr wrap="square" lIns="0" tIns="0" rIns="0" bIns="0" rtlCol="0" anchor="ctr"/>
          <a:lstStyle/>
          <a:p>
            <a:pPr marL="0" indent="0" algn="ctr">
              <a:buNone/>
            </a:pPr>
            <a:r>
              <a:rPr lang="en-US" sz="1700" b="1" dirty="0">
                <a:solidFill>
                  <a:srgbClr val="1C7293"/>
                </a:solidFill>
                <a:latin typeface="Cambria" pitchFamily="34" charset="0"/>
                <a:ea typeface="Cambria" pitchFamily="34" charset="-122"/>
                <a:cs typeface="Cambria" pitchFamily="34" charset="-120"/>
              </a:rPr>
              <a:t>121</a:t>
            </a:r>
          </a:p>
        </p:txBody>
      </p:sp>
      <p:sp>
        <p:nvSpPr>
          <p:cNvPr id="12" name="Text"/>
          <p:cNvSpPr/>
          <p:nvPr/>
        </p:nvSpPr>
        <p:spPr>
          <a:xfrm>
            <a:off x="3332540" y="2620000"/>
            <a:ext cx="226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Missing Values Found</a:t>
            </a:r>
          </a:p>
        </p:txBody>
      </p:sp>
      <p:sp>
        <p:nvSpPr>
          <p:cNvPr id="13" name="Text"/>
          <p:cNvSpPr/>
          <p:nvPr/>
        </p:nvSpPr>
        <p:spPr>
          <a:xfrm>
            <a:off x="3332540" y="3000000"/>
            <a:ext cx="2263900" cy="5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Detected via df.isnull().sum() before imputation</a:t>
            </a:r>
          </a:p>
        </p:txBody>
      </p:sp>
      <p:sp>
        <p:nvSpPr>
          <p:cNvPr id="14" name="Shape"/>
          <p:cNvSpPr/>
          <p:nvPr/>
        </p:nvSpPr>
        <p:spPr>
          <a:xfrm>
            <a:off x="5916440" y="1980000"/>
            <a:ext cx="2463900" cy="15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5" name="Text"/>
          <p:cNvSpPr/>
          <p:nvPr/>
        </p:nvSpPr>
        <p:spPr>
          <a:xfrm>
            <a:off x="6016440" y="2130000"/>
            <a:ext cx="2263900" cy="480000"/>
          </a:xfrm>
          <a:prstGeom prst="rect">
            <a:avLst/>
          </a:prstGeom>
          <a:noFill/>
          <a:ln/>
        </p:spPr>
        <p:txBody>
          <a:bodyPr wrap="square" lIns="0" tIns="0" rIns="0" bIns="0" rtlCol="0" anchor="ctr"/>
          <a:lstStyle/>
          <a:p>
            <a:pPr marL="0" indent="0" algn="ctr">
              <a:buNone/>
            </a:pPr>
            <a:r>
              <a:rPr lang="en-US" sz="1700" b="1" dirty="0">
                <a:solidFill>
                  <a:srgbClr val="1C7293"/>
                </a:solidFill>
                <a:latin typeface="Cambria" pitchFamily="34" charset="0"/>
                <a:ea typeface="Cambria" pitchFamily="34" charset="-122"/>
                <a:cs typeface="Cambria" pitchFamily="34" charset="-120"/>
              </a:rPr>
              <a:t>2</a:t>
            </a:r>
          </a:p>
        </p:txBody>
      </p:sp>
      <p:sp>
        <p:nvSpPr>
          <p:cNvPr id="16" name="Text"/>
          <p:cNvSpPr/>
          <p:nvPr/>
        </p:nvSpPr>
        <p:spPr>
          <a:xfrm>
            <a:off x="6016440" y="2620000"/>
            <a:ext cx="226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Duplicate Rows Removed</a:t>
            </a:r>
          </a:p>
        </p:txBody>
      </p:sp>
      <p:sp>
        <p:nvSpPr>
          <p:cNvPr id="17" name="Text"/>
          <p:cNvSpPr/>
          <p:nvPr/>
        </p:nvSpPr>
        <p:spPr>
          <a:xfrm>
            <a:off x="6016440" y="3000000"/>
            <a:ext cx="2263900" cy="5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Exact duplicate records dropped</a:t>
            </a:r>
          </a:p>
        </p:txBody>
      </p:sp>
      <p:sp>
        <p:nvSpPr>
          <p:cNvPr id="18" name="Shape"/>
          <p:cNvSpPr/>
          <p:nvPr/>
        </p:nvSpPr>
        <p:spPr>
          <a:xfrm>
            <a:off x="8600340" y="1980000"/>
            <a:ext cx="2463900" cy="155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9" name="Text"/>
          <p:cNvSpPr/>
          <p:nvPr/>
        </p:nvSpPr>
        <p:spPr>
          <a:xfrm>
            <a:off x="8700340" y="2130000"/>
            <a:ext cx="2263900" cy="480000"/>
          </a:xfrm>
          <a:prstGeom prst="rect">
            <a:avLst/>
          </a:prstGeom>
          <a:noFill/>
          <a:ln/>
        </p:spPr>
        <p:txBody>
          <a:bodyPr wrap="square" lIns="0" tIns="0" rIns="0" bIns="0" rtlCol="0" anchor="ctr"/>
          <a:lstStyle/>
          <a:p>
            <a:pPr marL="0" indent="0" algn="ctr">
              <a:buNone/>
            </a:pPr>
            <a:r>
              <a:rPr lang="en-US" sz="1700" b="1" dirty="0">
                <a:solidFill>
                  <a:srgbClr val="1C7293"/>
                </a:solidFill>
                <a:latin typeface="Cambria" pitchFamily="34" charset="0"/>
                <a:ea typeface="Cambria" pitchFamily="34" charset="-122"/>
                <a:cs typeface="Cambria" pitchFamily="34" charset="-120"/>
              </a:rPr>
              <a:t>47</a:t>
            </a:r>
          </a:p>
        </p:txBody>
      </p:sp>
      <p:sp>
        <p:nvSpPr>
          <p:cNvPr id="20" name="Text"/>
          <p:cNvSpPr/>
          <p:nvPr/>
        </p:nvSpPr>
        <p:spPr>
          <a:xfrm>
            <a:off x="8700340" y="2620000"/>
            <a:ext cx="2263900" cy="380000"/>
          </a:xfrm>
          <a:prstGeom prst="rect">
            <a:avLst/>
          </a:prstGeom>
          <a:noFill/>
          <a:ln/>
        </p:spPr>
        <p:txBody>
          <a:bodyPr wrap="square" lIns="0" tIns="0" rIns="0" bIns="0" rtlCol="0" anchor="ctr"/>
          <a:lstStyle/>
          <a:p>
            <a:pPr marL="0" indent="0" algn="ctr">
              <a:lnSpc>
                <a:spcPts val="1200"/>
              </a:lnSpc>
              <a:buNone/>
            </a:pPr>
            <a:r>
              <a:rPr lang="en-US" sz="1000" b="1" dirty="0">
                <a:solidFill>
                  <a:srgbClr val="12283F"/>
                </a:solidFill>
                <a:latin typeface="Calibri" pitchFamily="34" charset="0"/>
                <a:ea typeface="Calibri" pitchFamily="34" charset="-122"/>
                <a:cs typeface="Calibri" pitchFamily="34" charset="-120"/>
              </a:rPr>
              <a:t>Invalid BP Rows Fixed</a:t>
            </a:r>
          </a:p>
        </p:txBody>
      </p:sp>
      <p:sp>
        <p:nvSpPr>
          <p:cNvPr id="21" name="Text"/>
          <p:cNvSpPr/>
          <p:nvPr/>
        </p:nvSpPr>
        <p:spPr>
          <a:xfrm>
            <a:off x="8700340" y="3000000"/>
            <a:ext cx="2263900" cy="500000"/>
          </a:xfrm>
          <a:prstGeom prst="rect">
            <a:avLst/>
          </a:prstGeom>
          <a:noFill/>
          <a:ln/>
        </p:spPr>
        <p:txBody>
          <a:bodyPr wrap="square" lIns="0" tIns="0" rIns="0" bIns="0" rtlCol="0" anchor="ctr"/>
          <a:lstStyle/>
          <a:p>
            <a:pPr marL="0" indent="0" algn="ctr">
              <a:lnSpc>
                <a:spcPts val="1050"/>
              </a:lnSpc>
              <a:buNone/>
            </a:pPr>
            <a:r>
              <a:rPr lang="en-US" sz="850" dirty="0">
                <a:solidFill>
                  <a:srgbClr val="5B7284"/>
                </a:solidFill>
                <a:latin typeface="Calibri" pitchFamily="34" charset="0"/>
                <a:ea typeface="Calibri" pitchFamily="34" charset="-122"/>
                <a:cs typeface="Calibri" pitchFamily="34" charset="-120"/>
              </a:rPr>
              <a:t>Systolic &lt; Diastolic readings swapped back</a:t>
            </a:r>
          </a:p>
        </p:txBody>
      </p:sp>
      <p:sp>
        <p:nvSpPr>
          <p:cNvPr id="22" name="Shape"/>
          <p:cNvSpPr/>
          <p:nvPr/>
        </p:nvSpPr>
        <p:spPr>
          <a:xfrm>
            <a:off x="548640" y="3780000"/>
            <a:ext cx="5284000" cy="300000"/>
          </a:xfrm>
          <a:prstGeom prst="roundRect">
            <a:avLst>
              <a:gd name="adj" fmla="val 50000"/>
            </a:avLst>
          </a:prstGeom>
          <a:solidFill>
            <a:srgbClr val="22A699"/>
          </a:solidFill>
          <a:ln>
            <a:noFill/>
          </a:ln>
        </p:spPr>
        <p:txBody>
          <a:bodyPr/>
          <a:lstStyle/>
          <a:p>
            <a:endParaRPr lang="en-US"/>
          </a:p>
        </p:txBody>
      </p:sp>
      <p:sp>
        <p:nvSpPr>
          <p:cNvPr id="23" name="Text"/>
          <p:cNvSpPr/>
          <p:nvPr/>
        </p:nvSpPr>
        <p:spPr>
          <a:xfrm>
            <a:off x="548640" y="3780000"/>
            <a:ext cx="5284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IQR OUTLIER CAPPING BOUNDS (SECTION 5)</a:t>
            </a:r>
          </a:p>
        </p:txBody>
      </p:sp>
      <p:sp>
        <p:nvSpPr>
          <p:cNvPr id="24" name="Shape"/>
          <p:cNvSpPr/>
          <p:nvPr/>
        </p:nvSpPr>
        <p:spPr>
          <a:xfrm>
            <a:off x="548640" y="418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25" name="Text"/>
          <p:cNvSpPr/>
          <p:nvPr/>
        </p:nvSpPr>
        <p:spPr>
          <a:xfrm>
            <a:off x="648640" y="424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Age</a:t>
            </a:r>
          </a:p>
        </p:txBody>
      </p:sp>
      <p:sp>
        <p:nvSpPr>
          <p:cNvPr id="26" name="Text"/>
          <p:cNvSpPr/>
          <p:nvPr/>
        </p:nvSpPr>
        <p:spPr>
          <a:xfrm>
            <a:off x="648640" y="451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-16.50 – 123.50</a:t>
            </a:r>
          </a:p>
        </p:txBody>
      </p:sp>
      <p:sp>
        <p:nvSpPr>
          <p:cNvPr id="27" name="Shape"/>
          <p:cNvSpPr/>
          <p:nvPr/>
        </p:nvSpPr>
        <p:spPr>
          <a:xfrm>
            <a:off x="3215040" y="418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28" name="Text"/>
          <p:cNvSpPr/>
          <p:nvPr/>
        </p:nvSpPr>
        <p:spPr>
          <a:xfrm>
            <a:off x="3315040" y="424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BMI</a:t>
            </a:r>
          </a:p>
        </p:txBody>
      </p:sp>
      <p:sp>
        <p:nvSpPr>
          <p:cNvPr id="29" name="Text"/>
          <p:cNvSpPr/>
          <p:nvPr/>
        </p:nvSpPr>
        <p:spPr>
          <a:xfrm>
            <a:off x="3315040" y="451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13.58 – 40.44</a:t>
            </a:r>
          </a:p>
        </p:txBody>
      </p:sp>
      <p:sp>
        <p:nvSpPr>
          <p:cNvPr id="30" name="Shape"/>
          <p:cNvSpPr/>
          <p:nvPr/>
        </p:nvSpPr>
        <p:spPr>
          <a:xfrm>
            <a:off x="5881440" y="418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31" name="Text"/>
          <p:cNvSpPr/>
          <p:nvPr/>
        </p:nvSpPr>
        <p:spPr>
          <a:xfrm>
            <a:off x="5981440" y="424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Systolic_BP</a:t>
            </a:r>
          </a:p>
        </p:txBody>
      </p:sp>
      <p:sp>
        <p:nvSpPr>
          <p:cNvPr id="32" name="Text"/>
          <p:cNvSpPr/>
          <p:nvPr/>
        </p:nvSpPr>
        <p:spPr>
          <a:xfrm>
            <a:off x="5981440" y="451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81.95 – 135.89</a:t>
            </a:r>
          </a:p>
        </p:txBody>
      </p:sp>
      <p:sp>
        <p:nvSpPr>
          <p:cNvPr id="33" name="Shape"/>
          <p:cNvSpPr/>
          <p:nvPr/>
        </p:nvSpPr>
        <p:spPr>
          <a:xfrm>
            <a:off x="8547840" y="418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34" name="Text"/>
          <p:cNvSpPr/>
          <p:nvPr/>
        </p:nvSpPr>
        <p:spPr>
          <a:xfrm>
            <a:off x="8647840" y="424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Diastolic_BP</a:t>
            </a:r>
          </a:p>
        </p:txBody>
      </p:sp>
      <p:sp>
        <p:nvSpPr>
          <p:cNvPr id="35" name="Text"/>
          <p:cNvSpPr/>
          <p:nvPr/>
        </p:nvSpPr>
        <p:spPr>
          <a:xfrm>
            <a:off x="8647840" y="451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59.95 – 103.80</a:t>
            </a:r>
          </a:p>
        </p:txBody>
      </p:sp>
      <p:sp>
        <p:nvSpPr>
          <p:cNvPr id="36" name="Shape"/>
          <p:cNvSpPr/>
          <p:nvPr/>
        </p:nvSpPr>
        <p:spPr>
          <a:xfrm>
            <a:off x="548640" y="497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37" name="Text"/>
          <p:cNvSpPr/>
          <p:nvPr/>
        </p:nvSpPr>
        <p:spPr>
          <a:xfrm>
            <a:off x="648640" y="503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Total_Cholesterol</a:t>
            </a:r>
          </a:p>
        </p:txBody>
      </p:sp>
      <p:sp>
        <p:nvSpPr>
          <p:cNvPr id="38" name="Text"/>
          <p:cNvSpPr/>
          <p:nvPr/>
        </p:nvSpPr>
        <p:spPr>
          <a:xfrm>
            <a:off x="648640" y="530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148.42 – 237.83</a:t>
            </a:r>
          </a:p>
        </p:txBody>
      </p:sp>
      <p:sp>
        <p:nvSpPr>
          <p:cNvPr id="39" name="Shape"/>
          <p:cNvSpPr/>
          <p:nvPr/>
        </p:nvSpPr>
        <p:spPr>
          <a:xfrm>
            <a:off x="3215040" y="497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40" name="Text"/>
          <p:cNvSpPr/>
          <p:nvPr/>
        </p:nvSpPr>
        <p:spPr>
          <a:xfrm>
            <a:off x="3315040" y="503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HDL_Cholesterol</a:t>
            </a:r>
          </a:p>
        </p:txBody>
      </p:sp>
      <p:sp>
        <p:nvSpPr>
          <p:cNvPr id="41" name="Text"/>
          <p:cNvSpPr/>
          <p:nvPr/>
        </p:nvSpPr>
        <p:spPr>
          <a:xfrm>
            <a:off x="3315040" y="530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23.90 – 50.52</a:t>
            </a:r>
          </a:p>
        </p:txBody>
      </p:sp>
      <p:sp>
        <p:nvSpPr>
          <p:cNvPr id="42" name="Shape"/>
          <p:cNvSpPr/>
          <p:nvPr/>
        </p:nvSpPr>
        <p:spPr>
          <a:xfrm>
            <a:off x="5881440" y="497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43" name="Text"/>
          <p:cNvSpPr/>
          <p:nvPr/>
        </p:nvSpPr>
        <p:spPr>
          <a:xfrm>
            <a:off x="5981440" y="503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LDL_Cholesterol</a:t>
            </a:r>
          </a:p>
        </p:txBody>
      </p:sp>
      <p:sp>
        <p:nvSpPr>
          <p:cNvPr id="44" name="Text"/>
          <p:cNvSpPr/>
          <p:nvPr/>
        </p:nvSpPr>
        <p:spPr>
          <a:xfrm>
            <a:off x="5981440" y="530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178.17 – 253.39</a:t>
            </a:r>
          </a:p>
        </p:txBody>
      </p:sp>
      <p:sp>
        <p:nvSpPr>
          <p:cNvPr id="45" name="Shape"/>
          <p:cNvSpPr/>
          <p:nvPr/>
        </p:nvSpPr>
        <p:spPr>
          <a:xfrm>
            <a:off x="8547840" y="4970000"/>
            <a:ext cx="2516400" cy="640000"/>
          </a:xfrm>
          <a:prstGeom prst="roundRect">
            <a:avLst>
              <a:gd name="adj" fmla="val 4000"/>
            </a:avLst>
          </a:prstGeom>
          <a:solidFill>
            <a:srgbClr val="FFFFFF"/>
          </a:solidFill>
          <a:ln w="6350">
            <a:solidFill>
              <a:srgbClr val="D7E4EC"/>
            </a:solidFill>
            <a:prstDash val="solid"/>
          </a:ln>
        </p:spPr>
        <p:txBody>
          <a:bodyPr/>
          <a:lstStyle/>
          <a:p>
            <a:endParaRPr lang="en-US"/>
          </a:p>
        </p:txBody>
      </p:sp>
      <p:sp>
        <p:nvSpPr>
          <p:cNvPr id="46" name="Text"/>
          <p:cNvSpPr/>
          <p:nvPr/>
        </p:nvSpPr>
        <p:spPr>
          <a:xfrm>
            <a:off x="8647840" y="5030000"/>
            <a:ext cx="2316400" cy="280000"/>
          </a:xfrm>
          <a:prstGeom prst="rect">
            <a:avLst/>
          </a:prstGeom>
          <a:noFill/>
          <a:ln/>
        </p:spPr>
        <p:txBody>
          <a:bodyPr wrap="square" lIns="0" tIns="0" rIns="0" bIns="0" rtlCol="0" anchor="ctr"/>
          <a:lstStyle/>
          <a:p>
            <a:pPr marL="0" indent="0" algn="l">
              <a:buNone/>
            </a:pPr>
            <a:r>
              <a:rPr lang="en-US" sz="900" b="1" dirty="0">
                <a:solidFill>
                  <a:srgbClr val="12283F"/>
                </a:solidFill>
                <a:latin typeface="Calibri" pitchFamily="34" charset="0"/>
                <a:ea typeface="Calibri" pitchFamily="34" charset="-122"/>
                <a:cs typeface="Calibri" pitchFamily="34" charset="-120"/>
              </a:rPr>
              <a:t>Triglycerides</a:t>
            </a:r>
          </a:p>
        </p:txBody>
      </p:sp>
      <p:sp>
        <p:nvSpPr>
          <p:cNvPr id="47" name="Text"/>
          <p:cNvSpPr/>
          <p:nvPr/>
        </p:nvSpPr>
        <p:spPr>
          <a:xfrm>
            <a:off x="8647840" y="5300000"/>
            <a:ext cx="2316400" cy="260000"/>
          </a:xfrm>
          <a:prstGeom prst="rect">
            <a:avLst/>
          </a:prstGeom>
          <a:noFill/>
          <a:ln/>
        </p:spPr>
        <p:txBody>
          <a:bodyPr wrap="square" lIns="0" tIns="0" rIns="0" bIns="0" rtlCol="0" anchor="ctr"/>
          <a:lstStyle/>
          <a:p>
            <a:pPr marL="0" indent="0" algn="l">
              <a:buNone/>
            </a:pPr>
            <a:r>
              <a:rPr lang="en-US" sz="900" dirty="0">
                <a:solidFill>
                  <a:srgbClr val="1C7293"/>
                </a:solidFill>
                <a:latin typeface="Calibri" pitchFamily="34" charset="0"/>
                <a:ea typeface="Calibri" pitchFamily="34" charset="-122"/>
                <a:cs typeface="Calibri" pitchFamily="34" charset="-120"/>
              </a:rPr>
              <a:t>191.49 – 306.71</a:t>
            </a:r>
          </a:p>
        </p:txBody>
      </p:sp>
      <p:sp>
        <p:nvSpPr>
          <p:cNvPr id="48"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Data Quality</a:t>
            </a:r>
          </a:p>
        </p:txBody>
      </p:sp>
      <p:sp>
        <p:nvSpPr>
          <p:cNvPr id="49"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08 / 45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4279392"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4279392"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PYTHON — EDA &amp; KPIs</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Exploratory Analysis &amp; the 9-KPI Table</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Real, notebook-computed KPIs — the Section-12 KPI Analysis table, printed directly from the executed cells.</a:t>
            </a:r>
          </a:p>
        </p:txBody>
      </p:sp>
      <p:sp>
        <p:nvSpPr>
          <p:cNvPr id="6" name="Shape"/>
          <p:cNvSpPr/>
          <p:nvPr/>
        </p:nvSpPr>
        <p:spPr>
          <a:xfrm>
            <a:off x="548640" y="198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7" name="Text"/>
          <p:cNvSpPr/>
          <p:nvPr/>
        </p:nvSpPr>
        <p:spPr>
          <a:xfrm>
            <a:off x="628640" y="211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59.78%</a:t>
            </a:r>
          </a:p>
        </p:txBody>
      </p:sp>
      <p:sp>
        <p:nvSpPr>
          <p:cNvPr id="8" name="Text"/>
          <p:cNvSpPr/>
          <p:nvPr/>
        </p:nvSpPr>
        <p:spPr>
          <a:xfrm>
            <a:off x="628640" y="254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Elevated BP Risk Rate</a:t>
            </a:r>
          </a:p>
        </p:txBody>
      </p:sp>
      <p:sp>
        <p:nvSpPr>
          <p:cNvPr id="9" name="Text"/>
          <p:cNvSpPr/>
          <p:nvPr/>
        </p:nvSpPr>
        <p:spPr>
          <a:xfrm>
            <a:off x="628640" y="293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Systolic ≥130 or Diastolic ≥80</a:t>
            </a:r>
          </a:p>
        </p:txBody>
      </p:sp>
      <p:sp>
        <p:nvSpPr>
          <p:cNvPr id="10" name="Shape"/>
          <p:cNvSpPr/>
          <p:nvPr/>
        </p:nvSpPr>
        <p:spPr>
          <a:xfrm>
            <a:off x="3222540" y="198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1" name="Text"/>
          <p:cNvSpPr/>
          <p:nvPr/>
        </p:nvSpPr>
        <p:spPr>
          <a:xfrm>
            <a:off x="3302540" y="211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27.87%</a:t>
            </a:r>
          </a:p>
        </p:txBody>
      </p:sp>
      <p:sp>
        <p:nvSpPr>
          <p:cNvPr id="12" name="Text"/>
          <p:cNvSpPr/>
          <p:nvPr/>
        </p:nvSpPr>
        <p:spPr>
          <a:xfrm>
            <a:off x="3302540" y="254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Obesity Prevalence</a:t>
            </a:r>
          </a:p>
        </p:txBody>
      </p:sp>
      <p:sp>
        <p:nvSpPr>
          <p:cNvPr id="13" name="Text"/>
          <p:cNvSpPr/>
          <p:nvPr/>
        </p:nvSpPr>
        <p:spPr>
          <a:xfrm>
            <a:off x="3302540" y="293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BMI ≥30 (WHO standard)</a:t>
            </a:r>
          </a:p>
        </p:txBody>
      </p:sp>
      <p:sp>
        <p:nvSpPr>
          <p:cNvPr id="14" name="Shape"/>
          <p:cNvSpPr/>
          <p:nvPr/>
        </p:nvSpPr>
        <p:spPr>
          <a:xfrm>
            <a:off x="5896440" y="198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5" name="Text"/>
          <p:cNvSpPr/>
          <p:nvPr/>
        </p:nvSpPr>
        <p:spPr>
          <a:xfrm>
            <a:off x="5976440" y="211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29.72%</a:t>
            </a:r>
          </a:p>
        </p:txBody>
      </p:sp>
      <p:sp>
        <p:nvSpPr>
          <p:cNvPr id="16" name="Text"/>
          <p:cNvSpPr/>
          <p:nvPr/>
        </p:nvSpPr>
        <p:spPr>
          <a:xfrm>
            <a:off x="5976440" y="254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Smoking Prevalence</a:t>
            </a:r>
          </a:p>
        </p:txBody>
      </p:sp>
      <p:sp>
        <p:nvSpPr>
          <p:cNvPr id="17" name="Text"/>
          <p:cNvSpPr/>
          <p:nvPr/>
        </p:nvSpPr>
        <p:spPr>
          <a:xfrm>
            <a:off x="5976440" y="293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Share of population who smoke</a:t>
            </a:r>
          </a:p>
        </p:txBody>
      </p:sp>
      <p:sp>
        <p:nvSpPr>
          <p:cNvPr id="18" name="Shape"/>
          <p:cNvSpPr/>
          <p:nvPr/>
        </p:nvSpPr>
        <p:spPr>
          <a:xfrm>
            <a:off x="8570340" y="198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9" name="Text"/>
          <p:cNvSpPr/>
          <p:nvPr/>
        </p:nvSpPr>
        <p:spPr>
          <a:xfrm>
            <a:off x="8650340" y="211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20.39%</a:t>
            </a:r>
          </a:p>
        </p:txBody>
      </p:sp>
      <p:sp>
        <p:nvSpPr>
          <p:cNvPr id="20" name="Text"/>
          <p:cNvSpPr/>
          <p:nvPr/>
        </p:nvSpPr>
        <p:spPr>
          <a:xfrm>
            <a:off x="8650340" y="254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Physical Inactivity</a:t>
            </a:r>
          </a:p>
        </p:txBody>
      </p:sp>
      <p:sp>
        <p:nvSpPr>
          <p:cNvPr id="21" name="Text"/>
          <p:cNvSpPr/>
          <p:nvPr/>
        </p:nvSpPr>
        <p:spPr>
          <a:xfrm>
            <a:off x="8650340" y="293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Share reporting 'low' activity</a:t>
            </a:r>
          </a:p>
        </p:txBody>
      </p:sp>
      <p:sp>
        <p:nvSpPr>
          <p:cNvPr id="22" name="Shape"/>
          <p:cNvSpPr/>
          <p:nvPr/>
        </p:nvSpPr>
        <p:spPr>
          <a:xfrm>
            <a:off x="548640" y="361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3" name="Text"/>
          <p:cNvSpPr/>
          <p:nvPr/>
        </p:nvSpPr>
        <p:spPr>
          <a:xfrm>
            <a:off x="628640" y="374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5.29</a:t>
            </a:r>
          </a:p>
        </p:txBody>
      </p:sp>
      <p:sp>
        <p:nvSpPr>
          <p:cNvPr id="24" name="Text"/>
          <p:cNvSpPr/>
          <p:nvPr/>
        </p:nvSpPr>
        <p:spPr>
          <a:xfrm>
            <a:off x="628640" y="417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Avg Chol. Ratio</a:t>
            </a:r>
          </a:p>
        </p:txBody>
      </p:sp>
      <p:sp>
        <p:nvSpPr>
          <p:cNvPr id="25" name="Text"/>
          <p:cNvSpPr/>
          <p:nvPr/>
        </p:nvSpPr>
        <p:spPr>
          <a:xfrm>
            <a:off x="628640" y="456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Total:HDL, cardiovascular risk score</a:t>
            </a:r>
          </a:p>
        </p:txBody>
      </p:sp>
      <p:sp>
        <p:nvSpPr>
          <p:cNvPr id="26" name="Shape"/>
          <p:cNvSpPr/>
          <p:nvPr/>
        </p:nvSpPr>
        <p:spPr>
          <a:xfrm>
            <a:off x="3222540" y="361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7" name="Text"/>
          <p:cNvSpPr/>
          <p:nvPr/>
        </p:nvSpPr>
        <p:spPr>
          <a:xfrm>
            <a:off x="3302540" y="374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59.81%</a:t>
            </a:r>
          </a:p>
        </p:txBody>
      </p:sp>
      <p:sp>
        <p:nvSpPr>
          <p:cNvPr id="28" name="Text"/>
          <p:cNvSpPr/>
          <p:nvPr/>
        </p:nvSpPr>
        <p:spPr>
          <a:xfrm>
            <a:off x="3302540" y="417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Elevated Chol. Ratio</a:t>
            </a:r>
          </a:p>
        </p:txBody>
      </p:sp>
      <p:sp>
        <p:nvSpPr>
          <p:cNvPr id="29" name="Text"/>
          <p:cNvSpPr/>
          <p:nvPr/>
        </p:nvSpPr>
        <p:spPr>
          <a:xfrm>
            <a:off x="3302540" y="456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Share with Total:HDL ratio &gt; 5</a:t>
            </a:r>
          </a:p>
        </p:txBody>
      </p:sp>
      <p:sp>
        <p:nvSpPr>
          <p:cNvPr id="30" name="Shape"/>
          <p:cNvSpPr/>
          <p:nvPr/>
        </p:nvSpPr>
        <p:spPr>
          <a:xfrm>
            <a:off x="5896440" y="361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1" name="Text"/>
          <p:cNvSpPr/>
          <p:nvPr/>
        </p:nvSpPr>
        <p:spPr>
          <a:xfrm>
            <a:off x="5976440" y="374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0.00%</a:t>
            </a:r>
          </a:p>
        </p:txBody>
      </p:sp>
      <p:sp>
        <p:nvSpPr>
          <p:cNvPr id="32" name="Text"/>
          <p:cNvSpPr/>
          <p:nvPr/>
        </p:nvSpPr>
        <p:spPr>
          <a:xfrm>
            <a:off x="5976440" y="417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High Total Chol. (≥240)</a:t>
            </a:r>
          </a:p>
        </p:txBody>
      </p:sp>
      <p:sp>
        <p:nvSpPr>
          <p:cNvPr id="33" name="Text"/>
          <p:cNvSpPr/>
          <p:nvPr/>
        </p:nvSpPr>
        <p:spPr>
          <a:xfrm>
            <a:off x="5976440" y="456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0% — IQR capping bounded max at 237.83</a:t>
            </a:r>
          </a:p>
        </p:txBody>
      </p:sp>
      <p:sp>
        <p:nvSpPr>
          <p:cNvPr id="34" name="Shape"/>
          <p:cNvSpPr/>
          <p:nvPr/>
        </p:nvSpPr>
        <p:spPr>
          <a:xfrm>
            <a:off x="8570340" y="3610000"/>
            <a:ext cx="2493900" cy="142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5" name="Text"/>
          <p:cNvSpPr/>
          <p:nvPr/>
        </p:nvSpPr>
        <p:spPr>
          <a:xfrm>
            <a:off x="8650340" y="3740000"/>
            <a:ext cx="2333900" cy="400000"/>
          </a:xfrm>
          <a:prstGeom prst="rect">
            <a:avLst/>
          </a:prstGeom>
          <a:noFill/>
          <a:ln/>
        </p:spPr>
        <p:txBody>
          <a:bodyPr wrap="square" lIns="0" tIns="0" rIns="0" bIns="0" rtlCol="0" anchor="ctr"/>
          <a:lstStyle/>
          <a:p>
            <a:pPr marL="0" indent="0" algn="ctr">
              <a:buNone/>
            </a:pPr>
            <a:r>
              <a:rPr lang="en-US" sz="1550" b="1" dirty="0">
                <a:solidFill>
                  <a:srgbClr val="1C7293"/>
                </a:solidFill>
                <a:latin typeface="Cambria" pitchFamily="34" charset="0"/>
                <a:ea typeface="Cambria" pitchFamily="34" charset="-122"/>
                <a:cs typeface="Cambria" pitchFamily="34" charset="-120"/>
              </a:rPr>
              <a:t>100.00%</a:t>
            </a:r>
          </a:p>
        </p:txBody>
      </p:sp>
      <p:sp>
        <p:nvSpPr>
          <p:cNvPr id="36" name="Text"/>
          <p:cNvSpPr/>
          <p:nvPr/>
        </p:nvSpPr>
        <p:spPr>
          <a:xfrm>
            <a:off x="8650340" y="4170000"/>
            <a:ext cx="2333900" cy="400000"/>
          </a:xfrm>
          <a:prstGeom prst="rect">
            <a:avLst/>
          </a:prstGeom>
          <a:noFill/>
          <a:ln/>
        </p:spPr>
        <p:txBody>
          <a:bodyPr wrap="square" lIns="0" tIns="0" rIns="0" bIns="0" rtlCol="0" anchor="ctr"/>
          <a:lstStyle/>
          <a:p>
            <a:pPr marL="0" indent="0" algn="ctr">
              <a:lnSpc>
                <a:spcPts val="1100"/>
              </a:lnSpc>
              <a:buNone/>
            </a:pPr>
            <a:r>
              <a:rPr lang="en-US" sz="900" b="1" dirty="0">
                <a:solidFill>
                  <a:srgbClr val="12283F"/>
                </a:solidFill>
                <a:latin typeface="Calibri" pitchFamily="34" charset="0"/>
                <a:ea typeface="Calibri" pitchFamily="34" charset="-122"/>
                <a:cs typeface="Calibri" pitchFamily="34" charset="-120"/>
              </a:rPr>
              <a:t>Data Completeness</a:t>
            </a:r>
          </a:p>
        </p:txBody>
      </p:sp>
      <p:sp>
        <p:nvSpPr>
          <p:cNvPr id="37" name="Text"/>
          <p:cNvSpPr/>
          <p:nvPr/>
        </p:nvSpPr>
        <p:spPr>
          <a:xfrm>
            <a:off x="8650340" y="4560000"/>
            <a:ext cx="2333900" cy="440000"/>
          </a:xfrm>
          <a:prstGeom prst="rect">
            <a:avLst/>
          </a:prstGeom>
          <a:noFill/>
          <a:ln/>
        </p:spPr>
        <p:txBody>
          <a:bodyPr wrap="square" lIns="0" tIns="0" rIns="0" bIns="0" rtlCol="0" anchor="ctr"/>
          <a:lstStyle/>
          <a:p>
            <a:pPr marL="0" indent="0" algn="ctr">
              <a:lnSpc>
                <a:spcPts val="1000"/>
              </a:lnSpc>
              <a:buNone/>
            </a:pPr>
            <a:r>
              <a:rPr lang="en-US" sz="780" dirty="0">
                <a:solidFill>
                  <a:srgbClr val="5B7284"/>
                </a:solidFill>
                <a:latin typeface="Calibri" pitchFamily="34" charset="0"/>
                <a:ea typeface="Calibri" pitchFamily="34" charset="-122"/>
                <a:cs typeface="Calibri" pitchFamily="34" charset="-120"/>
              </a:rPr>
              <a:t>After Section 5/8 cleaning</a:t>
            </a:r>
          </a:p>
        </p:txBody>
      </p:sp>
      <p:sp>
        <p:nvSpPr>
          <p:cNvPr id="38" name="Shape"/>
          <p:cNvSpPr/>
          <p:nvPr/>
        </p:nvSpPr>
        <p:spPr>
          <a:xfrm>
            <a:off x="548640" y="5290000"/>
            <a:ext cx="5796000" cy="300000"/>
          </a:xfrm>
          <a:prstGeom prst="roundRect">
            <a:avLst>
              <a:gd name="adj" fmla="val 50000"/>
            </a:avLst>
          </a:prstGeom>
          <a:solidFill>
            <a:srgbClr val="22C3A6"/>
          </a:solidFill>
          <a:ln>
            <a:noFill/>
          </a:ln>
        </p:spPr>
        <p:txBody>
          <a:bodyPr/>
          <a:lstStyle/>
          <a:p>
            <a:endParaRPr lang="en-US"/>
          </a:p>
        </p:txBody>
      </p:sp>
      <p:sp>
        <p:nvSpPr>
          <p:cNvPr id="39" name="Text"/>
          <p:cNvSpPr/>
          <p:nvPr/>
        </p:nvSpPr>
        <p:spPr>
          <a:xfrm>
            <a:off x="548640" y="5290000"/>
            <a:ext cx="5796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STRONGEST CORRELATION (SECTION 10 HEATMAP)</a:t>
            </a:r>
          </a:p>
        </p:txBody>
      </p:sp>
      <p:sp>
        <p:nvSpPr>
          <p:cNvPr id="40" name="Text"/>
          <p:cNvSpPr/>
          <p:nvPr/>
        </p:nvSpPr>
        <p:spPr>
          <a:xfrm>
            <a:off x="548640" y="5690000"/>
            <a:ext cx="10515600" cy="500000"/>
          </a:xfrm>
          <a:prstGeom prst="rect">
            <a:avLst/>
          </a:prstGeom>
          <a:noFill/>
          <a:ln/>
        </p:spPr>
        <p:txBody>
          <a:bodyPr wrap="square" lIns="0" tIns="0" rIns="0" bIns="0" rtlCol="0" anchor="t"/>
          <a:lstStyle/>
          <a:p>
            <a:pPr marL="0" indent="0" algn="l">
              <a:lnSpc>
                <a:spcPts val="1300"/>
              </a:lnSpc>
              <a:buNone/>
            </a:pPr>
            <a:r>
              <a:rPr lang="en-US" sz="1000" dirty="0">
                <a:solidFill>
                  <a:srgbClr val="5B7284"/>
                </a:solidFill>
                <a:latin typeface="Calibri" pitchFamily="34" charset="0"/>
                <a:ea typeface="Calibri" pitchFamily="34" charset="-122"/>
                <a:cs typeface="Calibri" pitchFamily="34" charset="-120"/>
              </a:rPr>
              <a:t>Total_Cholesterol ↔ LDL_Cholesterol: r = 0.69 (by far the strongest pair). Age ↔ Systolic_BP is weak-to-moderate at r = 0.18, confirming BP screening shouldn't rely on age alone.</a:t>
            </a:r>
          </a:p>
        </p:txBody>
      </p:sp>
      <p:sp>
        <p:nvSpPr>
          <p:cNvPr id="41"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Python — EDA &amp; KPIs</a:t>
            </a:r>
          </a:p>
        </p:txBody>
      </p:sp>
      <p:sp>
        <p:nvSpPr>
          <p:cNvPr id="42"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09 / 45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588873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588873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PYTHON — BUSINESS QUESTIONS</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Business &amp; Health Questions (1 of 2)</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Six real questions investigated in the notebook — finding, evidence, and recommendation for each.</a:t>
            </a:r>
          </a:p>
        </p:txBody>
      </p:sp>
      <p:sp>
        <p:nvSpPr>
          <p:cNvPr id="6" name="Shape"/>
          <p:cNvSpPr/>
          <p:nvPr/>
        </p:nvSpPr>
        <p:spPr>
          <a:xfrm>
            <a:off x="548640" y="1980000"/>
            <a:ext cx="10515600" cy="13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7" name="Text"/>
          <p:cNvSpPr/>
          <p:nvPr/>
        </p:nvSpPr>
        <p:spPr>
          <a:xfrm>
            <a:off x="728640" y="2090000"/>
            <a:ext cx="10155600" cy="350000"/>
          </a:xfrm>
          <a:prstGeom prst="rect">
            <a:avLst/>
          </a:prstGeom>
          <a:noFill/>
          <a:ln/>
        </p:spPr>
        <p:txBody>
          <a:bodyPr wrap="square" lIns="0" tIns="0" rIns="0" bIns="0" rtlCol="0" anchor="ctr"/>
          <a:lstStyle/>
          <a:p>
            <a:pPr marL="0" indent="0" algn="l">
              <a:buNone/>
            </a:pPr>
            <a:r>
              <a:rPr lang="en-US" sz="1100" b="1" dirty="0">
                <a:solidFill>
                  <a:srgbClr val="12283F"/>
                </a:solidFill>
                <a:latin typeface="Cambria" pitchFamily="34" charset="0"/>
                <a:ea typeface="Cambria" pitchFamily="34" charset="-122"/>
                <a:cs typeface="Cambria" pitchFamily="34" charset="-120"/>
              </a:rPr>
              <a:t>Q1. Does smoking associate with a higher BMI?</a:t>
            </a:r>
          </a:p>
        </p:txBody>
      </p:sp>
      <p:sp>
        <p:nvSpPr>
          <p:cNvPr id="8" name="Text"/>
          <p:cNvSpPr/>
          <p:nvPr/>
        </p:nvSpPr>
        <p:spPr>
          <a:xfrm>
            <a:off x="728640" y="2460000"/>
            <a:ext cx="10155600" cy="790000"/>
          </a:xfrm>
          <a:prstGeom prst="rect">
            <a:avLst/>
          </a:prstGeom>
          <a:noFill/>
          <a:ln/>
        </p:spPr>
        <p:txBody>
          <a:bodyPr wrap="square" lIns="0" tIns="0" rIns="0" bIns="0" rtlCol="0" anchor="t"/>
          <a:lstStyle/>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Finding: </a:t>
            </a:r>
            <a:r>
              <a:rPr lang="en-US" sz="950" dirty="0">
                <a:solidFill>
                  <a:srgbClr val="5B7284"/>
                </a:solidFill>
                <a:latin typeface="Calibri" pitchFamily="34" charset="0"/>
                <a:ea typeface="Calibri" pitchFamily="34" charset="-122"/>
                <a:cs typeface="Calibri" pitchFamily="34" charset="-120"/>
              </a:rPr>
              <a:t>Avg BMI is nearly identical: non-smoker 27.06 vs smoker 26.94.</a:t>
            </a:r>
          </a:p>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Interpretation: </a:t>
            </a:r>
            <a:r>
              <a:rPr lang="en-US" sz="950" dirty="0">
                <a:solidFill>
                  <a:srgbClr val="5B7284"/>
                </a:solidFill>
                <a:latin typeface="Calibri" pitchFamily="34" charset="0"/>
                <a:ea typeface="Calibri" pitchFamily="34" charset="-122"/>
                <a:cs typeface="Calibri" pitchFamily="34" charset="-120"/>
              </a:rPr>
              <a:t>Smoking status alone does not distinguish body-weight risk here.</a:t>
            </a:r>
          </a:p>
          <a:p>
            <a:pPr marL="0" indent="0" algn="l">
              <a:buNone/>
            </a:pPr>
            <a:r>
              <a:rPr lang="en-US" sz="950" b="1" dirty="0">
                <a:solidFill>
                  <a:srgbClr val="1C7293"/>
                </a:solidFill>
                <a:latin typeface="Calibri" pitchFamily="34" charset="0"/>
                <a:ea typeface="Calibri" pitchFamily="34" charset="-122"/>
                <a:cs typeface="Calibri" pitchFamily="34" charset="-120"/>
              </a:rPr>
              <a:t>Recommendation: </a:t>
            </a:r>
            <a:r>
              <a:rPr lang="en-US" sz="950" dirty="0">
                <a:solidFill>
                  <a:srgbClr val="5B7284"/>
                </a:solidFill>
                <a:latin typeface="Calibri" pitchFamily="34" charset="0"/>
                <a:ea typeface="Calibri" pitchFamily="34" charset="-122"/>
                <a:cs typeface="Calibri" pitchFamily="34" charset="-120"/>
              </a:rPr>
              <a:t>Treat smoking and obesity as separate, independent risk factors.</a:t>
            </a:r>
          </a:p>
        </p:txBody>
      </p:sp>
      <p:sp>
        <p:nvSpPr>
          <p:cNvPr id="9" name="Shape"/>
          <p:cNvSpPr/>
          <p:nvPr/>
        </p:nvSpPr>
        <p:spPr>
          <a:xfrm>
            <a:off x="548640" y="3450000"/>
            <a:ext cx="10515600" cy="13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10" name="Text"/>
          <p:cNvSpPr/>
          <p:nvPr/>
        </p:nvSpPr>
        <p:spPr>
          <a:xfrm>
            <a:off x="728640" y="3560000"/>
            <a:ext cx="10155600" cy="350000"/>
          </a:xfrm>
          <a:prstGeom prst="rect">
            <a:avLst/>
          </a:prstGeom>
          <a:noFill/>
          <a:ln/>
        </p:spPr>
        <p:txBody>
          <a:bodyPr wrap="square" lIns="0" tIns="0" rIns="0" bIns="0" rtlCol="0" anchor="ctr"/>
          <a:lstStyle/>
          <a:p>
            <a:pPr marL="0" indent="0" algn="l">
              <a:buNone/>
            </a:pPr>
            <a:r>
              <a:rPr lang="en-US" sz="1100" b="1" dirty="0">
                <a:solidFill>
                  <a:srgbClr val="12283F"/>
                </a:solidFill>
                <a:latin typeface="Cambria" pitchFamily="34" charset="0"/>
                <a:ea typeface="Cambria" pitchFamily="34" charset="-122"/>
                <a:cs typeface="Cambria" pitchFamily="34" charset="-120"/>
              </a:rPr>
              <a:t>Q2. How does systolic BP change with age?</a:t>
            </a:r>
          </a:p>
        </p:txBody>
      </p:sp>
      <p:sp>
        <p:nvSpPr>
          <p:cNvPr id="11" name="Text"/>
          <p:cNvSpPr/>
          <p:nvPr/>
        </p:nvSpPr>
        <p:spPr>
          <a:xfrm>
            <a:off x="728640" y="3930000"/>
            <a:ext cx="10155600" cy="790000"/>
          </a:xfrm>
          <a:prstGeom prst="rect">
            <a:avLst/>
          </a:prstGeom>
          <a:noFill/>
          <a:ln/>
        </p:spPr>
        <p:txBody>
          <a:bodyPr wrap="square" lIns="0" tIns="0" rIns="0" bIns="0" rtlCol="0" anchor="t"/>
          <a:lstStyle/>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Finding: </a:t>
            </a:r>
            <a:r>
              <a:rPr lang="en-US" sz="950" dirty="0">
                <a:solidFill>
                  <a:srgbClr val="5B7284"/>
                </a:solidFill>
                <a:latin typeface="Calibri" pitchFamily="34" charset="0"/>
                <a:ea typeface="Calibri" pitchFamily="34" charset="-122"/>
                <a:cs typeface="Calibri" pitchFamily="34" charset="-120"/>
              </a:rPr>
              <a:t>Positive but modest correlation: r = 0.18 between Age and Systolic BP.</a:t>
            </a:r>
          </a:p>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Interpretation: </a:t>
            </a:r>
            <a:r>
              <a:rPr lang="en-US" sz="950" dirty="0">
                <a:solidFill>
                  <a:srgbClr val="5B7284"/>
                </a:solidFill>
                <a:latin typeface="Calibri" pitchFamily="34" charset="0"/>
                <a:ea typeface="Calibri" pitchFamily="34" charset="-122"/>
                <a:cs typeface="Calibri" pitchFamily="34" charset="-120"/>
              </a:rPr>
              <a:t>Age explains only part of BP variation — a contributing factor, not the sole one.</a:t>
            </a:r>
          </a:p>
          <a:p>
            <a:pPr marL="0" indent="0" algn="l">
              <a:buNone/>
            </a:pPr>
            <a:r>
              <a:rPr lang="en-US" sz="950" b="1" dirty="0">
                <a:solidFill>
                  <a:srgbClr val="1C7293"/>
                </a:solidFill>
                <a:latin typeface="Calibri" pitchFamily="34" charset="0"/>
                <a:ea typeface="Calibri" pitchFamily="34" charset="-122"/>
                <a:cs typeface="Calibri" pitchFamily="34" charset="-120"/>
              </a:rPr>
              <a:t>Recommendation: </a:t>
            </a:r>
            <a:r>
              <a:rPr lang="en-US" sz="950" dirty="0">
                <a:solidFill>
                  <a:srgbClr val="5B7284"/>
                </a:solidFill>
                <a:latin typeface="Calibri" pitchFamily="34" charset="0"/>
                <a:ea typeface="Calibri" pitchFamily="34" charset="-122"/>
                <a:cs typeface="Calibri" pitchFamily="34" charset="-120"/>
              </a:rPr>
              <a:t>Combine age with BMI and lipid markers when prioritizing BP screening.</a:t>
            </a:r>
          </a:p>
        </p:txBody>
      </p:sp>
      <p:sp>
        <p:nvSpPr>
          <p:cNvPr id="12" name="Shape"/>
          <p:cNvSpPr/>
          <p:nvPr/>
        </p:nvSpPr>
        <p:spPr>
          <a:xfrm>
            <a:off x="548640" y="4920000"/>
            <a:ext cx="10515600" cy="13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13" name="Text"/>
          <p:cNvSpPr/>
          <p:nvPr/>
        </p:nvSpPr>
        <p:spPr>
          <a:xfrm>
            <a:off x="728640" y="5030000"/>
            <a:ext cx="10155600" cy="350000"/>
          </a:xfrm>
          <a:prstGeom prst="rect">
            <a:avLst/>
          </a:prstGeom>
          <a:noFill/>
          <a:ln/>
        </p:spPr>
        <p:txBody>
          <a:bodyPr wrap="square" lIns="0" tIns="0" rIns="0" bIns="0" rtlCol="0" anchor="ctr"/>
          <a:lstStyle/>
          <a:p>
            <a:pPr marL="0" indent="0" algn="l">
              <a:buNone/>
            </a:pPr>
            <a:r>
              <a:rPr lang="en-US" sz="1100" b="1" dirty="0">
                <a:solidFill>
                  <a:srgbClr val="12283F"/>
                </a:solidFill>
                <a:latin typeface="Cambria" pitchFamily="34" charset="0"/>
                <a:ea typeface="Cambria" pitchFamily="34" charset="-122"/>
                <a:cs typeface="Cambria" pitchFamily="34" charset="-120"/>
              </a:rPr>
              <a:t>Q3. Does activity level associate with lower BMI?</a:t>
            </a:r>
          </a:p>
        </p:txBody>
      </p:sp>
      <p:sp>
        <p:nvSpPr>
          <p:cNvPr id="14" name="Text"/>
          <p:cNvSpPr/>
          <p:nvPr/>
        </p:nvSpPr>
        <p:spPr>
          <a:xfrm>
            <a:off x="728640" y="5400000"/>
            <a:ext cx="10155600" cy="790000"/>
          </a:xfrm>
          <a:prstGeom prst="rect">
            <a:avLst/>
          </a:prstGeom>
          <a:noFill/>
          <a:ln/>
        </p:spPr>
        <p:txBody>
          <a:bodyPr wrap="square" lIns="0" tIns="0" rIns="0" bIns="0" rtlCol="0" anchor="t"/>
          <a:lstStyle/>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Finding: </a:t>
            </a:r>
            <a:r>
              <a:rPr lang="en-US" sz="950" dirty="0">
                <a:solidFill>
                  <a:srgbClr val="5B7284"/>
                </a:solidFill>
                <a:latin typeface="Calibri" pitchFamily="34" charset="0"/>
                <a:ea typeface="Calibri" pitchFamily="34" charset="-122"/>
                <a:cs typeface="Calibri" pitchFamily="34" charset="-120"/>
              </a:rPr>
              <a:t>Median BMI is nearly flat: low 27.00, moderate 27.03, high 27.03.</a:t>
            </a:r>
          </a:p>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Interpretation: </a:t>
            </a:r>
            <a:r>
              <a:rPr lang="en-US" sz="950" dirty="0">
                <a:solidFill>
                  <a:srgbClr val="5B7284"/>
                </a:solidFill>
                <a:latin typeface="Calibri" pitchFamily="34" charset="0"/>
                <a:ea typeface="Calibri" pitchFamily="34" charset="-122"/>
                <a:cs typeface="Calibri" pitchFamily="34" charset="-120"/>
              </a:rPr>
              <a:t>Self-reported activity is not a strong standalone differentiator of BMI.</a:t>
            </a:r>
          </a:p>
          <a:p>
            <a:pPr marL="0" indent="0" algn="l">
              <a:buNone/>
            </a:pPr>
            <a:r>
              <a:rPr lang="en-US" sz="950" b="1" dirty="0">
                <a:solidFill>
                  <a:srgbClr val="1C7293"/>
                </a:solidFill>
                <a:latin typeface="Calibri" pitchFamily="34" charset="0"/>
                <a:ea typeface="Calibri" pitchFamily="34" charset="-122"/>
                <a:cs typeface="Calibri" pitchFamily="34" charset="-120"/>
              </a:rPr>
              <a:t>Recommendation: </a:t>
            </a:r>
            <a:r>
              <a:rPr lang="en-US" sz="950" dirty="0">
                <a:solidFill>
                  <a:srgbClr val="5B7284"/>
                </a:solidFill>
                <a:latin typeface="Calibri" pitchFamily="34" charset="0"/>
                <a:ea typeface="Calibri" pitchFamily="34" charset="-122"/>
                <a:cs typeface="Calibri" pitchFamily="34" charset="-120"/>
              </a:rPr>
              <a:t>Pair activity tracking with direct BMI measurement, not as a substitute.</a:t>
            </a:r>
          </a:p>
        </p:txBody>
      </p:sp>
      <p:sp>
        <p:nvSpPr>
          <p:cNvPr id="15"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Business Questions</a:t>
            </a:r>
          </a:p>
        </p:txBody>
      </p:sp>
      <p:sp>
        <p:nvSpPr>
          <p:cNvPr id="16"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10 / 45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588873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588873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PYTHON — BUSINESS QUESTIONS</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Business &amp; Health Questions (2 of 2)</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The remaining three questions — the sharpest segmentation signals in the dataset.</a:t>
            </a:r>
          </a:p>
        </p:txBody>
      </p:sp>
      <p:sp>
        <p:nvSpPr>
          <p:cNvPr id="6" name="Shape"/>
          <p:cNvSpPr/>
          <p:nvPr/>
        </p:nvSpPr>
        <p:spPr>
          <a:xfrm>
            <a:off x="548640" y="1980000"/>
            <a:ext cx="10515600" cy="13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7" name="Text"/>
          <p:cNvSpPr/>
          <p:nvPr/>
        </p:nvSpPr>
        <p:spPr>
          <a:xfrm>
            <a:off x="728640" y="2090000"/>
            <a:ext cx="10155600" cy="350000"/>
          </a:xfrm>
          <a:prstGeom prst="rect">
            <a:avLst/>
          </a:prstGeom>
          <a:noFill/>
          <a:ln/>
        </p:spPr>
        <p:txBody>
          <a:bodyPr wrap="square" lIns="0" tIns="0" rIns="0" bIns="0" rtlCol="0" anchor="ctr"/>
          <a:lstStyle/>
          <a:p>
            <a:pPr marL="0" indent="0" algn="l">
              <a:buNone/>
            </a:pPr>
            <a:r>
              <a:rPr lang="en-US" sz="1100" b="1" dirty="0">
                <a:solidFill>
                  <a:srgbClr val="12283F"/>
                </a:solidFill>
                <a:latin typeface="Cambria" pitchFamily="34" charset="0"/>
                <a:ea typeface="Cambria" pitchFamily="34" charset="-122"/>
                <a:cs typeface="Cambria" pitchFamily="34" charset="-120"/>
              </a:rPr>
              <a:t>Q4. Does elevated BP risk differ by smoking status?</a:t>
            </a:r>
          </a:p>
        </p:txBody>
      </p:sp>
      <p:sp>
        <p:nvSpPr>
          <p:cNvPr id="8" name="Text"/>
          <p:cNvSpPr/>
          <p:nvPr/>
        </p:nvSpPr>
        <p:spPr>
          <a:xfrm>
            <a:off x="728640" y="2460000"/>
            <a:ext cx="10155600" cy="790000"/>
          </a:xfrm>
          <a:prstGeom prst="rect">
            <a:avLst/>
          </a:prstGeom>
          <a:noFill/>
          <a:ln/>
        </p:spPr>
        <p:txBody>
          <a:bodyPr wrap="square" lIns="0" tIns="0" rIns="0" bIns="0" rtlCol="0" anchor="t"/>
          <a:lstStyle/>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Finding: </a:t>
            </a:r>
            <a:r>
              <a:rPr lang="en-US" sz="950" dirty="0">
                <a:solidFill>
                  <a:srgbClr val="5B7284"/>
                </a:solidFill>
                <a:latin typeface="Calibri" pitchFamily="34" charset="0"/>
                <a:ea typeface="Calibri" pitchFamily="34" charset="-122"/>
                <a:cs typeface="Calibri" pitchFamily="34" charset="-120"/>
              </a:rPr>
              <a:t>Elevated BP risk: 60.4% of non-smokers vs 58.4% of smokers — very similar.</a:t>
            </a:r>
          </a:p>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Interpretation: </a:t>
            </a:r>
            <a:r>
              <a:rPr lang="en-US" sz="950" dirty="0">
                <a:solidFill>
                  <a:srgbClr val="5B7284"/>
                </a:solidFill>
                <a:latin typeface="Calibri" pitchFamily="34" charset="0"/>
                <a:ea typeface="Calibri" pitchFamily="34" charset="-122"/>
                <a:cs typeface="Calibri" pitchFamily="34" charset="-120"/>
              </a:rPr>
              <a:t>Elevated BP risk is widespread across the population, not concentrated in smokers.</a:t>
            </a:r>
          </a:p>
          <a:p>
            <a:pPr marL="0" indent="0" algn="l">
              <a:buNone/>
            </a:pPr>
            <a:r>
              <a:rPr lang="en-US" sz="950" b="1" dirty="0">
                <a:solidFill>
                  <a:srgbClr val="1C7293"/>
                </a:solidFill>
                <a:latin typeface="Calibri" pitchFamily="34" charset="0"/>
                <a:ea typeface="Calibri" pitchFamily="34" charset="-122"/>
                <a:cs typeface="Calibri" pitchFamily="34" charset="-120"/>
              </a:rPr>
              <a:t>Recommendation: </a:t>
            </a:r>
            <a:r>
              <a:rPr lang="en-US" sz="950" dirty="0">
                <a:solidFill>
                  <a:srgbClr val="5B7284"/>
                </a:solidFill>
                <a:latin typeface="Calibri" pitchFamily="34" charset="0"/>
                <a:ea typeface="Calibri" pitchFamily="34" charset="-122"/>
                <a:cs typeface="Calibri" pitchFamily="34" charset="-120"/>
              </a:rPr>
              <a:t>Screen for blood pressure broadly, not just among smokers.</a:t>
            </a:r>
          </a:p>
        </p:txBody>
      </p:sp>
      <p:sp>
        <p:nvSpPr>
          <p:cNvPr id="9" name="Shape"/>
          <p:cNvSpPr/>
          <p:nvPr/>
        </p:nvSpPr>
        <p:spPr>
          <a:xfrm>
            <a:off x="548640" y="3450000"/>
            <a:ext cx="10515600" cy="13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10" name="Text"/>
          <p:cNvSpPr/>
          <p:nvPr/>
        </p:nvSpPr>
        <p:spPr>
          <a:xfrm>
            <a:off x="728640" y="3560000"/>
            <a:ext cx="10155600" cy="350000"/>
          </a:xfrm>
          <a:prstGeom prst="rect">
            <a:avLst/>
          </a:prstGeom>
          <a:noFill/>
          <a:ln/>
        </p:spPr>
        <p:txBody>
          <a:bodyPr wrap="square" lIns="0" tIns="0" rIns="0" bIns="0" rtlCol="0" anchor="ctr"/>
          <a:lstStyle/>
          <a:p>
            <a:pPr marL="0" indent="0" algn="l">
              <a:buNone/>
            </a:pPr>
            <a:r>
              <a:rPr lang="en-US" sz="1100" b="1" dirty="0">
                <a:solidFill>
                  <a:srgbClr val="12283F"/>
                </a:solidFill>
                <a:latin typeface="Cambria" pitchFamily="34" charset="0"/>
                <a:ea typeface="Cambria" pitchFamily="34" charset="-122"/>
                <a:cs typeface="Cambria" pitchFamily="34" charset="-120"/>
              </a:rPr>
              <a:t>Q5. Which BMI category carries the highest BP-risk rate?</a:t>
            </a:r>
          </a:p>
        </p:txBody>
      </p:sp>
      <p:sp>
        <p:nvSpPr>
          <p:cNvPr id="11" name="Text"/>
          <p:cNvSpPr/>
          <p:nvPr/>
        </p:nvSpPr>
        <p:spPr>
          <a:xfrm>
            <a:off x="728640" y="3930000"/>
            <a:ext cx="10155600" cy="790000"/>
          </a:xfrm>
          <a:prstGeom prst="rect">
            <a:avLst/>
          </a:prstGeom>
          <a:noFill/>
          <a:ln/>
        </p:spPr>
        <p:txBody>
          <a:bodyPr wrap="square" lIns="0" tIns="0" rIns="0" bIns="0" rtlCol="0" anchor="t"/>
          <a:lstStyle/>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Finding: </a:t>
            </a:r>
            <a:r>
              <a:rPr lang="en-US" sz="950" dirty="0">
                <a:solidFill>
                  <a:srgbClr val="5B7284"/>
                </a:solidFill>
                <a:latin typeface="Calibri" pitchFamily="34" charset="0"/>
                <a:ea typeface="Calibri" pitchFamily="34" charset="-122"/>
                <a:cs typeface="Calibri" pitchFamily="34" charset="-120"/>
              </a:rPr>
              <a:t>Elevated BP risk rises steadily: Underweight 33.9% → Normal 50.4% → Overweight 60.7% → Obese 72.5%.</a:t>
            </a:r>
          </a:p>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Interpretation: </a:t>
            </a:r>
            <a:r>
              <a:rPr lang="en-US" sz="950" dirty="0">
                <a:solidFill>
                  <a:srgbClr val="5B7284"/>
                </a:solidFill>
                <a:latin typeface="Calibri" pitchFamily="34" charset="0"/>
                <a:ea typeface="Calibri" pitchFamily="34" charset="-122"/>
                <a:cs typeface="Calibri" pitchFamily="34" charset="-120"/>
              </a:rPr>
              <a:t>BMI category is a far sharper, more actionable gradient than smoking status for BP risk.</a:t>
            </a:r>
          </a:p>
          <a:p>
            <a:pPr marL="0" indent="0" algn="l">
              <a:buNone/>
            </a:pPr>
            <a:r>
              <a:rPr lang="en-US" sz="950" b="1" dirty="0">
                <a:solidFill>
                  <a:srgbClr val="1C7293"/>
                </a:solidFill>
                <a:latin typeface="Calibri" pitchFamily="34" charset="0"/>
                <a:ea typeface="Calibri" pitchFamily="34" charset="-122"/>
                <a:cs typeface="Calibri" pitchFamily="34" charset="-120"/>
              </a:rPr>
              <a:t>Recommendation: </a:t>
            </a:r>
            <a:r>
              <a:rPr lang="en-US" sz="950" dirty="0">
                <a:solidFill>
                  <a:srgbClr val="5B7284"/>
                </a:solidFill>
                <a:latin typeface="Calibri" pitchFamily="34" charset="0"/>
                <a:ea typeface="Calibri" pitchFamily="34" charset="-122"/>
                <a:cs typeface="Calibri" pitchFamily="34" charset="-120"/>
              </a:rPr>
              <a:t>Prioritize BMI-based screening tiers, with fastest follow-up for the Obese category.</a:t>
            </a:r>
          </a:p>
        </p:txBody>
      </p:sp>
      <p:sp>
        <p:nvSpPr>
          <p:cNvPr id="12" name="Shape"/>
          <p:cNvSpPr/>
          <p:nvPr/>
        </p:nvSpPr>
        <p:spPr>
          <a:xfrm>
            <a:off x="548640" y="4920000"/>
            <a:ext cx="10515600" cy="13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13" name="Text"/>
          <p:cNvSpPr/>
          <p:nvPr/>
        </p:nvSpPr>
        <p:spPr>
          <a:xfrm>
            <a:off x="728640" y="5030000"/>
            <a:ext cx="10155600" cy="350000"/>
          </a:xfrm>
          <a:prstGeom prst="rect">
            <a:avLst/>
          </a:prstGeom>
          <a:noFill/>
          <a:ln/>
        </p:spPr>
        <p:txBody>
          <a:bodyPr wrap="square" lIns="0" tIns="0" rIns="0" bIns="0" rtlCol="0" anchor="ctr"/>
          <a:lstStyle/>
          <a:p>
            <a:pPr marL="0" indent="0" algn="l">
              <a:buNone/>
            </a:pPr>
            <a:r>
              <a:rPr lang="en-US" sz="1100" b="1" dirty="0">
                <a:solidFill>
                  <a:srgbClr val="12283F"/>
                </a:solidFill>
                <a:latin typeface="Cambria" pitchFamily="34" charset="0"/>
                <a:ea typeface="Cambria" pitchFamily="34" charset="-122"/>
                <a:cs typeface="Cambria" pitchFamily="34" charset="-120"/>
              </a:rPr>
              <a:t>Q6. Which age group carries the highest avg. total cholesterol?</a:t>
            </a:r>
          </a:p>
        </p:txBody>
      </p:sp>
      <p:sp>
        <p:nvSpPr>
          <p:cNvPr id="14" name="Text"/>
          <p:cNvSpPr/>
          <p:nvPr/>
        </p:nvSpPr>
        <p:spPr>
          <a:xfrm>
            <a:off x="728640" y="5400000"/>
            <a:ext cx="10155600" cy="790000"/>
          </a:xfrm>
          <a:prstGeom prst="rect">
            <a:avLst/>
          </a:prstGeom>
          <a:noFill/>
          <a:ln/>
        </p:spPr>
        <p:txBody>
          <a:bodyPr wrap="square" lIns="0" tIns="0" rIns="0" bIns="0" rtlCol="0" anchor="t"/>
          <a:lstStyle/>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Finding: </a:t>
            </a:r>
            <a:r>
              <a:rPr lang="en-US" sz="950" dirty="0">
                <a:solidFill>
                  <a:srgbClr val="5B7284"/>
                </a:solidFill>
                <a:latin typeface="Calibri" pitchFamily="34" charset="0"/>
                <a:ea typeface="Calibri" pitchFamily="34" charset="-122"/>
                <a:cs typeface="Calibri" pitchFamily="34" charset="-120"/>
              </a:rPr>
              <a:t>Cholesterol rises steadily by age: 187.66 (18-29) up to 198.66 (70+).</a:t>
            </a:r>
          </a:p>
          <a:p>
            <a:pPr marL="0" indent="0" algn="l">
              <a:spcAft>
                <a:spcPts val="180"/>
              </a:spcAft>
              <a:buNone/>
            </a:pPr>
            <a:r>
              <a:rPr lang="en-US" sz="950" b="1" dirty="0">
                <a:solidFill>
                  <a:srgbClr val="1C7293"/>
                </a:solidFill>
                <a:latin typeface="Calibri" pitchFamily="34" charset="0"/>
                <a:ea typeface="Calibri" pitchFamily="34" charset="-122"/>
                <a:cs typeface="Calibri" pitchFamily="34" charset="-120"/>
              </a:rPr>
              <a:t>Interpretation: </a:t>
            </a:r>
            <a:r>
              <a:rPr lang="en-US" sz="950" dirty="0">
                <a:solidFill>
                  <a:srgbClr val="5B7284"/>
                </a:solidFill>
                <a:latin typeface="Calibri" pitchFamily="34" charset="0"/>
                <a:ea typeface="Calibri" pitchFamily="34" charset="-122"/>
                <a:cs typeface="Calibri" pitchFamily="34" charset="-120"/>
              </a:rPr>
              <a:t>Older age bands carry the highest average lipid burden.</a:t>
            </a:r>
          </a:p>
          <a:p>
            <a:pPr marL="0" indent="0" algn="l">
              <a:buNone/>
            </a:pPr>
            <a:r>
              <a:rPr lang="en-US" sz="950" b="1" dirty="0">
                <a:solidFill>
                  <a:srgbClr val="1C7293"/>
                </a:solidFill>
                <a:latin typeface="Calibri" pitchFamily="34" charset="0"/>
                <a:ea typeface="Calibri" pitchFamily="34" charset="-122"/>
                <a:cs typeface="Calibri" pitchFamily="34" charset="-120"/>
              </a:rPr>
              <a:t>Recommendation: </a:t>
            </a:r>
            <a:r>
              <a:rPr lang="en-US" sz="950" dirty="0">
                <a:solidFill>
                  <a:srgbClr val="5B7284"/>
                </a:solidFill>
                <a:latin typeface="Calibri" pitchFamily="34" charset="0"/>
                <a:ea typeface="Calibri" pitchFamily="34" charset="-122"/>
                <a:cs typeface="Calibri" pitchFamily="34" charset="-120"/>
              </a:rPr>
              <a:t>Allocate proportionally more lipid-screening resources to older age groups.</a:t>
            </a:r>
          </a:p>
        </p:txBody>
      </p:sp>
      <p:sp>
        <p:nvSpPr>
          <p:cNvPr id="15"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Business Questions</a:t>
            </a:r>
          </a:p>
        </p:txBody>
      </p:sp>
      <p:sp>
        <p:nvSpPr>
          <p:cNvPr id="16"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11 / 45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5486400"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5486400"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PYTHON — MACHINE LEARNING</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Predicting Elevated BP Risk</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Target: BP_Risk_Category (Elevated/High=1, Normal=0) — real train/test results, Sections 13-15.</a:t>
            </a:r>
          </a:p>
        </p:txBody>
      </p:sp>
      <p:sp>
        <p:nvSpPr>
          <p:cNvPr id="6" name="Shape"/>
          <p:cNvSpPr/>
          <p:nvPr/>
        </p:nvSpPr>
        <p:spPr>
          <a:xfrm>
            <a:off x="548640" y="1980000"/>
            <a:ext cx="3550000" cy="4150000"/>
          </a:xfrm>
          <a:prstGeom prst="roundRect">
            <a:avLst>
              <a:gd name="adj" fmla="val 4500"/>
            </a:avLst>
          </a:prstGeom>
          <a:solidFill>
            <a:srgbClr val="EAF3F8"/>
          </a:solidFill>
          <a:ln w="12700">
            <a:solidFill>
              <a:srgbClr val="D7E4EC"/>
            </a:solidFill>
            <a:prstDash val="solid"/>
          </a:ln>
        </p:spPr>
        <p:txBody>
          <a:bodyPr/>
          <a:lstStyle/>
          <a:p>
            <a:endParaRPr lang="en-US"/>
          </a:p>
        </p:txBody>
      </p:sp>
      <p:sp>
        <p:nvSpPr>
          <p:cNvPr id="7" name="Shape"/>
          <p:cNvSpPr/>
          <p:nvPr/>
        </p:nvSpPr>
        <p:spPr>
          <a:xfrm>
            <a:off x="698640" y="2130000"/>
            <a:ext cx="1828000" cy="300000"/>
          </a:xfrm>
          <a:prstGeom prst="roundRect">
            <a:avLst>
              <a:gd name="adj" fmla="val 50000"/>
            </a:avLst>
          </a:prstGeom>
          <a:solidFill>
            <a:srgbClr val="22A699"/>
          </a:solidFill>
          <a:ln>
            <a:noFill/>
          </a:ln>
        </p:spPr>
        <p:txBody>
          <a:bodyPr/>
          <a:lstStyle/>
          <a:p>
            <a:endParaRPr lang="en-US"/>
          </a:p>
        </p:txBody>
      </p:sp>
      <p:sp>
        <p:nvSpPr>
          <p:cNvPr id="8" name="Text"/>
          <p:cNvSpPr/>
          <p:nvPr/>
        </p:nvSpPr>
        <p:spPr>
          <a:xfrm>
            <a:off x="698640" y="2130000"/>
            <a:ext cx="1828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MODEL SETUP</a:t>
            </a:r>
          </a:p>
        </p:txBody>
      </p:sp>
      <p:sp>
        <p:nvSpPr>
          <p:cNvPr id="9" name="Text"/>
          <p:cNvSpPr/>
          <p:nvPr/>
        </p:nvSpPr>
        <p:spPr>
          <a:xfrm>
            <a:off x="728640" y="2550000"/>
            <a:ext cx="3190000" cy="3500000"/>
          </a:xfrm>
          <a:prstGeom prst="rect">
            <a:avLst/>
          </a:prstGeom>
          <a:noFill/>
          <a:ln/>
        </p:spPr>
        <p:txBody>
          <a:bodyPr wrap="square" lIns="0" tIns="0" rIns="0" bIns="0" rtlCol="0" anchor="t"/>
          <a:lstStyle/>
          <a:p>
            <a:pPr marL="0" indent="0" algn="l">
              <a:spcAft>
                <a:spcPts val="350"/>
              </a:spcAft>
              <a:buNone/>
            </a:pPr>
            <a:r>
              <a:rPr lang="en-US" sz="950" b="1" dirty="0">
                <a:solidFill>
                  <a:srgbClr val="12283F"/>
                </a:solidFill>
                <a:latin typeface="Calibri" pitchFamily="34" charset="0"/>
                <a:ea typeface="Calibri" pitchFamily="34" charset="-122"/>
                <a:cs typeface="Calibri" pitchFamily="34" charset="-120"/>
              </a:rPr>
              <a:t>Features: </a:t>
            </a:r>
            <a:r>
              <a:rPr lang="en-US" sz="950" dirty="0">
                <a:solidFill>
                  <a:srgbClr val="5B7284"/>
                </a:solidFill>
                <a:latin typeface="Calibri" pitchFamily="34" charset="0"/>
                <a:ea typeface="Calibri" pitchFamily="34" charset="-122"/>
                <a:cs typeface="Calibri" pitchFamily="34" charset="-120"/>
              </a:rPr>
              <a:t>Age, BMI, Total/HDL/LDL Cholesterol, Triglycerides, Smoking_Status, Physical_Activity_Level</a:t>
            </a:r>
          </a:p>
          <a:p>
            <a:pPr marL="0" indent="0" algn="l">
              <a:spcAft>
                <a:spcPts val="350"/>
              </a:spcAft>
              <a:buNone/>
            </a:pPr>
            <a:r>
              <a:rPr lang="en-US" sz="950" b="1" dirty="0">
                <a:solidFill>
                  <a:srgbClr val="12283F"/>
                </a:solidFill>
                <a:latin typeface="Calibri" pitchFamily="34" charset="0"/>
                <a:ea typeface="Calibri" pitchFamily="34" charset="-122"/>
                <a:cs typeface="Calibri" pitchFamily="34" charset="-120"/>
              </a:rPr>
              <a:t>Train / Test: </a:t>
            </a:r>
            <a:r>
              <a:rPr lang="en-US" sz="950" dirty="0">
                <a:solidFill>
                  <a:srgbClr val="5B7284"/>
                </a:solidFill>
                <a:latin typeface="Calibri" pitchFamily="34" charset="0"/>
                <a:ea typeface="Calibri" pitchFamily="34" charset="-122"/>
                <a:cs typeface="Calibri" pitchFamily="34" charset="-120"/>
              </a:rPr>
              <a:t>3,324 / 831 rows, stratified split</a:t>
            </a:r>
          </a:p>
          <a:p>
            <a:pPr marL="0" indent="0" algn="l">
              <a:spcAft>
                <a:spcPts val="350"/>
              </a:spcAft>
              <a:buNone/>
            </a:pPr>
            <a:r>
              <a:rPr lang="en-US" sz="950" b="1" dirty="0">
                <a:solidFill>
                  <a:srgbClr val="12283F"/>
                </a:solidFill>
                <a:latin typeface="Calibri" pitchFamily="34" charset="0"/>
                <a:ea typeface="Calibri" pitchFamily="34" charset="-122"/>
                <a:cs typeface="Calibri" pitchFamily="34" charset="-120"/>
              </a:rPr>
              <a:t>Class balance: </a:t>
            </a:r>
            <a:r>
              <a:rPr lang="en-US" sz="950" dirty="0">
                <a:solidFill>
                  <a:srgbClr val="5B7284"/>
                </a:solidFill>
                <a:latin typeface="Calibri" pitchFamily="34" charset="0"/>
                <a:ea typeface="Calibri" pitchFamily="34" charset="-122"/>
                <a:cs typeface="Calibri" pitchFamily="34" charset="-120"/>
              </a:rPr>
              <a:t>59.8% Elevated / 40.2% Normal (same in both splits)</a:t>
            </a:r>
          </a:p>
          <a:p>
            <a:pPr marL="0" indent="0" algn="l">
              <a:buNone/>
            </a:pPr>
            <a:r>
              <a:rPr lang="en-US" sz="950" b="1" dirty="0">
                <a:solidFill>
                  <a:srgbClr val="12283F"/>
                </a:solidFill>
                <a:latin typeface="Calibri" pitchFamily="34" charset="0"/>
                <a:ea typeface="Calibri" pitchFamily="34" charset="-122"/>
                <a:cs typeface="Calibri" pitchFamily="34" charset="-120"/>
              </a:rPr>
              <a:t>Naive baseline: </a:t>
            </a:r>
            <a:r>
              <a:rPr lang="en-US" sz="950" dirty="0">
                <a:solidFill>
                  <a:srgbClr val="5B7284"/>
                </a:solidFill>
                <a:latin typeface="Calibri" pitchFamily="34" charset="0"/>
                <a:ea typeface="Calibri" pitchFamily="34" charset="-122"/>
                <a:cs typeface="Calibri" pitchFamily="34" charset="-120"/>
              </a:rPr>
              <a:t>59.8% accuracy (majority class)</a:t>
            </a:r>
          </a:p>
        </p:txBody>
      </p:sp>
      <p:sp>
        <p:nvSpPr>
          <p:cNvPr id="10" name="Shape"/>
          <p:cNvSpPr/>
          <p:nvPr/>
        </p:nvSpPr>
        <p:spPr>
          <a:xfrm>
            <a:off x="4358640" y="1980000"/>
            <a:ext cx="6705600" cy="430000"/>
          </a:xfrm>
          <a:prstGeom prst="roundRect">
            <a:avLst>
              <a:gd name="adj" fmla="val 3000"/>
            </a:avLst>
          </a:prstGeom>
          <a:solidFill>
            <a:srgbClr val="12283F"/>
          </a:solidFill>
          <a:ln>
            <a:noFill/>
          </a:ln>
        </p:spPr>
        <p:txBody>
          <a:bodyPr/>
          <a:lstStyle/>
          <a:p>
            <a:endParaRPr lang="en-US"/>
          </a:p>
        </p:txBody>
      </p:sp>
      <p:sp>
        <p:nvSpPr>
          <p:cNvPr id="11" name="Text"/>
          <p:cNvSpPr/>
          <p:nvPr/>
        </p:nvSpPr>
        <p:spPr>
          <a:xfrm>
            <a:off x="4478640" y="1980000"/>
            <a:ext cx="1880000" cy="430000"/>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METRIC</a:t>
            </a:r>
          </a:p>
        </p:txBody>
      </p:sp>
      <p:sp>
        <p:nvSpPr>
          <p:cNvPr id="12" name="Text"/>
          <p:cNvSpPr/>
          <p:nvPr/>
        </p:nvSpPr>
        <p:spPr>
          <a:xfrm>
            <a:off x="6358640" y="1980000"/>
            <a:ext cx="2352800" cy="4300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Log. Reg.</a:t>
            </a:r>
          </a:p>
        </p:txBody>
      </p:sp>
      <p:sp>
        <p:nvSpPr>
          <p:cNvPr id="13" name="Text"/>
          <p:cNvSpPr/>
          <p:nvPr/>
        </p:nvSpPr>
        <p:spPr>
          <a:xfrm>
            <a:off x="8711440" y="1980000"/>
            <a:ext cx="2352800" cy="4300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Rand. Forest</a:t>
            </a:r>
          </a:p>
        </p:txBody>
      </p:sp>
      <p:sp>
        <p:nvSpPr>
          <p:cNvPr id="14" name="Shape"/>
          <p:cNvSpPr/>
          <p:nvPr/>
        </p:nvSpPr>
        <p:spPr>
          <a:xfrm>
            <a:off x="4358640" y="2410000"/>
            <a:ext cx="6705600" cy="430000"/>
          </a:xfrm>
          <a:prstGeom prst="rect">
            <a:avLst/>
          </a:prstGeom>
          <a:solidFill>
            <a:srgbClr val="FFFFFF"/>
          </a:solidFill>
          <a:ln w="6350">
            <a:solidFill>
              <a:srgbClr val="D7E4EC"/>
            </a:solidFill>
            <a:prstDash val="solid"/>
          </a:ln>
        </p:spPr>
        <p:txBody>
          <a:bodyPr/>
          <a:lstStyle/>
          <a:p>
            <a:endParaRPr lang="en-US"/>
          </a:p>
        </p:txBody>
      </p:sp>
      <p:sp>
        <p:nvSpPr>
          <p:cNvPr id="15" name="Text"/>
          <p:cNvSpPr/>
          <p:nvPr/>
        </p:nvSpPr>
        <p:spPr>
          <a:xfrm>
            <a:off x="4478640" y="2410000"/>
            <a:ext cx="1880000" cy="430000"/>
          </a:xfrm>
          <a:prstGeom prst="rect">
            <a:avLst/>
          </a:prstGeom>
          <a:noFill/>
          <a:ln/>
        </p:spPr>
        <p:txBody>
          <a:bodyPr wrap="square" lIns="0" tIns="0" rIns="0" bIns="0" rtlCol="0" anchor="ctr"/>
          <a:lstStyle/>
          <a:p>
            <a:pPr marL="0" indent="0" algn="l">
              <a:buNone/>
            </a:pPr>
            <a:r>
              <a:rPr lang="en-US" sz="1000" dirty="0">
                <a:solidFill>
                  <a:srgbClr val="12283F"/>
                </a:solidFill>
                <a:latin typeface="Calibri" pitchFamily="34" charset="0"/>
                <a:ea typeface="Calibri" pitchFamily="34" charset="-122"/>
                <a:cs typeface="Calibri" pitchFamily="34" charset="-120"/>
              </a:rPr>
              <a:t>Accuracy</a:t>
            </a:r>
          </a:p>
        </p:txBody>
      </p:sp>
      <p:sp>
        <p:nvSpPr>
          <p:cNvPr id="16" name="Text"/>
          <p:cNvSpPr/>
          <p:nvPr/>
        </p:nvSpPr>
        <p:spPr>
          <a:xfrm>
            <a:off x="6358640" y="2410000"/>
            <a:ext cx="2352800" cy="430000"/>
          </a:xfrm>
          <a:prstGeom prst="rect">
            <a:avLst/>
          </a:prstGeom>
          <a:noFill/>
          <a:ln/>
        </p:spPr>
        <p:txBody>
          <a:bodyPr wrap="square" lIns="0" tIns="0" rIns="0" bIns="0" rtlCol="0" anchor="ctr"/>
          <a:lstStyle/>
          <a:p>
            <a:pPr marL="0" indent="0" algn="ctr">
              <a:buNone/>
            </a:pPr>
            <a:r>
              <a:rPr lang="en-US" sz="1050" b="1" dirty="0">
                <a:solidFill>
                  <a:srgbClr val="1C7293"/>
                </a:solidFill>
                <a:latin typeface="Calibri" pitchFamily="34" charset="0"/>
                <a:ea typeface="Calibri" pitchFamily="34" charset="-122"/>
                <a:cs typeface="Calibri" pitchFamily="34" charset="-120"/>
              </a:rPr>
              <a:t>0.635</a:t>
            </a:r>
          </a:p>
        </p:txBody>
      </p:sp>
      <p:sp>
        <p:nvSpPr>
          <p:cNvPr id="17" name="Text"/>
          <p:cNvSpPr/>
          <p:nvPr/>
        </p:nvSpPr>
        <p:spPr>
          <a:xfrm>
            <a:off x="8711440" y="2410000"/>
            <a:ext cx="2352800" cy="430000"/>
          </a:xfrm>
          <a:prstGeom prst="rect">
            <a:avLst/>
          </a:prstGeom>
          <a:noFill/>
          <a:ln/>
        </p:spPr>
        <p:txBody>
          <a:bodyPr wrap="square" lIns="0" tIns="0" rIns="0" bIns="0" rtlCol="0" anchor="ctr"/>
          <a:lstStyle/>
          <a:p>
            <a:pPr marL="0" indent="0" algn="ctr">
              <a:buNone/>
            </a:pPr>
            <a:r>
              <a:rPr lang="en-US" sz="1050" dirty="0">
                <a:solidFill>
                  <a:srgbClr val="5B7284"/>
                </a:solidFill>
                <a:latin typeface="Calibri" pitchFamily="34" charset="0"/>
                <a:ea typeface="Calibri" pitchFamily="34" charset="-122"/>
                <a:cs typeface="Calibri" pitchFamily="34" charset="-120"/>
              </a:rPr>
              <a:t>0.628</a:t>
            </a:r>
          </a:p>
        </p:txBody>
      </p:sp>
      <p:sp>
        <p:nvSpPr>
          <p:cNvPr id="18" name="Shape"/>
          <p:cNvSpPr/>
          <p:nvPr/>
        </p:nvSpPr>
        <p:spPr>
          <a:xfrm>
            <a:off x="4358640" y="2840000"/>
            <a:ext cx="6705600" cy="430000"/>
          </a:xfrm>
          <a:prstGeom prst="rect">
            <a:avLst/>
          </a:prstGeom>
          <a:solidFill>
            <a:srgbClr val="EAF3F8"/>
          </a:solidFill>
          <a:ln w="6350">
            <a:solidFill>
              <a:srgbClr val="D7E4EC"/>
            </a:solidFill>
            <a:prstDash val="solid"/>
          </a:ln>
        </p:spPr>
        <p:txBody>
          <a:bodyPr/>
          <a:lstStyle/>
          <a:p>
            <a:endParaRPr lang="en-US"/>
          </a:p>
        </p:txBody>
      </p:sp>
      <p:sp>
        <p:nvSpPr>
          <p:cNvPr id="19" name="Text"/>
          <p:cNvSpPr/>
          <p:nvPr/>
        </p:nvSpPr>
        <p:spPr>
          <a:xfrm>
            <a:off x="4478640" y="2840000"/>
            <a:ext cx="1880000" cy="430000"/>
          </a:xfrm>
          <a:prstGeom prst="rect">
            <a:avLst/>
          </a:prstGeom>
          <a:noFill/>
          <a:ln/>
        </p:spPr>
        <p:txBody>
          <a:bodyPr wrap="square" lIns="0" tIns="0" rIns="0" bIns="0" rtlCol="0" anchor="ctr"/>
          <a:lstStyle/>
          <a:p>
            <a:pPr marL="0" indent="0" algn="l">
              <a:buNone/>
            </a:pPr>
            <a:r>
              <a:rPr lang="en-US" sz="1000" dirty="0">
                <a:solidFill>
                  <a:srgbClr val="12283F"/>
                </a:solidFill>
                <a:latin typeface="Calibri" pitchFamily="34" charset="0"/>
                <a:ea typeface="Calibri" pitchFamily="34" charset="-122"/>
                <a:cs typeface="Calibri" pitchFamily="34" charset="-120"/>
              </a:rPr>
              <a:t>Precision</a:t>
            </a:r>
          </a:p>
        </p:txBody>
      </p:sp>
      <p:sp>
        <p:nvSpPr>
          <p:cNvPr id="20" name="Text"/>
          <p:cNvSpPr/>
          <p:nvPr/>
        </p:nvSpPr>
        <p:spPr>
          <a:xfrm>
            <a:off x="6358640" y="2840000"/>
            <a:ext cx="2352800" cy="430000"/>
          </a:xfrm>
          <a:prstGeom prst="rect">
            <a:avLst/>
          </a:prstGeom>
          <a:noFill/>
          <a:ln/>
        </p:spPr>
        <p:txBody>
          <a:bodyPr wrap="square" lIns="0" tIns="0" rIns="0" bIns="0" rtlCol="0" anchor="ctr"/>
          <a:lstStyle/>
          <a:p>
            <a:pPr marL="0" indent="0" algn="ctr">
              <a:buNone/>
            </a:pPr>
            <a:r>
              <a:rPr lang="en-US" sz="1050" b="1" dirty="0">
                <a:solidFill>
                  <a:srgbClr val="1C7293"/>
                </a:solidFill>
                <a:latin typeface="Calibri" pitchFamily="34" charset="0"/>
                <a:ea typeface="Calibri" pitchFamily="34" charset="-122"/>
                <a:cs typeface="Calibri" pitchFamily="34" charset="-120"/>
              </a:rPr>
              <a:t>0.646</a:t>
            </a:r>
          </a:p>
        </p:txBody>
      </p:sp>
      <p:sp>
        <p:nvSpPr>
          <p:cNvPr id="21" name="Text"/>
          <p:cNvSpPr/>
          <p:nvPr/>
        </p:nvSpPr>
        <p:spPr>
          <a:xfrm>
            <a:off x="8711440" y="2840000"/>
            <a:ext cx="2352800" cy="430000"/>
          </a:xfrm>
          <a:prstGeom prst="rect">
            <a:avLst/>
          </a:prstGeom>
          <a:noFill/>
          <a:ln/>
        </p:spPr>
        <p:txBody>
          <a:bodyPr wrap="square" lIns="0" tIns="0" rIns="0" bIns="0" rtlCol="0" anchor="ctr"/>
          <a:lstStyle/>
          <a:p>
            <a:pPr marL="0" indent="0" algn="ctr">
              <a:buNone/>
            </a:pPr>
            <a:r>
              <a:rPr lang="en-US" sz="1050" dirty="0">
                <a:solidFill>
                  <a:srgbClr val="5B7284"/>
                </a:solidFill>
                <a:latin typeface="Calibri" pitchFamily="34" charset="0"/>
                <a:ea typeface="Calibri" pitchFamily="34" charset="-122"/>
                <a:cs typeface="Calibri" pitchFamily="34" charset="-120"/>
              </a:rPr>
              <a:t>0.635</a:t>
            </a:r>
          </a:p>
        </p:txBody>
      </p:sp>
      <p:sp>
        <p:nvSpPr>
          <p:cNvPr id="22" name="Shape"/>
          <p:cNvSpPr/>
          <p:nvPr/>
        </p:nvSpPr>
        <p:spPr>
          <a:xfrm>
            <a:off x="4358640" y="3270000"/>
            <a:ext cx="6705600" cy="430000"/>
          </a:xfrm>
          <a:prstGeom prst="rect">
            <a:avLst/>
          </a:prstGeom>
          <a:solidFill>
            <a:srgbClr val="FFFFFF"/>
          </a:solidFill>
          <a:ln w="6350">
            <a:solidFill>
              <a:srgbClr val="D7E4EC"/>
            </a:solidFill>
            <a:prstDash val="solid"/>
          </a:ln>
        </p:spPr>
        <p:txBody>
          <a:bodyPr/>
          <a:lstStyle/>
          <a:p>
            <a:endParaRPr lang="en-US"/>
          </a:p>
        </p:txBody>
      </p:sp>
      <p:sp>
        <p:nvSpPr>
          <p:cNvPr id="23" name="Text"/>
          <p:cNvSpPr/>
          <p:nvPr/>
        </p:nvSpPr>
        <p:spPr>
          <a:xfrm>
            <a:off x="4478640" y="3270000"/>
            <a:ext cx="1880000" cy="430000"/>
          </a:xfrm>
          <a:prstGeom prst="rect">
            <a:avLst/>
          </a:prstGeom>
          <a:noFill/>
          <a:ln/>
        </p:spPr>
        <p:txBody>
          <a:bodyPr wrap="square" lIns="0" tIns="0" rIns="0" bIns="0" rtlCol="0" anchor="ctr"/>
          <a:lstStyle/>
          <a:p>
            <a:pPr marL="0" indent="0" algn="l">
              <a:buNone/>
            </a:pPr>
            <a:r>
              <a:rPr lang="en-US" sz="1000" dirty="0">
                <a:solidFill>
                  <a:srgbClr val="12283F"/>
                </a:solidFill>
                <a:latin typeface="Calibri" pitchFamily="34" charset="0"/>
                <a:ea typeface="Calibri" pitchFamily="34" charset="-122"/>
                <a:cs typeface="Calibri" pitchFamily="34" charset="-120"/>
              </a:rPr>
              <a:t>Recall</a:t>
            </a:r>
          </a:p>
        </p:txBody>
      </p:sp>
      <p:sp>
        <p:nvSpPr>
          <p:cNvPr id="24" name="Text"/>
          <p:cNvSpPr/>
          <p:nvPr/>
        </p:nvSpPr>
        <p:spPr>
          <a:xfrm>
            <a:off x="6358640" y="3270000"/>
            <a:ext cx="2352800" cy="430000"/>
          </a:xfrm>
          <a:prstGeom prst="rect">
            <a:avLst/>
          </a:prstGeom>
          <a:noFill/>
          <a:ln/>
        </p:spPr>
        <p:txBody>
          <a:bodyPr wrap="square" lIns="0" tIns="0" rIns="0" bIns="0" rtlCol="0" anchor="ctr"/>
          <a:lstStyle/>
          <a:p>
            <a:pPr marL="0" indent="0" algn="ctr">
              <a:buNone/>
            </a:pPr>
            <a:r>
              <a:rPr lang="en-US" sz="1050" dirty="0">
                <a:solidFill>
                  <a:srgbClr val="5B7284"/>
                </a:solidFill>
                <a:latin typeface="Calibri" pitchFamily="34" charset="0"/>
                <a:ea typeface="Calibri" pitchFamily="34" charset="-122"/>
                <a:cs typeface="Calibri" pitchFamily="34" charset="-120"/>
              </a:rPr>
              <a:t>0.865</a:t>
            </a:r>
          </a:p>
        </p:txBody>
      </p:sp>
      <p:sp>
        <p:nvSpPr>
          <p:cNvPr id="25" name="Text"/>
          <p:cNvSpPr/>
          <p:nvPr/>
        </p:nvSpPr>
        <p:spPr>
          <a:xfrm>
            <a:off x="8711440" y="3270000"/>
            <a:ext cx="2352800" cy="430000"/>
          </a:xfrm>
          <a:prstGeom prst="rect">
            <a:avLst/>
          </a:prstGeom>
          <a:noFill/>
          <a:ln/>
        </p:spPr>
        <p:txBody>
          <a:bodyPr wrap="square" lIns="0" tIns="0" rIns="0" bIns="0" rtlCol="0" anchor="ctr"/>
          <a:lstStyle/>
          <a:p>
            <a:pPr marL="0" indent="0" algn="ctr">
              <a:buNone/>
            </a:pPr>
            <a:r>
              <a:rPr lang="en-US" sz="1050" b="1" dirty="0">
                <a:solidFill>
                  <a:srgbClr val="1C7293"/>
                </a:solidFill>
                <a:latin typeface="Calibri" pitchFamily="34" charset="0"/>
                <a:ea typeface="Calibri" pitchFamily="34" charset="-122"/>
                <a:cs typeface="Calibri" pitchFamily="34" charset="-120"/>
              </a:rPr>
              <a:t>0.889</a:t>
            </a:r>
          </a:p>
        </p:txBody>
      </p:sp>
      <p:sp>
        <p:nvSpPr>
          <p:cNvPr id="26" name="Shape"/>
          <p:cNvSpPr/>
          <p:nvPr/>
        </p:nvSpPr>
        <p:spPr>
          <a:xfrm>
            <a:off x="4358640" y="3700000"/>
            <a:ext cx="6705600" cy="430000"/>
          </a:xfrm>
          <a:prstGeom prst="rect">
            <a:avLst/>
          </a:prstGeom>
          <a:solidFill>
            <a:srgbClr val="EAF3F8"/>
          </a:solidFill>
          <a:ln w="6350">
            <a:solidFill>
              <a:srgbClr val="D7E4EC"/>
            </a:solidFill>
            <a:prstDash val="solid"/>
          </a:ln>
        </p:spPr>
        <p:txBody>
          <a:bodyPr/>
          <a:lstStyle/>
          <a:p>
            <a:endParaRPr lang="en-US"/>
          </a:p>
        </p:txBody>
      </p:sp>
      <p:sp>
        <p:nvSpPr>
          <p:cNvPr id="27" name="Text"/>
          <p:cNvSpPr/>
          <p:nvPr/>
        </p:nvSpPr>
        <p:spPr>
          <a:xfrm>
            <a:off x="4478640" y="3700000"/>
            <a:ext cx="1880000" cy="430000"/>
          </a:xfrm>
          <a:prstGeom prst="rect">
            <a:avLst/>
          </a:prstGeom>
          <a:noFill/>
          <a:ln/>
        </p:spPr>
        <p:txBody>
          <a:bodyPr wrap="square" lIns="0" tIns="0" rIns="0" bIns="0" rtlCol="0" anchor="ctr"/>
          <a:lstStyle/>
          <a:p>
            <a:pPr marL="0" indent="0" algn="l">
              <a:buNone/>
            </a:pPr>
            <a:r>
              <a:rPr lang="en-US" sz="1000" dirty="0">
                <a:solidFill>
                  <a:srgbClr val="12283F"/>
                </a:solidFill>
                <a:latin typeface="Calibri" pitchFamily="34" charset="0"/>
                <a:ea typeface="Calibri" pitchFamily="34" charset="-122"/>
                <a:cs typeface="Calibri" pitchFamily="34" charset="-120"/>
              </a:rPr>
              <a:t>F1-Score</a:t>
            </a:r>
          </a:p>
        </p:txBody>
      </p:sp>
      <p:sp>
        <p:nvSpPr>
          <p:cNvPr id="28" name="Text"/>
          <p:cNvSpPr/>
          <p:nvPr/>
        </p:nvSpPr>
        <p:spPr>
          <a:xfrm>
            <a:off x="6358640" y="3700000"/>
            <a:ext cx="2352800" cy="430000"/>
          </a:xfrm>
          <a:prstGeom prst="rect">
            <a:avLst/>
          </a:prstGeom>
          <a:noFill/>
          <a:ln/>
        </p:spPr>
        <p:txBody>
          <a:bodyPr wrap="square" lIns="0" tIns="0" rIns="0" bIns="0" rtlCol="0" anchor="ctr"/>
          <a:lstStyle/>
          <a:p>
            <a:pPr marL="0" indent="0" algn="ctr">
              <a:buNone/>
            </a:pPr>
            <a:r>
              <a:rPr lang="en-US" sz="1050" dirty="0">
                <a:solidFill>
                  <a:srgbClr val="5B7284"/>
                </a:solidFill>
                <a:latin typeface="Calibri" pitchFamily="34" charset="0"/>
                <a:ea typeface="Calibri" pitchFamily="34" charset="-122"/>
                <a:cs typeface="Calibri" pitchFamily="34" charset="-120"/>
              </a:rPr>
              <a:t>0.739</a:t>
            </a:r>
          </a:p>
        </p:txBody>
      </p:sp>
      <p:sp>
        <p:nvSpPr>
          <p:cNvPr id="29" name="Text"/>
          <p:cNvSpPr/>
          <p:nvPr/>
        </p:nvSpPr>
        <p:spPr>
          <a:xfrm>
            <a:off x="8711440" y="3700000"/>
            <a:ext cx="2352800" cy="430000"/>
          </a:xfrm>
          <a:prstGeom prst="rect">
            <a:avLst/>
          </a:prstGeom>
          <a:noFill/>
          <a:ln/>
        </p:spPr>
        <p:txBody>
          <a:bodyPr wrap="square" lIns="0" tIns="0" rIns="0" bIns="0" rtlCol="0" anchor="ctr"/>
          <a:lstStyle/>
          <a:p>
            <a:pPr marL="0" indent="0" algn="ctr">
              <a:buNone/>
            </a:pPr>
            <a:r>
              <a:rPr lang="en-US" sz="1050" b="1" dirty="0">
                <a:solidFill>
                  <a:srgbClr val="1C7293"/>
                </a:solidFill>
                <a:latin typeface="Calibri" pitchFamily="34" charset="0"/>
                <a:ea typeface="Calibri" pitchFamily="34" charset="-122"/>
                <a:cs typeface="Calibri" pitchFamily="34" charset="-120"/>
              </a:rPr>
              <a:t>0.741</a:t>
            </a:r>
          </a:p>
        </p:txBody>
      </p:sp>
      <p:sp>
        <p:nvSpPr>
          <p:cNvPr id="30" name="Shape"/>
          <p:cNvSpPr/>
          <p:nvPr/>
        </p:nvSpPr>
        <p:spPr>
          <a:xfrm>
            <a:off x="4358640" y="4130000"/>
            <a:ext cx="6705600" cy="430000"/>
          </a:xfrm>
          <a:prstGeom prst="rect">
            <a:avLst/>
          </a:prstGeom>
          <a:solidFill>
            <a:srgbClr val="FFFFFF"/>
          </a:solidFill>
          <a:ln w="6350">
            <a:solidFill>
              <a:srgbClr val="D7E4EC"/>
            </a:solidFill>
            <a:prstDash val="solid"/>
          </a:ln>
        </p:spPr>
        <p:txBody>
          <a:bodyPr/>
          <a:lstStyle/>
          <a:p>
            <a:endParaRPr lang="en-US"/>
          </a:p>
        </p:txBody>
      </p:sp>
      <p:sp>
        <p:nvSpPr>
          <p:cNvPr id="31" name="Text"/>
          <p:cNvSpPr/>
          <p:nvPr/>
        </p:nvSpPr>
        <p:spPr>
          <a:xfrm>
            <a:off x="4478640" y="4130000"/>
            <a:ext cx="1880000" cy="430000"/>
          </a:xfrm>
          <a:prstGeom prst="rect">
            <a:avLst/>
          </a:prstGeom>
          <a:noFill/>
          <a:ln/>
        </p:spPr>
        <p:txBody>
          <a:bodyPr wrap="square" lIns="0" tIns="0" rIns="0" bIns="0" rtlCol="0" anchor="ctr"/>
          <a:lstStyle/>
          <a:p>
            <a:pPr marL="0" indent="0" algn="l">
              <a:buNone/>
            </a:pPr>
            <a:r>
              <a:rPr lang="en-US" sz="1000" dirty="0">
                <a:solidFill>
                  <a:srgbClr val="12283F"/>
                </a:solidFill>
                <a:latin typeface="Calibri" pitchFamily="34" charset="0"/>
                <a:ea typeface="Calibri" pitchFamily="34" charset="-122"/>
                <a:cs typeface="Calibri" pitchFamily="34" charset="-120"/>
              </a:rPr>
              <a:t>ROC-AUC</a:t>
            </a:r>
          </a:p>
        </p:txBody>
      </p:sp>
      <p:sp>
        <p:nvSpPr>
          <p:cNvPr id="32" name="Text"/>
          <p:cNvSpPr/>
          <p:nvPr/>
        </p:nvSpPr>
        <p:spPr>
          <a:xfrm>
            <a:off x="6358640" y="4130000"/>
            <a:ext cx="2352800" cy="430000"/>
          </a:xfrm>
          <a:prstGeom prst="rect">
            <a:avLst/>
          </a:prstGeom>
          <a:noFill/>
          <a:ln/>
        </p:spPr>
        <p:txBody>
          <a:bodyPr wrap="square" lIns="0" tIns="0" rIns="0" bIns="0" rtlCol="0" anchor="ctr"/>
          <a:lstStyle/>
          <a:p>
            <a:pPr marL="0" indent="0" algn="ctr">
              <a:buNone/>
            </a:pPr>
            <a:r>
              <a:rPr lang="en-US" sz="1050" dirty="0">
                <a:solidFill>
                  <a:srgbClr val="5B7284"/>
                </a:solidFill>
                <a:latin typeface="Calibri" pitchFamily="34" charset="0"/>
                <a:ea typeface="Calibri" pitchFamily="34" charset="-122"/>
                <a:cs typeface="Calibri" pitchFamily="34" charset="-120"/>
              </a:rPr>
              <a:t>0.639</a:t>
            </a:r>
          </a:p>
        </p:txBody>
      </p:sp>
      <p:sp>
        <p:nvSpPr>
          <p:cNvPr id="33" name="Text"/>
          <p:cNvSpPr/>
          <p:nvPr/>
        </p:nvSpPr>
        <p:spPr>
          <a:xfrm>
            <a:off x="8711440" y="4130000"/>
            <a:ext cx="2352800" cy="430000"/>
          </a:xfrm>
          <a:prstGeom prst="rect">
            <a:avLst/>
          </a:prstGeom>
          <a:noFill/>
          <a:ln/>
        </p:spPr>
        <p:txBody>
          <a:bodyPr wrap="square" lIns="0" tIns="0" rIns="0" bIns="0" rtlCol="0" anchor="ctr"/>
          <a:lstStyle/>
          <a:p>
            <a:pPr marL="0" indent="0" algn="ctr">
              <a:buNone/>
            </a:pPr>
            <a:r>
              <a:rPr lang="en-US" sz="1050" b="1" dirty="0">
                <a:solidFill>
                  <a:srgbClr val="1C7293"/>
                </a:solidFill>
                <a:latin typeface="Calibri" pitchFamily="34" charset="0"/>
                <a:ea typeface="Calibri" pitchFamily="34" charset="-122"/>
                <a:cs typeface="Calibri" pitchFamily="34" charset="-120"/>
              </a:rPr>
              <a:t>0.640</a:t>
            </a:r>
          </a:p>
        </p:txBody>
      </p:sp>
      <p:sp>
        <p:nvSpPr>
          <p:cNvPr id="34" name="Shape"/>
          <p:cNvSpPr/>
          <p:nvPr/>
        </p:nvSpPr>
        <p:spPr>
          <a:xfrm>
            <a:off x="4358640" y="4680000"/>
            <a:ext cx="4388000" cy="300000"/>
          </a:xfrm>
          <a:prstGeom prst="roundRect">
            <a:avLst>
              <a:gd name="adj" fmla="val 50000"/>
            </a:avLst>
          </a:prstGeom>
          <a:solidFill>
            <a:srgbClr val="22C3A6"/>
          </a:solidFill>
          <a:ln>
            <a:noFill/>
          </a:ln>
        </p:spPr>
        <p:txBody>
          <a:bodyPr/>
          <a:lstStyle/>
          <a:p>
            <a:endParaRPr lang="en-US"/>
          </a:p>
        </p:txBody>
      </p:sp>
      <p:sp>
        <p:nvSpPr>
          <p:cNvPr id="35" name="Text"/>
          <p:cNvSpPr/>
          <p:nvPr/>
        </p:nvSpPr>
        <p:spPr>
          <a:xfrm>
            <a:off x="4358640" y="4680000"/>
            <a:ext cx="4388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BEST MODEL: LOGISTIC REGRESSION</a:t>
            </a:r>
          </a:p>
        </p:txBody>
      </p:sp>
      <p:sp>
        <p:nvSpPr>
          <p:cNvPr id="36" name="Text"/>
          <p:cNvSpPr/>
          <p:nvPr/>
        </p:nvSpPr>
        <p:spPr>
          <a:xfrm>
            <a:off x="4358640" y="5080000"/>
            <a:ext cx="6705600" cy="700000"/>
          </a:xfrm>
          <a:prstGeom prst="rect">
            <a:avLst/>
          </a:prstGeom>
          <a:noFill/>
          <a:ln/>
        </p:spPr>
        <p:txBody>
          <a:bodyPr wrap="square" lIns="0" tIns="0" rIns="0" bIns="0" rtlCol="0" anchor="t"/>
          <a:lstStyle/>
          <a:p>
            <a:pPr marL="0" indent="0" algn="l">
              <a:lnSpc>
                <a:spcPts val="1200"/>
              </a:lnSpc>
              <a:buNone/>
            </a:pPr>
            <a:r>
              <a:rPr lang="en-US" sz="900" dirty="0">
                <a:solidFill>
                  <a:srgbClr val="5B7284"/>
                </a:solidFill>
                <a:latin typeface="Calibri" pitchFamily="34" charset="0"/>
                <a:ea typeface="Calibri" pitchFamily="34" charset="-122"/>
                <a:cs typeface="Calibri" pitchFamily="34" charset="-120"/>
              </a:rPr>
              <a:t>Edges out Random Forest on Accuracy, Precision, and ROC-AUC; RF has slightly higher Recall/F1. Both clear the 59.8% naive baseline, confirming real learned signal.</a:t>
            </a:r>
          </a:p>
        </p:txBody>
      </p:sp>
      <p:sp>
        <p:nvSpPr>
          <p:cNvPr id="37" name="Shape"/>
          <p:cNvSpPr/>
          <p:nvPr/>
        </p:nvSpPr>
        <p:spPr>
          <a:xfrm>
            <a:off x="4358640" y="5880000"/>
            <a:ext cx="2724000" cy="300000"/>
          </a:xfrm>
          <a:prstGeom prst="roundRect">
            <a:avLst>
              <a:gd name="adj" fmla="val 50000"/>
            </a:avLst>
          </a:prstGeom>
          <a:solidFill>
            <a:srgbClr val="1C7293"/>
          </a:solidFill>
          <a:ln>
            <a:noFill/>
          </a:ln>
        </p:spPr>
        <p:txBody>
          <a:bodyPr/>
          <a:lstStyle/>
          <a:p>
            <a:endParaRPr lang="en-US"/>
          </a:p>
        </p:txBody>
      </p:sp>
      <p:sp>
        <p:nvSpPr>
          <p:cNvPr id="38" name="Text"/>
          <p:cNvSpPr/>
          <p:nvPr/>
        </p:nvSpPr>
        <p:spPr>
          <a:xfrm>
            <a:off x="4358640" y="5880000"/>
            <a:ext cx="2724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TOP PREDICTOR: BMI</a:t>
            </a:r>
          </a:p>
        </p:txBody>
      </p:sp>
      <p:sp>
        <p:nvSpPr>
          <p:cNvPr id="39" name="Text"/>
          <p:cNvSpPr/>
          <p:nvPr/>
        </p:nvSpPr>
        <p:spPr>
          <a:xfrm>
            <a:off x="4358640" y="6280000"/>
            <a:ext cx="6705600" cy="550000"/>
          </a:xfrm>
          <a:prstGeom prst="rect">
            <a:avLst/>
          </a:prstGeom>
          <a:noFill/>
          <a:ln/>
        </p:spPr>
        <p:txBody>
          <a:bodyPr wrap="square" lIns="0" tIns="0" rIns="0" bIns="0" rtlCol="0" anchor="t"/>
          <a:lstStyle/>
          <a:p>
            <a:pPr marL="0" indent="0" algn="l">
              <a:lnSpc>
                <a:spcPts val="1200"/>
              </a:lnSpc>
              <a:buNone/>
            </a:pPr>
            <a:r>
              <a:rPr lang="en-US" sz="900" dirty="0">
                <a:solidFill>
                  <a:srgbClr val="5B7284"/>
                </a:solidFill>
                <a:latin typeface="Calibri" pitchFamily="34" charset="0"/>
                <a:ea typeface="Calibri" pitchFamily="34" charset="-122"/>
                <a:cs typeface="Calibri" pitchFamily="34" charset="-120"/>
              </a:rPr>
              <a:t>BMI ranks #1 in Random Forest importance and has by far the largest coefficient in Logistic Regression — agreement across both models is a strong signal (not proof of causation).</a:t>
            </a:r>
          </a:p>
        </p:txBody>
      </p:sp>
      <p:sp>
        <p:nvSpPr>
          <p:cNvPr id="40"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Machine Learning</a:t>
            </a:r>
          </a:p>
        </p:txBody>
      </p:sp>
      <p:sp>
        <p:nvSpPr>
          <p:cNvPr id="41"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12 / 45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ANALYTICS DASHBOARDS</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Four Dashboards, One Complete Health Picture</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One Excel dashboard and three Power BI dashboards, each built for a different lens on the same population.</a:t>
            </a:r>
            <a:endParaRPr lang="en-US" sz="1300" dirty="0"/>
          </a:p>
        </p:txBody>
      </p:sp>
      <p:sp>
        <p:nvSpPr>
          <p:cNvPr id="6" name="Shape 4"/>
          <p:cNvSpPr/>
          <p:nvPr/>
        </p:nvSpPr>
        <p:spPr>
          <a:xfrm>
            <a:off x="548640" y="2286000"/>
            <a:ext cx="5364328" cy="1874520"/>
          </a:xfrm>
          <a:prstGeom prst="roundRect">
            <a:avLst>
              <a:gd name="adj" fmla="val 5854"/>
            </a:avLst>
          </a:prstGeom>
          <a:solidFill>
            <a:srgbClr val="FFFFFF"/>
          </a:solidFill>
          <a:ln/>
          <a:effectLst>
            <a:outerShdw blurRad="127000" dist="25400" dir="5400000" algn="bl" rotWithShape="0">
              <a:srgbClr val="12283F">
                <a:alpha val="14000"/>
              </a:srgbClr>
            </a:outerShdw>
          </a:effectLst>
        </p:spPr>
        <p:txBody>
          <a:bodyPr/>
          <a:lstStyle/>
          <a:p>
            <a:endParaRPr lang="en-US"/>
          </a:p>
        </p:txBody>
      </p:sp>
      <p:sp>
        <p:nvSpPr>
          <p:cNvPr id="7" name="Shape 5"/>
          <p:cNvSpPr/>
          <p:nvPr/>
        </p:nvSpPr>
        <p:spPr>
          <a:xfrm>
            <a:off x="822960" y="2560320"/>
            <a:ext cx="420624" cy="420624"/>
          </a:xfrm>
          <a:prstGeom prst="ellipse">
            <a:avLst/>
          </a:prstGeom>
          <a:solidFill>
            <a:srgbClr val="12283F"/>
          </a:solidFill>
          <a:ln/>
        </p:spPr>
        <p:txBody>
          <a:bodyPr/>
          <a:lstStyle/>
          <a:p>
            <a:endParaRPr lang="en-US"/>
          </a:p>
        </p:txBody>
      </p:sp>
      <p:sp>
        <p:nvSpPr>
          <p:cNvPr id="8" name="Text 6"/>
          <p:cNvSpPr/>
          <p:nvPr/>
        </p:nvSpPr>
        <p:spPr>
          <a:xfrm>
            <a:off x="822960" y="25603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Shape 7"/>
          <p:cNvSpPr/>
          <p:nvPr/>
        </p:nvSpPr>
        <p:spPr>
          <a:xfrm>
            <a:off x="4587088" y="2578608"/>
            <a:ext cx="1051560" cy="292608"/>
          </a:xfrm>
          <a:prstGeom prst="roundRect">
            <a:avLst>
              <a:gd name="adj" fmla="val 50000"/>
            </a:avLst>
          </a:prstGeom>
          <a:solidFill>
            <a:srgbClr val="22C3A6"/>
          </a:solidFill>
          <a:ln/>
        </p:spPr>
        <p:txBody>
          <a:bodyPr/>
          <a:lstStyle/>
          <a:p>
            <a:endParaRPr lang="en-US"/>
          </a:p>
        </p:txBody>
      </p:sp>
      <p:sp>
        <p:nvSpPr>
          <p:cNvPr id="10" name="Text 8"/>
          <p:cNvSpPr/>
          <p:nvPr/>
        </p:nvSpPr>
        <p:spPr>
          <a:xfrm>
            <a:off x="4587088" y="2578608"/>
            <a:ext cx="1051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Excel</a:t>
            </a:r>
            <a:endParaRPr lang="en-US" sz="1000" dirty="0"/>
          </a:p>
        </p:txBody>
      </p:sp>
      <p:sp>
        <p:nvSpPr>
          <p:cNvPr id="11" name="Text 9"/>
          <p:cNvSpPr/>
          <p:nvPr/>
        </p:nvSpPr>
        <p:spPr>
          <a:xfrm>
            <a:off x="822960" y="3154680"/>
            <a:ext cx="4815688" cy="411480"/>
          </a:xfrm>
          <a:prstGeom prst="rect">
            <a:avLst/>
          </a:prstGeom>
          <a:noFill/>
          <a:ln/>
        </p:spPr>
        <p:txBody>
          <a:bodyPr wrap="square" lIns="0" tIns="0" rIns="0" bIns="0" rtlCol="0" anchor="ctr"/>
          <a:lstStyle/>
          <a:p>
            <a:pPr marL="0" indent="0">
              <a:buNone/>
            </a:pPr>
            <a:r>
              <a:rPr lang="en-US" sz="1700" b="1" dirty="0">
                <a:solidFill>
                  <a:srgbClr val="12283F"/>
                </a:solidFill>
                <a:latin typeface="Cambria" pitchFamily="34" charset="0"/>
                <a:ea typeface="Cambria" pitchFamily="34" charset="-122"/>
                <a:cs typeface="Cambria" pitchFamily="34" charset="-120"/>
              </a:rPr>
              <a:t>Health Overview</a:t>
            </a:r>
            <a:endParaRPr lang="en-US" sz="1700" dirty="0"/>
          </a:p>
        </p:txBody>
      </p:sp>
      <p:sp>
        <p:nvSpPr>
          <p:cNvPr id="12" name="Text 10"/>
          <p:cNvSpPr/>
          <p:nvPr/>
        </p:nvSpPr>
        <p:spPr>
          <a:xfrm>
            <a:off x="822960" y="3566160"/>
            <a:ext cx="4815688" cy="502920"/>
          </a:xfrm>
          <a:prstGeom prst="rect">
            <a:avLst/>
          </a:prstGeom>
          <a:noFill/>
          <a:ln/>
        </p:spPr>
        <p:txBody>
          <a:bodyPr wrap="square" lIns="0" tIns="0" rIns="0" bIns="0" rtlCol="0" anchor="ctr"/>
          <a:lstStyle/>
          <a:p>
            <a:pPr marL="0" indent="0">
              <a:lnSpc>
                <a:spcPts val="1500"/>
              </a:lnSpc>
              <a:buNone/>
            </a:pPr>
            <a:r>
              <a:rPr lang="en-US" sz="1150" dirty="0">
                <a:solidFill>
                  <a:srgbClr val="5B7284"/>
                </a:solidFill>
                <a:latin typeface="Calibri" pitchFamily="34" charset="0"/>
                <a:ea typeface="Calibri" pitchFamily="34" charset="-122"/>
                <a:cs typeface="Calibri" pitchFamily="34" charset="-120"/>
              </a:rPr>
              <a:t>Overall population health profile</a:t>
            </a:r>
            <a:endParaRPr lang="en-US" sz="1150" dirty="0"/>
          </a:p>
        </p:txBody>
      </p:sp>
      <p:sp>
        <p:nvSpPr>
          <p:cNvPr id="13" name="Shape 11"/>
          <p:cNvSpPr/>
          <p:nvPr/>
        </p:nvSpPr>
        <p:spPr>
          <a:xfrm>
            <a:off x="6278728" y="2286000"/>
            <a:ext cx="5364328" cy="1874520"/>
          </a:xfrm>
          <a:prstGeom prst="roundRect">
            <a:avLst>
              <a:gd name="adj" fmla="val 5854"/>
            </a:avLst>
          </a:prstGeom>
          <a:solidFill>
            <a:srgbClr val="FFFFFF"/>
          </a:solidFill>
          <a:ln/>
          <a:effectLst>
            <a:outerShdw blurRad="127000" dist="25400" dir="5400000" algn="bl" rotWithShape="0">
              <a:srgbClr val="12283F">
                <a:alpha val="14000"/>
              </a:srgbClr>
            </a:outerShdw>
          </a:effectLst>
        </p:spPr>
        <p:txBody>
          <a:bodyPr/>
          <a:lstStyle/>
          <a:p>
            <a:endParaRPr lang="en-US"/>
          </a:p>
        </p:txBody>
      </p:sp>
      <p:sp>
        <p:nvSpPr>
          <p:cNvPr id="14" name="Shape 12"/>
          <p:cNvSpPr/>
          <p:nvPr/>
        </p:nvSpPr>
        <p:spPr>
          <a:xfrm>
            <a:off x="6553048" y="2560320"/>
            <a:ext cx="420624" cy="420624"/>
          </a:xfrm>
          <a:prstGeom prst="ellipse">
            <a:avLst/>
          </a:prstGeom>
          <a:solidFill>
            <a:srgbClr val="12283F"/>
          </a:solidFill>
          <a:ln/>
        </p:spPr>
        <p:txBody>
          <a:bodyPr/>
          <a:lstStyle/>
          <a:p>
            <a:endParaRPr lang="en-US"/>
          </a:p>
        </p:txBody>
      </p:sp>
      <p:sp>
        <p:nvSpPr>
          <p:cNvPr id="15" name="Text 13"/>
          <p:cNvSpPr/>
          <p:nvPr/>
        </p:nvSpPr>
        <p:spPr>
          <a:xfrm>
            <a:off x="6553048" y="25603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Shape 14"/>
          <p:cNvSpPr/>
          <p:nvPr/>
        </p:nvSpPr>
        <p:spPr>
          <a:xfrm>
            <a:off x="10317175" y="2578608"/>
            <a:ext cx="1051560" cy="292608"/>
          </a:xfrm>
          <a:prstGeom prst="roundRect">
            <a:avLst>
              <a:gd name="adj" fmla="val 50000"/>
            </a:avLst>
          </a:prstGeom>
          <a:solidFill>
            <a:srgbClr val="1C7293"/>
          </a:solidFill>
          <a:ln/>
        </p:spPr>
        <p:txBody>
          <a:bodyPr/>
          <a:lstStyle/>
          <a:p>
            <a:endParaRPr lang="en-US"/>
          </a:p>
        </p:txBody>
      </p:sp>
      <p:sp>
        <p:nvSpPr>
          <p:cNvPr id="17" name="Text 15"/>
          <p:cNvSpPr/>
          <p:nvPr/>
        </p:nvSpPr>
        <p:spPr>
          <a:xfrm>
            <a:off x="10317175" y="2578608"/>
            <a:ext cx="1051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Power BI</a:t>
            </a:r>
            <a:endParaRPr lang="en-US" sz="1000" dirty="0"/>
          </a:p>
        </p:txBody>
      </p:sp>
      <p:sp>
        <p:nvSpPr>
          <p:cNvPr id="18" name="Text 16"/>
          <p:cNvSpPr/>
          <p:nvPr/>
        </p:nvSpPr>
        <p:spPr>
          <a:xfrm>
            <a:off x="6553048" y="3154680"/>
            <a:ext cx="4815688" cy="411480"/>
          </a:xfrm>
          <a:prstGeom prst="rect">
            <a:avLst/>
          </a:prstGeom>
          <a:noFill/>
          <a:ln/>
        </p:spPr>
        <p:txBody>
          <a:bodyPr wrap="square" lIns="0" tIns="0" rIns="0" bIns="0" rtlCol="0" anchor="ctr"/>
          <a:lstStyle/>
          <a:p>
            <a:pPr marL="0" indent="0">
              <a:buNone/>
            </a:pPr>
            <a:r>
              <a:rPr lang="en-US" sz="1700" b="1" dirty="0">
                <a:solidFill>
                  <a:srgbClr val="12283F"/>
                </a:solidFill>
                <a:latin typeface="Cambria" pitchFamily="34" charset="0"/>
                <a:ea typeface="Cambria" pitchFamily="34" charset="-122"/>
                <a:cs typeface="Cambria" pitchFamily="34" charset="-120"/>
              </a:rPr>
              <a:t>Cardiometabolic Profile</a:t>
            </a:r>
            <a:endParaRPr lang="en-US" sz="1700" dirty="0"/>
          </a:p>
        </p:txBody>
      </p:sp>
      <p:sp>
        <p:nvSpPr>
          <p:cNvPr id="19" name="Text 17"/>
          <p:cNvSpPr/>
          <p:nvPr/>
        </p:nvSpPr>
        <p:spPr>
          <a:xfrm>
            <a:off x="6553048" y="3566160"/>
            <a:ext cx="4815688" cy="502920"/>
          </a:xfrm>
          <a:prstGeom prst="rect">
            <a:avLst/>
          </a:prstGeom>
          <a:noFill/>
          <a:ln/>
        </p:spPr>
        <p:txBody>
          <a:bodyPr wrap="square" lIns="0" tIns="0" rIns="0" bIns="0" rtlCol="0" anchor="ctr"/>
          <a:lstStyle/>
          <a:p>
            <a:pPr marL="0" indent="0">
              <a:lnSpc>
                <a:spcPts val="1500"/>
              </a:lnSpc>
              <a:buNone/>
            </a:pPr>
            <a:r>
              <a:rPr lang="en-US" sz="1150" dirty="0">
                <a:solidFill>
                  <a:srgbClr val="5B7284"/>
                </a:solidFill>
                <a:latin typeface="Calibri" pitchFamily="34" charset="0"/>
                <a:ea typeface="Calibri" pitchFamily="34" charset="-122"/>
                <a:cs typeface="Calibri" pitchFamily="34" charset="-120"/>
              </a:rPr>
              <a:t>Blood pressure risk across age groups</a:t>
            </a:r>
            <a:endParaRPr lang="en-US" sz="1150" dirty="0"/>
          </a:p>
        </p:txBody>
      </p:sp>
      <p:sp>
        <p:nvSpPr>
          <p:cNvPr id="20" name="Shape 18"/>
          <p:cNvSpPr/>
          <p:nvPr/>
        </p:nvSpPr>
        <p:spPr>
          <a:xfrm>
            <a:off x="548640" y="4526280"/>
            <a:ext cx="5364328" cy="1874520"/>
          </a:xfrm>
          <a:prstGeom prst="roundRect">
            <a:avLst>
              <a:gd name="adj" fmla="val 5854"/>
            </a:avLst>
          </a:prstGeom>
          <a:solidFill>
            <a:srgbClr val="FFFFFF"/>
          </a:solidFill>
          <a:ln/>
          <a:effectLst>
            <a:outerShdw blurRad="127000" dist="25400" dir="5400000" algn="bl" rotWithShape="0">
              <a:srgbClr val="12283F">
                <a:alpha val="14000"/>
              </a:srgbClr>
            </a:outerShdw>
          </a:effectLst>
        </p:spPr>
        <p:txBody>
          <a:bodyPr/>
          <a:lstStyle/>
          <a:p>
            <a:endParaRPr lang="en-US"/>
          </a:p>
        </p:txBody>
      </p:sp>
      <p:sp>
        <p:nvSpPr>
          <p:cNvPr id="21" name="Shape 19"/>
          <p:cNvSpPr/>
          <p:nvPr/>
        </p:nvSpPr>
        <p:spPr>
          <a:xfrm>
            <a:off x="822960" y="4800600"/>
            <a:ext cx="420624" cy="420624"/>
          </a:xfrm>
          <a:prstGeom prst="ellipse">
            <a:avLst/>
          </a:prstGeom>
          <a:solidFill>
            <a:srgbClr val="12283F"/>
          </a:solidFill>
          <a:ln/>
        </p:spPr>
        <p:txBody>
          <a:bodyPr/>
          <a:lstStyle/>
          <a:p>
            <a:endParaRPr lang="en-US"/>
          </a:p>
        </p:txBody>
      </p:sp>
      <p:sp>
        <p:nvSpPr>
          <p:cNvPr id="22" name="Text 20"/>
          <p:cNvSpPr/>
          <p:nvPr/>
        </p:nvSpPr>
        <p:spPr>
          <a:xfrm>
            <a:off x="822960" y="48006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Shape 21"/>
          <p:cNvSpPr/>
          <p:nvPr/>
        </p:nvSpPr>
        <p:spPr>
          <a:xfrm>
            <a:off x="4587088" y="4818888"/>
            <a:ext cx="1051560" cy="292608"/>
          </a:xfrm>
          <a:prstGeom prst="roundRect">
            <a:avLst>
              <a:gd name="adj" fmla="val 50000"/>
            </a:avLst>
          </a:prstGeom>
          <a:solidFill>
            <a:srgbClr val="1C7293"/>
          </a:solidFill>
          <a:ln/>
        </p:spPr>
        <p:txBody>
          <a:bodyPr/>
          <a:lstStyle/>
          <a:p>
            <a:endParaRPr lang="en-US"/>
          </a:p>
        </p:txBody>
      </p:sp>
      <p:sp>
        <p:nvSpPr>
          <p:cNvPr id="24" name="Text 22"/>
          <p:cNvSpPr/>
          <p:nvPr/>
        </p:nvSpPr>
        <p:spPr>
          <a:xfrm>
            <a:off x="4587088" y="4818888"/>
            <a:ext cx="1051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Power BI</a:t>
            </a:r>
            <a:endParaRPr lang="en-US" sz="1000" dirty="0"/>
          </a:p>
        </p:txBody>
      </p:sp>
      <p:sp>
        <p:nvSpPr>
          <p:cNvPr id="25" name="Text 23"/>
          <p:cNvSpPr/>
          <p:nvPr/>
        </p:nvSpPr>
        <p:spPr>
          <a:xfrm>
            <a:off x="822960" y="5394960"/>
            <a:ext cx="4815688" cy="411480"/>
          </a:xfrm>
          <a:prstGeom prst="rect">
            <a:avLst/>
          </a:prstGeom>
          <a:noFill/>
          <a:ln/>
        </p:spPr>
        <p:txBody>
          <a:bodyPr wrap="square" lIns="0" tIns="0" rIns="0" bIns="0" rtlCol="0" anchor="ctr"/>
          <a:lstStyle/>
          <a:p>
            <a:pPr marL="0" indent="0">
              <a:buNone/>
            </a:pPr>
            <a:r>
              <a:rPr lang="en-US" sz="1700" b="1" dirty="0">
                <a:solidFill>
                  <a:srgbClr val="12283F"/>
                </a:solidFill>
                <a:latin typeface="Cambria" pitchFamily="34" charset="0"/>
                <a:ea typeface="Cambria" pitchFamily="34" charset="-122"/>
                <a:cs typeface="Cambria" pitchFamily="34" charset="-120"/>
              </a:rPr>
              <a:t>Cholesterol Risks</a:t>
            </a:r>
            <a:endParaRPr lang="en-US" sz="1700" dirty="0"/>
          </a:p>
        </p:txBody>
      </p:sp>
      <p:sp>
        <p:nvSpPr>
          <p:cNvPr id="26" name="Text 24"/>
          <p:cNvSpPr/>
          <p:nvPr/>
        </p:nvSpPr>
        <p:spPr>
          <a:xfrm>
            <a:off x="822960" y="5806440"/>
            <a:ext cx="4815688" cy="502920"/>
          </a:xfrm>
          <a:prstGeom prst="rect">
            <a:avLst/>
          </a:prstGeom>
          <a:noFill/>
          <a:ln/>
        </p:spPr>
        <p:txBody>
          <a:bodyPr wrap="square" lIns="0" tIns="0" rIns="0" bIns="0" rtlCol="0" anchor="ctr"/>
          <a:lstStyle/>
          <a:p>
            <a:pPr marL="0" indent="0">
              <a:lnSpc>
                <a:spcPts val="1500"/>
              </a:lnSpc>
              <a:buNone/>
            </a:pPr>
            <a:r>
              <a:rPr lang="en-US" sz="1150" dirty="0">
                <a:solidFill>
                  <a:srgbClr val="5B7284"/>
                </a:solidFill>
                <a:latin typeface="Calibri" pitchFamily="34" charset="0"/>
                <a:ea typeface="Calibri" pitchFamily="34" charset="-122"/>
                <a:cs typeface="Calibri" pitchFamily="34" charset="-120"/>
              </a:rPr>
              <a:t>Cholesterol and blood lipid risk</a:t>
            </a:r>
            <a:endParaRPr lang="en-US" sz="1150" dirty="0"/>
          </a:p>
        </p:txBody>
      </p:sp>
      <p:sp>
        <p:nvSpPr>
          <p:cNvPr id="27" name="Shape 25"/>
          <p:cNvSpPr/>
          <p:nvPr/>
        </p:nvSpPr>
        <p:spPr>
          <a:xfrm>
            <a:off x="6278728" y="4526280"/>
            <a:ext cx="5364328" cy="1874520"/>
          </a:xfrm>
          <a:prstGeom prst="roundRect">
            <a:avLst>
              <a:gd name="adj" fmla="val 5854"/>
            </a:avLst>
          </a:prstGeom>
          <a:solidFill>
            <a:srgbClr val="FFFFFF"/>
          </a:solidFill>
          <a:ln/>
          <a:effectLst>
            <a:outerShdw blurRad="127000" dist="25400" dir="5400000" algn="bl" rotWithShape="0">
              <a:srgbClr val="12283F">
                <a:alpha val="14000"/>
              </a:srgbClr>
            </a:outerShdw>
          </a:effectLst>
        </p:spPr>
        <p:txBody>
          <a:bodyPr/>
          <a:lstStyle/>
          <a:p>
            <a:endParaRPr lang="en-US"/>
          </a:p>
        </p:txBody>
      </p:sp>
      <p:sp>
        <p:nvSpPr>
          <p:cNvPr id="28" name="Shape 26"/>
          <p:cNvSpPr/>
          <p:nvPr/>
        </p:nvSpPr>
        <p:spPr>
          <a:xfrm>
            <a:off x="6553048" y="4800600"/>
            <a:ext cx="420624" cy="420624"/>
          </a:xfrm>
          <a:prstGeom prst="ellipse">
            <a:avLst/>
          </a:prstGeom>
          <a:solidFill>
            <a:srgbClr val="12283F"/>
          </a:solidFill>
          <a:ln/>
        </p:spPr>
        <p:txBody>
          <a:bodyPr/>
          <a:lstStyle/>
          <a:p>
            <a:endParaRPr lang="en-US"/>
          </a:p>
        </p:txBody>
      </p:sp>
      <p:sp>
        <p:nvSpPr>
          <p:cNvPr id="29" name="Text 27"/>
          <p:cNvSpPr/>
          <p:nvPr/>
        </p:nvSpPr>
        <p:spPr>
          <a:xfrm>
            <a:off x="6553048" y="48006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Shape 28"/>
          <p:cNvSpPr/>
          <p:nvPr/>
        </p:nvSpPr>
        <p:spPr>
          <a:xfrm>
            <a:off x="10317175" y="4818888"/>
            <a:ext cx="1051560" cy="292608"/>
          </a:xfrm>
          <a:prstGeom prst="roundRect">
            <a:avLst>
              <a:gd name="adj" fmla="val 50000"/>
            </a:avLst>
          </a:prstGeom>
          <a:solidFill>
            <a:srgbClr val="1C7293"/>
          </a:solidFill>
          <a:ln/>
        </p:spPr>
        <p:txBody>
          <a:bodyPr/>
          <a:lstStyle/>
          <a:p>
            <a:endParaRPr lang="en-US"/>
          </a:p>
        </p:txBody>
      </p:sp>
      <p:sp>
        <p:nvSpPr>
          <p:cNvPr id="31" name="Text 29"/>
          <p:cNvSpPr/>
          <p:nvPr/>
        </p:nvSpPr>
        <p:spPr>
          <a:xfrm>
            <a:off x="10317175" y="4818888"/>
            <a:ext cx="1051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Power BI</a:t>
            </a:r>
            <a:endParaRPr lang="en-US" sz="1000" dirty="0"/>
          </a:p>
        </p:txBody>
      </p:sp>
      <p:sp>
        <p:nvSpPr>
          <p:cNvPr id="32" name="Text 30"/>
          <p:cNvSpPr/>
          <p:nvPr/>
        </p:nvSpPr>
        <p:spPr>
          <a:xfrm>
            <a:off x="6553048" y="5394960"/>
            <a:ext cx="4815688" cy="411480"/>
          </a:xfrm>
          <a:prstGeom prst="rect">
            <a:avLst/>
          </a:prstGeom>
          <a:noFill/>
          <a:ln/>
        </p:spPr>
        <p:txBody>
          <a:bodyPr wrap="square" lIns="0" tIns="0" rIns="0" bIns="0" rtlCol="0" anchor="ctr"/>
          <a:lstStyle/>
          <a:p>
            <a:pPr marL="0" indent="0">
              <a:buNone/>
            </a:pPr>
            <a:r>
              <a:rPr lang="en-US" sz="1700" b="1" dirty="0">
                <a:solidFill>
                  <a:srgbClr val="12283F"/>
                </a:solidFill>
                <a:latin typeface="Cambria" pitchFamily="34" charset="0"/>
                <a:ea typeface="Cambria" pitchFamily="34" charset="-122"/>
                <a:cs typeface="Cambria" pitchFamily="34" charset="-120"/>
              </a:rPr>
              <a:t>Lifestyle &amp; Health Risk</a:t>
            </a:r>
            <a:endParaRPr lang="en-US" sz="1700" dirty="0"/>
          </a:p>
        </p:txBody>
      </p:sp>
      <p:sp>
        <p:nvSpPr>
          <p:cNvPr id="33" name="Text 31"/>
          <p:cNvSpPr/>
          <p:nvPr/>
        </p:nvSpPr>
        <p:spPr>
          <a:xfrm>
            <a:off x="6553048" y="5806440"/>
            <a:ext cx="4815688" cy="502920"/>
          </a:xfrm>
          <a:prstGeom prst="rect">
            <a:avLst/>
          </a:prstGeom>
          <a:noFill/>
          <a:ln/>
        </p:spPr>
        <p:txBody>
          <a:bodyPr wrap="square" lIns="0" tIns="0" rIns="0" bIns="0" rtlCol="0" anchor="ctr"/>
          <a:lstStyle/>
          <a:p>
            <a:pPr marL="0" indent="0">
              <a:lnSpc>
                <a:spcPts val="1500"/>
              </a:lnSpc>
              <a:buNone/>
            </a:pPr>
            <a:r>
              <a:rPr lang="en-US" sz="1150" dirty="0">
                <a:solidFill>
                  <a:srgbClr val="5B7284"/>
                </a:solidFill>
                <a:latin typeface="Calibri" pitchFamily="34" charset="0"/>
                <a:ea typeface="Calibri" pitchFamily="34" charset="-122"/>
                <a:cs typeface="Calibri" pitchFamily="34" charset="-120"/>
              </a:rPr>
              <a:t>Lifestyle factors and health outcomes</a:t>
            </a:r>
            <a:endParaRPr lang="en-US" sz="1150" dirty="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Dashboards Overview</a:t>
            </a:r>
            <a:endParaRPr lang="en-US" sz="900" dirty="0"/>
          </a:p>
        </p:txBody>
      </p:sp>
      <p:sp>
        <p:nvSpPr>
          <p:cNvPr id="35" name="Text 33"/>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13 / 45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22C3A6"/>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01 — EXCEL</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Business Questions Answered with SQL</a:t>
            </a:r>
            <a:endParaRPr lang="en-US" sz="3000" dirty="0"/>
          </a:p>
        </p:txBody>
      </p:sp>
      <p:sp>
        <p:nvSpPr>
          <p:cNvPr id="5" name="Shape 3"/>
          <p:cNvSpPr/>
          <p:nvPr/>
        </p:nvSpPr>
        <p:spPr>
          <a:xfrm>
            <a:off x="548640" y="2103120"/>
            <a:ext cx="11094415" cy="548640"/>
          </a:xfrm>
          <a:prstGeom prst="roundRect">
            <a:avLst>
              <a:gd name="adj" fmla="val 11667"/>
            </a:avLst>
          </a:prstGeom>
          <a:solidFill>
            <a:srgbClr val="EAF3F8"/>
          </a:solidFill>
          <a:ln/>
        </p:spPr>
        <p:txBody>
          <a:bodyPr/>
          <a:lstStyle/>
          <a:p>
            <a:endParaRPr lang="en-US"/>
          </a:p>
        </p:txBody>
      </p:sp>
      <p:sp>
        <p:nvSpPr>
          <p:cNvPr id="6" name="Text 4"/>
          <p:cNvSpPr/>
          <p:nvPr/>
        </p:nvSpPr>
        <p:spPr>
          <a:xfrm>
            <a:off x="685800" y="21031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1143000" y="2231136"/>
            <a:ext cx="868680" cy="292608"/>
          </a:xfrm>
          <a:prstGeom prst="roundRect">
            <a:avLst>
              <a:gd name="adj" fmla="val 50000"/>
            </a:avLst>
          </a:prstGeom>
          <a:solidFill>
            <a:srgbClr val="22A699"/>
          </a:solidFill>
          <a:ln/>
        </p:spPr>
        <p:txBody>
          <a:bodyPr/>
          <a:lstStyle/>
          <a:p>
            <a:endParaRPr lang="en-US"/>
          </a:p>
        </p:txBody>
      </p:sp>
      <p:sp>
        <p:nvSpPr>
          <p:cNvPr id="8" name="Text 6"/>
          <p:cNvSpPr/>
          <p:nvPr/>
        </p:nvSpPr>
        <p:spPr>
          <a:xfrm>
            <a:off x="1143000" y="22311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9" name="Text 7"/>
          <p:cNvSpPr/>
          <p:nvPr/>
        </p:nvSpPr>
        <p:spPr>
          <a:xfrm>
            <a:off x="2194560" y="21031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are included in the dataset?</a:t>
            </a:r>
            <a:endParaRPr lang="en-US" sz="1200" dirty="0"/>
          </a:p>
        </p:txBody>
      </p:sp>
      <p:sp>
        <p:nvSpPr>
          <p:cNvPr id="10" name="Shape 8"/>
          <p:cNvSpPr/>
          <p:nvPr/>
        </p:nvSpPr>
        <p:spPr>
          <a:xfrm>
            <a:off x="548640" y="2743200"/>
            <a:ext cx="11094415" cy="548640"/>
          </a:xfrm>
          <a:prstGeom prst="roundRect">
            <a:avLst>
              <a:gd name="adj" fmla="val 11667"/>
            </a:avLst>
          </a:prstGeom>
          <a:solidFill>
            <a:srgbClr val="FFFFFF"/>
          </a:solidFill>
          <a:ln/>
        </p:spPr>
        <p:txBody>
          <a:bodyPr/>
          <a:lstStyle/>
          <a:p>
            <a:endParaRPr lang="en-US"/>
          </a:p>
        </p:txBody>
      </p:sp>
      <p:sp>
        <p:nvSpPr>
          <p:cNvPr id="11" name="Text 9"/>
          <p:cNvSpPr/>
          <p:nvPr/>
        </p:nvSpPr>
        <p:spPr>
          <a:xfrm>
            <a:off x="685800" y="27432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1143000" y="2871216"/>
            <a:ext cx="868680" cy="292608"/>
          </a:xfrm>
          <a:prstGeom prst="roundRect">
            <a:avLst>
              <a:gd name="adj" fmla="val 50000"/>
            </a:avLst>
          </a:prstGeom>
          <a:solidFill>
            <a:srgbClr val="22A699"/>
          </a:solidFill>
          <a:ln/>
        </p:spPr>
        <p:txBody>
          <a:bodyPr/>
          <a:lstStyle/>
          <a:p>
            <a:endParaRPr lang="en-US"/>
          </a:p>
        </p:txBody>
      </p:sp>
      <p:sp>
        <p:nvSpPr>
          <p:cNvPr id="13" name="Text 11"/>
          <p:cNvSpPr/>
          <p:nvPr/>
        </p:nvSpPr>
        <p:spPr>
          <a:xfrm>
            <a:off x="1143000" y="28712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4" name="Text 12"/>
          <p:cNvSpPr/>
          <p:nvPr/>
        </p:nvSpPr>
        <p:spPr>
          <a:xfrm>
            <a:off x="2194560" y="27432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are smokers and how many are non-smokers?</a:t>
            </a:r>
            <a:endParaRPr lang="en-US" sz="1200" dirty="0"/>
          </a:p>
        </p:txBody>
      </p:sp>
      <p:sp>
        <p:nvSpPr>
          <p:cNvPr id="15" name="Shape 13"/>
          <p:cNvSpPr/>
          <p:nvPr/>
        </p:nvSpPr>
        <p:spPr>
          <a:xfrm>
            <a:off x="548640" y="3383280"/>
            <a:ext cx="11094415" cy="548640"/>
          </a:xfrm>
          <a:prstGeom prst="roundRect">
            <a:avLst>
              <a:gd name="adj" fmla="val 11667"/>
            </a:avLst>
          </a:prstGeom>
          <a:solidFill>
            <a:srgbClr val="EAF3F8"/>
          </a:solidFill>
          <a:ln/>
        </p:spPr>
        <p:txBody>
          <a:bodyPr/>
          <a:lstStyle/>
          <a:p>
            <a:endParaRPr lang="en-US"/>
          </a:p>
        </p:txBody>
      </p:sp>
      <p:sp>
        <p:nvSpPr>
          <p:cNvPr id="16" name="Text 14"/>
          <p:cNvSpPr/>
          <p:nvPr/>
        </p:nvSpPr>
        <p:spPr>
          <a:xfrm>
            <a:off x="685800" y="338328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3</a:t>
            </a:r>
            <a:endParaRPr lang="en-US" sz="1300" dirty="0"/>
          </a:p>
        </p:txBody>
      </p:sp>
      <p:sp>
        <p:nvSpPr>
          <p:cNvPr id="17" name="Shape 15"/>
          <p:cNvSpPr/>
          <p:nvPr/>
        </p:nvSpPr>
        <p:spPr>
          <a:xfrm>
            <a:off x="1143000" y="3511296"/>
            <a:ext cx="868680" cy="292608"/>
          </a:xfrm>
          <a:prstGeom prst="roundRect">
            <a:avLst>
              <a:gd name="adj" fmla="val 50000"/>
            </a:avLst>
          </a:prstGeom>
          <a:solidFill>
            <a:srgbClr val="22A699"/>
          </a:solidFill>
          <a:ln/>
        </p:spPr>
        <p:txBody>
          <a:bodyPr/>
          <a:lstStyle/>
          <a:p>
            <a:endParaRPr lang="en-US"/>
          </a:p>
        </p:txBody>
      </p:sp>
      <p:sp>
        <p:nvSpPr>
          <p:cNvPr id="18" name="Text 16"/>
          <p:cNvSpPr/>
          <p:nvPr/>
        </p:nvSpPr>
        <p:spPr>
          <a:xfrm>
            <a:off x="1143000" y="351129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9" name="Text 17"/>
          <p:cNvSpPr/>
          <p:nvPr/>
        </p:nvSpPr>
        <p:spPr>
          <a:xfrm>
            <a:off x="2194560" y="338328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belong to each physical activity level?</a:t>
            </a:r>
            <a:endParaRPr lang="en-US" sz="1200" dirty="0"/>
          </a:p>
        </p:txBody>
      </p:sp>
      <p:sp>
        <p:nvSpPr>
          <p:cNvPr id="20" name="Shape 18"/>
          <p:cNvSpPr/>
          <p:nvPr/>
        </p:nvSpPr>
        <p:spPr>
          <a:xfrm>
            <a:off x="548640" y="4023360"/>
            <a:ext cx="11094415" cy="548640"/>
          </a:xfrm>
          <a:prstGeom prst="roundRect">
            <a:avLst>
              <a:gd name="adj" fmla="val 11667"/>
            </a:avLst>
          </a:prstGeom>
          <a:solidFill>
            <a:srgbClr val="FFFFFF"/>
          </a:solidFill>
          <a:ln/>
        </p:spPr>
        <p:txBody>
          <a:bodyPr/>
          <a:lstStyle/>
          <a:p>
            <a:endParaRPr lang="en-US"/>
          </a:p>
        </p:txBody>
      </p:sp>
      <p:sp>
        <p:nvSpPr>
          <p:cNvPr id="21" name="Text 19"/>
          <p:cNvSpPr/>
          <p:nvPr/>
        </p:nvSpPr>
        <p:spPr>
          <a:xfrm>
            <a:off x="685800" y="402336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4</a:t>
            </a:r>
            <a:endParaRPr lang="en-US" sz="1300" dirty="0"/>
          </a:p>
        </p:txBody>
      </p:sp>
      <p:sp>
        <p:nvSpPr>
          <p:cNvPr id="22" name="Shape 20"/>
          <p:cNvSpPr/>
          <p:nvPr/>
        </p:nvSpPr>
        <p:spPr>
          <a:xfrm>
            <a:off x="1143000" y="4151376"/>
            <a:ext cx="868680" cy="292608"/>
          </a:xfrm>
          <a:prstGeom prst="roundRect">
            <a:avLst>
              <a:gd name="adj" fmla="val 50000"/>
            </a:avLst>
          </a:prstGeom>
          <a:solidFill>
            <a:srgbClr val="D99A2B"/>
          </a:solidFill>
          <a:ln/>
        </p:spPr>
        <p:txBody>
          <a:bodyPr/>
          <a:lstStyle/>
          <a:p>
            <a:endParaRPr lang="en-US"/>
          </a:p>
        </p:txBody>
      </p:sp>
      <p:sp>
        <p:nvSpPr>
          <p:cNvPr id="23" name="Text 21"/>
          <p:cNvSpPr/>
          <p:nvPr/>
        </p:nvSpPr>
        <p:spPr>
          <a:xfrm>
            <a:off x="1143000" y="415137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4" name="Text 22"/>
          <p:cNvSpPr/>
          <p:nvPr/>
        </p:nvSpPr>
        <p:spPr>
          <a:xfrm>
            <a:off x="2194560" y="402336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are people distributed across BMI categories such as Underweight, Normal, Overweight, and Obese?</a:t>
            </a:r>
            <a:endParaRPr lang="en-US" sz="1200" dirty="0"/>
          </a:p>
        </p:txBody>
      </p:sp>
      <p:sp>
        <p:nvSpPr>
          <p:cNvPr id="25" name="Shape 23"/>
          <p:cNvSpPr/>
          <p:nvPr/>
        </p:nvSpPr>
        <p:spPr>
          <a:xfrm>
            <a:off x="548640" y="4663440"/>
            <a:ext cx="11094415" cy="548640"/>
          </a:xfrm>
          <a:prstGeom prst="roundRect">
            <a:avLst>
              <a:gd name="adj" fmla="val 11667"/>
            </a:avLst>
          </a:prstGeom>
          <a:solidFill>
            <a:srgbClr val="EAF3F8"/>
          </a:solidFill>
          <a:ln/>
        </p:spPr>
        <p:txBody>
          <a:bodyPr/>
          <a:lstStyle/>
          <a:p>
            <a:endParaRPr lang="en-US"/>
          </a:p>
        </p:txBody>
      </p:sp>
      <p:sp>
        <p:nvSpPr>
          <p:cNvPr id="26" name="Text 24"/>
          <p:cNvSpPr/>
          <p:nvPr/>
        </p:nvSpPr>
        <p:spPr>
          <a:xfrm>
            <a:off x="685800" y="466344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5</a:t>
            </a:r>
            <a:endParaRPr lang="en-US" sz="1300" dirty="0"/>
          </a:p>
        </p:txBody>
      </p:sp>
      <p:sp>
        <p:nvSpPr>
          <p:cNvPr id="27" name="Shape 25"/>
          <p:cNvSpPr/>
          <p:nvPr/>
        </p:nvSpPr>
        <p:spPr>
          <a:xfrm>
            <a:off x="1143000" y="4791456"/>
            <a:ext cx="868680" cy="292608"/>
          </a:xfrm>
          <a:prstGeom prst="roundRect">
            <a:avLst>
              <a:gd name="adj" fmla="val 50000"/>
            </a:avLst>
          </a:prstGeom>
          <a:solidFill>
            <a:srgbClr val="D99A2B"/>
          </a:solidFill>
          <a:ln/>
        </p:spPr>
        <p:txBody>
          <a:bodyPr/>
          <a:lstStyle/>
          <a:p>
            <a:endParaRPr lang="en-US"/>
          </a:p>
        </p:txBody>
      </p:sp>
      <p:sp>
        <p:nvSpPr>
          <p:cNvPr id="28" name="Text 26"/>
          <p:cNvSpPr/>
          <p:nvPr/>
        </p:nvSpPr>
        <p:spPr>
          <a:xfrm>
            <a:off x="1143000" y="479145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p:nvPr/>
        </p:nvSpPr>
        <p:spPr>
          <a:xfrm>
            <a:off x="2194560" y="466344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desirable total cholesterol and how many have high total cholesterol?</a:t>
            </a:r>
            <a:endParaRPr lang="en-US" sz="1200" dirty="0"/>
          </a:p>
        </p:txBody>
      </p:sp>
      <p:sp>
        <p:nvSpPr>
          <p:cNvPr id="30" name="Shape 28"/>
          <p:cNvSpPr/>
          <p:nvPr/>
        </p:nvSpPr>
        <p:spPr>
          <a:xfrm>
            <a:off x="548640" y="5303520"/>
            <a:ext cx="11094415" cy="548640"/>
          </a:xfrm>
          <a:prstGeom prst="roundRect">
            <a:avLst>
              <a:gd name="adj" fmla="val 11667"/>
            </a:avLst>
          </a:prstGeom>
          <a:solidFill>
            <a:srgbClr val="FFFFFF"/>
          </a:solidFill>
          <a:ln/>
        </p:spPr>
        <p:txBody>
          <a:bodyPr/>
          <a:lstStyle/>
          <a:p>
            <a:endParaRPr lang="en-US"/>
          </a:p>
        </p:txBody>
      </p:sp>
      <p:sp>
        <p:nvSpPr>
          <p:cNvPr id="31" name="Text 29"/>
          <p:cNvSpPr/>
          <p:nvPr/>
        </p:nvSpPr>
        <p:spPr>
          <a:xfrm>
            <a:off x="685800" y="53035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6</a:t>
            </a:r>
            <a:endParaRPr lang="en-US" sz="1300" dirty="0"/>
          </a:p>
        </p:txBody>
      </p:sp>
      <p:sp>
        <p:nvSpPr>
          <p:cNvPr id="32" name="Shape 30"/>
          <p:cNvSpPr/>
          <p:nvPr/>
        </p:nvSpPr>
        <p:spPr>
          <a:xfrm>
            <a:off x="1143000" y="5431536"/>
            <a:ext cx="868680" cy="292608"/>
          </a:xfrm>
          <a:prstGeom prst="roundRect">
            <a:avLst>
              <a:gd name="adj" fmla="val 50000"/>
            </a:avLst>
          </a:prstGeom>
          <a:solidFill>
            <a:srgbClr val="D99A2B"/>
          </a:solidFill>
          <a:ln/>
        </p:spPr>
        <p:txBody>
          <a:bodyPr/>
          <a:lstStyle/>
          <a:p>
            <a:endParaRPr lang="en-US"/>
          </a:p>
        </p:txBody>
      </p:sp>
      <p:sp>
        <p:nvSpPr>
          <p:cNvPr id="33" name="Text 31"/>
          <p:cNvSpPr/>
          <p:nvPr/>
        </p:nvSpPr>
        <p:spPr>
          <a:xfrm>
            <a:off x="1143000" y="54315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4" name="Text 32"/>
          <p:cNvSpPr/>
          <p:nvPr/>
        </p:nvSpPr>
        <p:spPr>
          <a:xfrm>
            <a:off x="2194560" y="53035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normal systolic blood pressure and how many have elevated or high systolic blood pressure?</a:t>
            </a:r>
            <a:endParaRPr lang="en-US" sz="1200" dirty="0"/>
          </a:p>
        </p:txBody>
      </p:sp>
      <p:sp>
        <p:nvSpPr>
          <p:cNvPr id="35" name="Shape 33"/>
          <p:cNvSpPr/>
          <p:nvPr/>
        </p:nvSpPr>
        <p:spPr>
          <a:xfrm>
            <a:off x="548640" y="5943600"/>
            <a:ext cx="11094415" cy="548640"/>
          </a:xfrm>
          <a:prstGeom prst="roundRect">
            <a:avLst>
              <a:gd name="adj" fmla="val 11667"/>
            </a:avLst>
          </a:prstGeom>
          <a:solidFill>
            <a:srgbClr val="EAF3F8"/>
          </a:solidFill>
          <a:ln/>
        </p:spPr>
        <p:txBody>
          <a:bodyPr/>
          <a:lstStyle/>
          <a:p>
            <a:endParaRPr lang="en-US"/>
          </a:p>
        </p:txBody>
      </p:sp>
      <p:sp>
        <p:nvSpPr>
          <p:cNvPr id="36" name="Text 34"/>
          <p:cNvSpPr/>
          <p:nvPr/>
        </p:nvSpPr>
        <p:spPr>
          <a:xfrm>
            <a:off x="685800" y="59436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7</a:t>
            </a:r>
            <a:endParaRPr lang="en-US" sz="1300" dirty="0"/>
          </a:p>
        </p:txBody>
      </p:sp>
      <p:sp>
        <p:nvSpPr>
          <p:cNvPr id="37" name="Shape 35"/>
          <p:cNvSpPr/>
          <p:nvPr/>
        </p:nvSpPr>
        <p:spPr>
          <a:xfrm>
            <a:off x="1143000" y="6071616"/>
            <a:ext cx="868680" cy="292608"/>
          </a:xfrm>
          <a:prstGeom prst="roundRect">
            <a:avLst>
              <a:gd name="adj" fmla="val 50000"/>
            </a:avLst>
          </a:prstGeom>
          <a:solidFill>
            <a:srgbClr val="C1443C"/>
          </a:solidFill>
          <a:ln/>
        </p:spPr>
        <p:txBody>
          <a:bodyPr/>
          <a:lstStyle/>
          <a:p>
            <a:endParaRPr lang="en-US"/>
          </a:p>
        </p:txBody>
      </p:sp>
      <p:sp>
        <p:nvSpPr>
          <p:cNvPr id="38" name="Text 36"/>
          <p:cNvSpPr/>
          <p:nvPr/>
        </p:nvSpPr>
        <p:spPr>
          <a:xfrm>
            <a:off x="1143000" y="60716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a:t>
            </a:r>
            <a:endParaRPr lang="en-US" sz="1000" dirty="0"/>
          </a:p>
        </p:txBody>
      </p:sp>
      <p:sp>
        <p:nvSpPr>
          <p:cNvPr id="39" name="Text 37"/>
          <p:cNvSpPr/>
          <p:nvPr/>
        </p:nvSpPr>
        <p:spPr>
          <a:xfrm>
            <a:off x="2194560" y="59436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What percentage of the population falls into each BMI-based health category?</a:t>
            </a:r>
            <a:endParaRPr lang="en-US" sz="1200" dirty="0"/>
          </a:p>
        </p:txBody>
      </p:sp>
      <p:sp>
        <p:nvSpPr>
          <p:cNvPr id="40" name="Text 38"/>
          <p:cNvSpPr/>
          <p:nvPr/>
        </p:nvSpPr>
        <p:spPr>
          <a:xfrm>
            <a:off x="548640" y="6629400"/>
            <a:ext cx="11094415" cy="320040"/>
          </a:xfrm>
          <a:prstGeom prst="rect">
            <a:avLst/>
          </a:prstGeom>
          <a:noFill/>
          <a:ln/>
        </p:spPr>
        <p:txBody>
          <a:bodyPr wrap="square" lIns="0" tIns="0" rIns="0" bIns="0" rtlCol="0" anchor="ctr"/>
          <a:lstStyle/>
          <a:p>
            <a:pPr marL="0" indent="0">
              <a:buNone/>
            </a:pPr>
            <a:r>
              <a:rPr lang="en-US" sz="1050" i="1" dirty="0">
                <a:solidFill>
                  <a:srgbClr val="5B7284"/>
                </a:solidFill>
                <a:latin typeface="Calibri" pitchFamily="34" charset="0"/>
                <a:ea typeface="Calibri" pitchFamily="34" charset="-122"/>
                <a:cs typeface="Calibri" pitchFamily="34" charset="-120"/>
              </a:rPr>
              <a:t>Question mix: 3 Easy · 3 Medium · 1 Hard — KPIs are tracked separately from these seven SQL business questions.</a:t>
            </a:r>
            <a:endParaRPr lang="en-US" sz="1050" dirty="0"/>
          </a:p>
        </p:txBody>
      </p:sp>
      <p:sp>
        <p:nvSpPr>
          <p:cNvPr id="41" name="Text 3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Health Overview Dashboard</a:t>
            </a:r>
            <a:endParaRPr lang="en-US" sz="900" dirty="0"/>
          </a:p>
        </p:txBody>
      </p:sp>
      <p:sp>
        <p:nvSpPr>
          <p:cNvPr id="42" name="Text 4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19 / 45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22C3A6"/>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01 — EXCEL</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Health Overview Dashboard</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Overall Population Health Profile</a:t>
            </a:r>
            <a:endParaRPr lang="en-US" sz="1300" dirty="0"/>
          </a:p>
        </p:txBody>
      </p:sp>
      <p:sp>
        <p:nvSpPr>
          <p:cNvPr id="6" name="Shape 4"/>
          <p:cNvSpPr/>
          <p:nvPr/>
        </p:nvSpPr>
        <p:spPr>
          <a:xfrm>
            <a:off x="2636876" y="2221992"/>
            <a:ext cx="6917944" cy="4562856"/>
          </a:xfrm>
          <a:prstGeom prst="roundRect">
            <a:avLst>
              <a:gd name="adj" fmla="val 1603"/>
            </a:avLst>
          </a:prstGeom>
          <a:solidFill>
            <a:srgbClr val="FFFFFF"/>
          </a:solidFill>
          <a:ln w="12700">
            <a:solidFill>
              <a:srgbClr val="D7E4EC"/>
            </a:solidFill>
            <a:prstDash val="solid"/>
          </a:ln>
          <a:effectLst>
            <a:outerShdw blurRad="203200" dist="50800" dir="5400000" algn="bl" rotWithShape="0">
              <a:srgbClr val="12283F">
                <a:alpha val="22000"/>
              </a:srgbClr>
            </a:outerShdw>
          </a:effectLst>
        </p:spPr>
        <p:txBody>
          <a:bodyPr/>
          <a:lstStyle/>
          <a:p>
            <a:endParaRPr lang="en-US"/>
          </a:p>
        </p:txBody>
      </p:sp>
      <p:pic>
        <p:nvPicPr>
          <p:cNvPr id="7" name="Image 0" descr="/home/claude/medisights_ppt/Screenshot_2026-08-13_202016.png"/>
          <p:cNvPicPr>
            <a:picLocks noChangeAspect="1"/>
          </p:cNvPicPr>
          <p:nvPr/>
        </p:nvPicPr>
        <p:blipFill>
          <a:blip r:embed="rId3"/>
          <a:stretch>
            <a:fillRect/>
          </a:stretch>
        </p:blipFill>
        <p:spPr>
          <a:xfrm>
            <a:off x="2746604" y="2331720"/>
            <a:ext cx="6698488" cy="4343400"/>
          </a:xfrm>
          <a:prstGeom prst="rect">
            <a:avLst/>
          </a:prstGeom>
        </p:spPr>
      </p:pic>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Health Overview Dashboard</a:t>
            </a:r>
            <a:endParaRPr lang="en-US" sz="900" dirty="0"/>
          </a:p>
        </p:txBody>
      </p:sp>
      <p:sp>
        <p:nvSpPr>
          <p:cNvPr id="9" name="Text 6"/>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14 / 45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22C3A6"/>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01 — EXCEL</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Purpose &amp; Target Audience</a:t>
            </a:r>
            <a:endParaRPr lang="en-US" sz="3000" dirty="0"/>
          </a:p>
        </p:txBody>
      </p:sp>
      <p:sp>
        <p:nvSpPr>
          <p:cNvPr id="5" name="Shape 3"/>
          <p:cNvSpPr/>
          <p:nvPr/>
        </p:nvSpPr>
        <p:spPr>
          <a:xfrm>
            <a:off x="548640" y="1828800"/>
            <a:ext cx="11094415" cy="1234440"/>
          </a:xfrm>
          <a:prstGeom prst="roundRect">
            <a:avLst>
              <a:gd name="adj" fmla="val 8889"/>
            </a:avLst>
          </a:prstGeom>
          <a:solidFill>
            <a:srgbClr val="12283F"/>
          </a:solidFill>
          <a:ln/>
        </p:spPr>
        <p:txBody>
          <a:bodyPr/>
          <a:lstStyle/>
          <a:p>
            <a:endParaRPr lang="en-US"/>
          </a:p>
        </p:txBody>
      </p:sp>
      <p:sp>
        <p:nvSpPr>
          <p:cNvPr id="6" name="Text 4"/>
          <p:cNvSpPr/>
          <p:nvPr/>
        </p:nvSpPr>
        <p:spPr>
          <a:xfrm>
            <a:off x="868680" y="1993392"/>
            <a:ext cx="5486400" cy="274320"/>
          </a:xfrm>
          <a:prstGeom prst="rect">
            <a:avLst/>
          </a:prstGeom>
          <a:noFill/>
          <a:ln/>
        </p:spPr>
        <p:txBody>
          <a:bodyPr wrap="square" lIns="0" tIns="0" rIns="0" bIns="0" rtlCol="0" anchor="ctr"/>
          <a:lstStyle/>
          <a:p>
            <a:pPr marL="0" indent="0">
              <a:buNone/>
            </a:pPr>
            <a:r>
              <a:rPr lang="en-US" sz="1050" b="1" kern="0" spc="120" dirty="0">
                <a:solidFill>
                  <a:srgbClr val="22C3A6"/>
                </a:solidFill>
                <a:latin typeface="Calibri" pitchFamily="34" charset="0"/>
                <a:ea typeface="Calibri" pitchFamily="34" charset="-122"/>
                <a:cs typeface="Calibri" pitchFamily="34" charset="-120"/>
              </a:rPr>
              <a:t>DASHBOARD GOAL</a:t>
            </a:r>
            <a:endParaRPr lang="en-US" sz="1050" dirty="0"/>
          </a:p>
        </p:txBody>
      </p:sp>
      <p:sp>
        <p:nvSpPr>
          <p:cNvPr id="7" name="Text 5"/>
          <p:cNvSpPr/>
          <p:nvPr/>
        </p:nvSpPr>
        <p:spPr>
          <a:xfrm>
            <a:off x="868680" y="2267712"/>
            <a:ext cx="10454335" cy="73152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Provide decision makers with a high-level view of the population's overall health status and highlight the most important health indicators.</a:t>
            </a:r>
            <a:endParaRPr lang="en-US" sz="1350" dirty="0"/>
          </a:p>
        </p:txBody>
      </p:sp>
      <p:sp>
        <p:nvSpPr>
          <p:cNvPr id="8" name="Text 6"/>
          <p:cNvSpPr/>
          <p:nvPr/>
        </p:nvSpPr>
        <p:spPr>
          <a:xfrm>
            <a:off x="548640" y="3337560"/>
            <a:ext cx="5486400" cy="320040"/>
          </a:xfrm>
          <a:prstGeom prst="rect">
            <a:avLst/>
          </a:prstGeom>
          <a:noFill/>
          <a:ln/>
        </p:spPr>
        <p:txBody>
          <a:bodyPr wrap="square" lIns="0" tIns="0" rIns="0" bIns="0" rtlCol="0" anchor="ctr"/>
          <a:lstStyle/>
          <a:p>
            <a:pPr marL="0" indent="0">
              <a:buNone/>
            </a:pPr>
            <a:r>
              <a:rPr lang="en-US" sz="1200" b="1" kern="0" spc="100" dirty="0">
                <a:solidFill>
                  <a:srgbClr val="12283F"/>
                </a:solidFill>
                <a:latin typeface="Calibri" pitchFamily="34" charset="0"/>
                <a:ea typeface="Calibri" pitchFamily="34" charset="-122"/>
                <a:cs typeface="Calibri" pitchFamily="34" charset="-120"/>
              </a:rPr>
              <a:t>WHO USES THIS DASHBOARD</a:t>
            </a:r>
            <a:endParaRPr lang="en-US" sz="1200" dirty="0"/>
          </a:p>
        </p:txBody>
      </p:sp>
      <p:sp>
        <p:nvSpPr>
          <p:cNvPr id="9" name="Shape 7"/>
          <p:cNvSpPr/>
          <p:nvPr/>
        </p:nvSpPr>
        <p:spPr>
          <a:xfrm>
            <a:off x="548640"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0" name="Shape 8"/>
          <p:cNvSpPr/>
          <p:nvPr/>
        </p:nvSpPr>
        <p:spPr>
          <a:xfrm>
            <a:off x="1622260" y="4069080"/>
            <a:ext cx="420624" cy="420624"/>
          </a:xfrm>
          <a:prstGeom prst="ellipse">
            <a:avLst/>
          </a:prstGeom>
          <a:solidFill>
            <a:srgbClr val="1C7293"/>
          </a:solidFill>
          <a:ln/>
        </p:spPr>
        <p:txBody>
          <a:bodyPr/>
          <a:lstStyle/>
          <a:p>
            <a:endParaRPr lang="en-US"/>
          </a:p>
        </p:txBody>
      </p:sp>
      <p:sp>
        <p:nvSpPr>
          <p:cNvPr id="11" name="Text 9"/>
          <p:cNvSpPr/>
          <p:nvPr/>
        </p:nvSpPr>
        <p:spPr>
          <a:xfrm>
            <a:off x="1622260"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85800"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Healthcare Managers</a:t>
            </a:r>
            <a:endParaRPr lang="en-US" sz="1250" dirty="0"/>
          </a:p>
        </p:txBody>
      </p:sp>
      <p:sp>
        <p:nvSpPr>
          <p:cNvPr id="13" name="Shape 11"/>
          <p:cNvSpPr/>
          <p:nvPr/>
        </p:nvSpPr>
        <p:spPr>
          <a:xfrm>
            <a:off x="3390824"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4" name="Shape 12"/>
          <p:cNvSpPr/>
          <p:nvPr/>
        </p:nvSpPr>
        <p:spPr>
          <a:xfrm>
            <a:off x="4464444" y="4069080"/>
            <a:ext cx="420624" cy="420624"/>
          </a:xfrm>
          <a:prstGeom prst="ellipse">
            <a:avLst/>
          </a:prstGeom>
          <a:solidFill>
            <a:srgbClr val="1C7293"/>
          </a:solidFill>
          <a:ln/>
        </p:spPr>
        <p:txBody>
          <a:bodyPr/>
          <a:lstStyle/>
          <a:p>
            <a:endParaRPr lang="en-US"/>
          </a:p>
        </p:txBody>
      </p:sp>
      <p:sp>
        <p:nvSpPr>
          <p:cNvPr id="15" name="Text 13"/>
          <p:cNvSpPr/>
          <p:nvPr/>
        </p:nvSpPr>
        <p:spPr>
          <a:xfrm>
            <a:off x="4464444"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3527984"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Public Health Decision Makers</a:t>
            </a:r>
            <a:endParaRPr lang="en-US" sz="1250" dirty="0"/>
          </a:p>
        </p:txBody>
      </p:sp>
      <p:sp>
        <p:nvSpPr>
          <p:cNvPr id="17" name="Shape 15"/>
          <p:cNvSpPr/>
          <p:nvPr/>
        </p:nvSpPr>
        <p:spPr>
          <a:xfrm>
            <a:off x="6233008"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8" name="Shape 16"/>
          <p:cNvSpPr/>
          <p:nvPr/>
        </p:nvSpPr>
        <p:spPr>
          <a:xfrm>
            <a:off x="7306628" y="4069080"/>
            <a:ext cx="420624" cy="420624"/>
          </a:xfrm>
          <a:prstGeom prst="ellipse">
            <a:avLst/>
          </a:prstGeom>
          <a:solidFill>
            <a:srgbClr val="1C7293"/>
          </a:solidFill>
          <a:ln/>
        </p:spPr>
        <p:txBody>
          <a:bodyPr/>
          <a:lstStyle/>
          <a:p>
            <a:endParaRPr lang="en-US"/>
          </a:p>
        </p:txBody>
      </p:sp>
      <p:sp>
        <p:nvSpPr>
          <p:cNvPr id="19" name="Text 17"/>
          <p:cNvSpPr/>
          <p:nvPr/>
        </p:nvSpPr>
        <p:spPr>
          <a:xfrm>
            <a:off x="7306628"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370168"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 Program Coordinators</a:t>
            </a:r>
            <a:endParaRPr lang="en-US" sz="1250" dirty="0"/>
          </a:p>
        </p:txBody>
      </p:sp>
      <p:sp>
        <p:nvSpPr>
          <p:cNvPr id="21" name="Shape 19"/>
          <p:cNvSpPr/>
          <p:nvPr/>
        </p:nvSpPr>
        <p:spPr>
          <a:xfrm>
            <a:off x="9075191"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22" name="Shape 20"/>
          <p:cNvSpPr/>
          <p:nvPr/>
        </p:nvSpPr>
        <p:spPr>
          <a:xfrm>
            <a:off x="10148811" y="4069080"/>
            <a:ext cx="420624" cy="420624"/>
          </a:xfrm>
          <a:prstGeom prst="ellipse">
            <a:avLst/>
          </a:prstGeom>
          <a:solidFill>
            <a:srgbClr val="1C7293"/>
          </a:solidFill>
          <a:ln/>
        </p:spPr>
        <p:txBody>
          <a:bodyPr/>
          <a:lstStyle/>
          <a:p>
            <a:endParaRPr lang="en-US"/>
          </a:p>
        </p:txBody>
      </p:sp>
      <p:sp>
        <p:nvSpPr>
          <p:cNvPr id="23" name="Text 21"/>
          <p:cNvSpPr/>
          <p:nvPr/>
        </p:nvSpPr>
        <p:spPr>
          <a:xfrm>
            <a:off x="10148811"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212351"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Senior Management</a:t>
            </a:r>
            <a:endParaRPr lang="en-US" sz="12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Health Overview Dashboard</a:t>
            </a:r>
            <a:endParaRPr lang="en-US" sz="900" dirty="0"/>
          </a:p>
        </p:txBody>
      </p:sp>
      <p:sp>
        <p:nvSpPr>
          <p:cNvPr id="26" name="Text 24"/>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15 / 45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22C3A6"/>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01 — EXCEL</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Key Performance Indicators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The headline numbers this dashboard puts front and center, and why each one matters.</a:t>
            </a:r>
            <a:endParaRPr lang="en-US" sz="1300" dirty="0"/>
          </a:p>
        </p:txBody>
      </p:sp>
      <p:sp>
        <p:nvSpPr>
          <p:cNvPr id="6" name="Shape 4"/>
          <p:cNvSpPr/>
          <p:nvPr/>
        </p:nvSpPr>
        <p:spPr>
          <a:xfrm>
            <a:off x="548640"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7" name="Text 5"/>
          <p:cNvSpPr/>
          <p:nvPr/>
        </p:nvSpPr>
        <p:spPr>
          <a:xfrm>
            <a:off x="658368"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4,155</a:t>
            </a:r>
            <a:endParaRPr lang="en-US" sz="2100" dirty="0"/>
          </a:p>
        </p:txBody>
      </p:sp>
      <p:sp>
        <p:nvSpPr>
          <p:cNvPr id="8" name="Shape 6"/>
          <p:cNvSpPr/>
          <p:nvPr/>
        </p:nvSpPr>
        <p:spPr>
          <a:xfrm>
            <a:off x="822960" y="3474720"/>
            <a:ext cx="1465417" cy="0"/>
          </a:xfrm>
          <a:prstGeom prst="line">
            <a:avLst/>
          </a:prstGeom>
          <a:noFill/>
          <a:ln w="12700">
            <a:solidFill>
              <a:srgbClr val="D7E4EC"/>
            </a:solidFill>
            <a:prstDash val="solid"/>
          </a:ln>
        </p:spPr>
        <p:txBody>
          <a:bodyPr/>
          <a:lstStyle/>
          <a:p>
            <a:endParaRPr lang="en-US"/>
          </a:p>
        </p:txBody>
      </p:sp>
      <p:sp>
        <p:nvSpPr>
          <p:cNvPr id="9" name="Text 7"/>
          <p:cNvSpPr/>
          <p:nvPr/>
        </p:nvSpPr>
        <p:spPr>
          <a:xfrm>
            <a:off x="685800"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Total Number of People</a:t>
            </a:r>
            <a:endParaRPr lang="en-US" sz="1150" dirty="0"/>
          </a:p>
        </p:txBody>
      </p:sp>
      <p:sp>
        <p:nvSpPr>
          <p:cNvPr id="10" name="Text 8"/>
          <p:cNvSpPr/>
          <p:nvPr/>
        </p:nvSpPr>
        <p:spPr>
          <a:xfrm>
            <a:off x="685800"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Shows the size of the analyzed population</a:t>
            </a:r>
            <a:endParaRPr lang="en-US" sz="1000" dirty="0"/>
          </a:p>
        </p:txBody>
      </p:sp>
      <p:sp>
        <p:nvSpPr>
          <p:cNvPr id="11" name="Shape 9"/>
          <p:cNvSpPr/>
          <p:nvPr/>
        </p:nvSpPr>
        <p:spPr>
          <a:xfrm>
            <a:off x="2818729"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12" name="Text 10"/>
          <p:cNvSpPr/>
          <p:nvPr/>
        </p:nvSpPr>
        <p:spPr>
          <a:xfrm>
            <a:off x="292845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27.03 kg/m²</a:t>
            </a:r>
            <a:endParaRPr lang="en-US" sz="2100" dirty="0"/>
          </a:p>
        </p:txBody>
      </p:sp>
      <p:sp>
        <p:nvSpPr>
          <p:cNvPr id="13" name="Shape 11"/>
          <p:cNvSpPr/>
          <p:nvPr/>
        </p:nvSpPr>
        <p:spPr>
          <a:xfrm>
            <a:off x="3093049" y="3474720"/>
            <a:ext cx="1465417" cy="0"/>
          </a:xfrm>
          <a:prstGeom prst="line">
            <a:avLst/>
          </a:prstGeom>
          <a:noFill/>
          <a:ln w="12700">
            <a:solidFill>
              <a:srgbClr val="D7E4EC"/>
            </a:solidFill>
            <a:prstDash val="solid"/>
          </a:ln>
        </p:spPr>
        <p:txBody>
          <a:bodyPr/>
          <a:lstStyle/>
          <a:p>
            <a:endParaRPr lang="en-US"/>
          </a:p>
        </p:txBody>
      </p:sp>
      <p:sp>
        <p:nvSpPr>
          <p:cNvPr id="14" name="Text 12"/>
          <p:cNvSpPr/>
          <p:nvPr/>
        </p:nvSpPr>
        <p:spPr>
          <a:xfrm>
            <a:off x="295588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BMI</a:t>
            </a:r>
            <a:endParaRPr lang="en-US" sz="1150" dirty="0"/>
          </a:p>
        </p:txBody>
      </p:sp>
      <p:sp>
        <p:nvSpPr>
          <p:cNvPr id="15" name="Text 13"/>
          <p:cNvSpPr/>
          <p:nvPr/>
        </p:nvSpPr>
        <p:spPr>
          <a:xfrm>
            <a:off x="295588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overall BMI level</a:t>
            </a:r>
            <a:endParaRPr lang="en-US" sz="1000" dirty="0"/>
          </a:p>
        </p:txBody>
      </p:sp>
      <p:sp>
        <p:nvSpPr>
          <p:cNvPr id="16" name="Shape 14"/>
          <p:cNvSpPr/>
          <p:nvPr/>
        </p:nvSpPr>
        <p:spPr>
          <a:xfrm>
            <a:off x="5088819"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17" name="Text 15"/>
          <p:cNvSpPr/>
          <p:nvPr/>
        </p:nvSpPr>
        <p:spPr>
          <a:xfrm>
            <a:off x="519854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109.01 mmHg</a:t>
            </a:r>
            <a:endParaRPr lang="en-US" sz="2100" dirty="0"/>
          </a:p>
        </p:txBody>
      </p:sp>
      <p:sp>
        <p:nvSpPr>
          <p:cNvPr id="18" name="Shape 16"/>
          <p:cNvSpPr/>
          <p:nvPr/>
        </p:nvSpPr>
        <p:spPr>
          <a:xfrm>
            <a:off x="5363139" y="3474720"/>
            <a:ext cx="1465417" cy="0"/>
          </a:xfrm>
          <a:prstGeom prst="line">
            <a:avLst/>
          </a:prstGeom>
          <a:noFill/>
          <a:ln w="12700">
            <a:solidFill>
              <a:srgbClr val="D7E4EC"/>
            </a:solidFill>
            <a:prstDash val="solid"/>
          </a:ln>
        </p:spPr>
        <p:txBody>
          <a:bodyPr/>
          <a:lstStyle/>
          <a:p>
            <a:endParaRPr lang="en-US"/>
          </a:p>
        </p:txBody>
      </p:sp>
      <p:sp>
        <p:nvSpPr>
          <p:cNvPr id="19" name="Text 17"/>
          <p:cNvSpPr/>
          <p:nvPr/>
        </p:nvSpPr>
        <p:spPr>
          <a:xfrm>
            <a:off x="522597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Systolic BP</a:t>
            </a:r>
            <a:endParaRPr lang="en-US" sz="1150" dirty="0"/>
          </a:p>
        </p:txBody>
      </p:sp>
      <p:sp>
        <p:nvSpPr>
          <p:cNvPr id="20" name="Text 18"/>
          <p:cNvSpPr/>
          <p:nvPr/>
        </p:nvSpPr>
        <p:spPr>
          <a:xfrm>
            <a:off x="522597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upper blood pressure</a:t>
            </a:r>
            <a:endParaRPr lang="en-US" sz="1000" dirty="0"/>
          </a:p>
        </p:txBody>
      </p:sp>
      <p:sp>
        <p:nvSpPr>
          <p:cNvPr id="21" name="Shape 19"/>
          <p:cNvSpPr/>
          <p:nvPr/>
        </p:nvSpPr>
        <p:spPr>
          <a:xfrm>
            <a:off x="7358908"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22" name="Text 20"/>
          <p:cNvSpPr/>
          <p:nvPr/>
        </p:nvSpPr>
        <p:spPr>
          <a:xfrm>
            <a:off x="746863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81.80 mmHg</a:t>
            </a:r>
            <a:endParaRPr lang="en-US" sz="2100" dirty="0"/>
          </a:p>
        </p:txBody>
      </p:sp>
      <p:sp>
        <p:nvSpPr>
          <p:cNvPr id="23" name="Shape 21"/>
          <p:cNvSpPr/>
          <p:nvPr/>
        </p:nvSpPr>
        <p:spPr>
          <a:xfrm>
            <a:off x="7633228" y="3474720"/>
            <a:ext cx="1465417" cy="0"/>
          </a:xfrm>
          <a:prstGeom prst="line">
            <a:avLst/>
          </a:prstGeom>
          <a:noFill/>
          <a:ln w="12700">
            <a:solidFill>
              <a:srgbClr val="D7E4EC"/>
            </a:solidFill>
            <a:prstDash val="solid"/>
          </a:ln>
        </p:spPr>
        <p:txBody>
          <a:bodyPr/>
          <a:lstStyle/>
          <a:p>
            <a:endParaRPr lang="en-US"/>
          </a:p>
        </p:txBody>
      </p:sp>
      <p:sp>
        <p:nvSpPr>
          <p:cNvPr id="24" name="Text 22"/>
          <p:cNvSpPr/>
          <p:nvPr/>
        </p:nvSpPr>
        <p:spPr>
          <a:xfrm>
            <a:off x="749606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Diastolic BP</a:t>
            </a:r>
            <a:endParaRPr lang="en-US" sz="1150" dirty="0"/>
          </a:p>
        </p:txBody>
      </p:sp>
      <p:sp>
        <p:nvSpPr>
          <p:cNvPr id="25" name="Text 23"/>
          <p:cNvSpPr/>
          <p:nvPr/>
        </p:nvSpPr>
        <p:spPr>
          <a:xfrm>
            <a:off x="749606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lower blood pressure</a:t>
            </a:r>
            <a:endParaRPr lang="en-US" sz="1000" dirty="0"/>
          </a:p>
        </p:txBody>
      </p:sp>
      <p:sp>
        <p:nvSpPr>
          <p:cNvPr id="26" name="Shape 24"/>
          <p:cNvSpPr/>
          <p:nvPr/>
        </p:nvSpPr>
        <p:spPr>
          <a:xfrm>
            <a:off x="9628998"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27" name="Text 25"/>
          <p:cNvSpPr/>
          <p:nvPr/>
        </p:nvSpPr>
        <p:spPr>
          <a:xfrm>
            <a:off x="973872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193.19 mg/dL</a:t>
            </a:r>
            <a:endParaRPr lang="en-US" sz="2100" dirty="0"/>
          </a:p>
        </p:txBody>
      </p:sp>
      <p:sp>
        <p:nvSpPr>
          <p:cNvPr id="28" name="Shape 26"/>
          <p:cNvSpPr/>
          <p:nvPr/>
        </p:nvSpPr>
        <p:spPr>
          <a:xfrm>
            <a:off x="9903318" y="3474720"/>
            <a:ext cx="1465417" cy="0"/>
          </a:xfrm>
          <a:prstGeom prst="line">
            <a:avLst/>
          </a:prstGeom>
          <a:noFill/>
          <a:ln w="12700">
            <a:solidFill>
              <a:srgbClr val="D7E4EC"/>
            </a:solidFill>
            <a:prstDash val="solid"/>
          </a:ln>
        </p:spPr>
        <p:txBody>
          <a:bodyPr/>
          <a:lstStyle/>
          <a:p>
            <a:endParaRPr lang="en-US"/>
          </a:p>
        </p:txBody>
      </p:sp>
      <p:sp>
        <p:nvSpPr>
          <p:cNvPr id="29" name="Text 27"/>
          <p:cNvSpPr/>
          <p:nvPr/>
        </p:nvSpPr>
        <p:spPr>
          <a:xfrm>
            <a:off x="976615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Total Cholesterol</a:t>
            </a:r>
            <a:endParaRPr lang="en-US" sz="1150" dirty="0"/>
          </a:p>
        </p:txBody>
      </p:sp>
      <p:sp>
        <p:nvSpPr>
          <p:cNvPr id="30" name="Text 28"/>
          <p:cNvSpPr/>
          <p:nvPr/>
        </p:nvSpPr>
        <p:spPr>
          <a:xfrm>
            <a:off x="976615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overall cholesterol level</a:t>
            </a:r>
            <a:endParaRPr lang="en-US" sz="1000" dirty="0"/>
          </a:p>
        </p:txBody>
      </p:sp>
      <p:sp>
        <p:nvSpPr>
          <p:cNvPr id="31" name="Text 2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Health Overview Dashboard</a:t>
            </a:r>
            <a:endParaRPr lang="en-US" sz="900" dirty="0"/>
          </a:p>
        </p:txBody>
      </p:sp>
      <p:sp>
        <p:nvSpPr>
          <p:cNvPr id="32" name="Text 3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16 / 45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22C3A6"/>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01 — EXCEL</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Reading the Charts — Part 1</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What each visual on this dashboard shows and why it's there.</a:t>
            </a:r>
            <a:endParaRPr lang="en-US" sz="1300" dirty="0"/>
          </a:p>
        </p:txBody>
      </p:sp>
      <p:sp>
        <p:nvSpPr>
          <p:cNvPr id="6" name="Shape 4"/>
          <p:cNvSpPr/>
          <p:nvPr/>
        </p:nvSpPr>
        <p:spPr>
          <a:xfrm>
            <a:off x="548640"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7" name="Shape 5"/>
          <p:cNvSpPr/>
          <p:nvPr/>
        </p:nvSpPr>
        <p:spPr>
          <a:xfrm>
            <a:off x="777240" y="2377440"/>
            <a:ext cx="365760" cy="365760"/>
          </a:xfrm>
          <a:prstGeom prst="ellipse">
            <a:avLst/>
          </a:prstGeom>
          <a:solidFill>
            <a:srgbClr val="12283F"/>
          </a:solidFill>
          <a:ln/>
        </p:spPr>
        <p:txBody>
          <a:bodyPr/>
          <a:lstStyle/>
          <a:p>
            <a:endParaRPr lang="en-US"/>
          </a:p>
        </p:txBody>
      </p:sp>
      <p:sp>
        <p:nvSpPr>
          <p:cNvPr id="8" name="Text 6"/>
          <p:cNvSpPr/>
          <p:nvPr/>
        </p:nvSpPr>
        <p:spPr>
          <a:xfrm>
            <a:off x="777240"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25880"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1. Smoking Status</a:t>
            </a:r>
            <a:endParaRPr lang="en-US" sz="1250" dirty="0"/>
          </a:p>
        </p:txBody>
      </p:sp>
      <p:sp>
        <p:nvSpPr>
          <p:cNvPr id="10" name="Text 8"/>
          <p:cNvSpPr/>
          <p:nvPr/>
        </p:nvSpPr>
        <p:spPr>
          <a:xfrm>
            <a:off x="777240"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split of smokers (30%) vs. non-smokers (70%) across the population.</a:t>
            </a:r>
            <a:endParaRPr lang="en-US" sz="1050" dirty="0"/>
          </a:p>
        </p:txBody>
      </p:sp>
      <p:sp>
        <p:nvSpPr>
          <p:cNvPr id="11" name="Shape 9"/>
          <p:cNvSpPr/>
          <p:nvPr/>
        </p:nvSpPr>
        <p:spPr>
          <a:xfrm>
            <a:off x="4353458"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2" name="Shape 10"/>
          <p:cNvSpPr/>
          <p:nvPr/>
        </p:nvSpPr>
        <p:spPr>
          <a:xfrm>
            <a:off x="4582058" y="2377440"/>
            <a:ext cx="365760" cy="365760"/>
          </a:xfrm>
          <a:prstGeom prst="ellipse">
            <a:avLst/>
          </a:prstGeom>
          <a:solidFill>
            <a:srgbClr val="12283F"/>
          </a:solidFill>
          <a:ln/>
        </p:spPr>
        <p:txBody>
          <a:bodyPr/>
          <a:lstStyle/>
          <a:p>
            <a:endParaRPr lang="en-US"/>
          </a:p>
        </p:txBody>
      </p:sp>
      <p:sp>
        <p:nvSpPr>
          <p:cNvPr id="13" name="Text 11"/>
          <p:cNvSpPr/>
          <p:nvPr/>
        </p:nvSpPr>
        <p:spPr>
          <a:xfrm>
            <a:off x="4582058"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130698"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2. Physical Activity Level</a:t>
            </a:r>
            <a:endParaRPr lang="en-US" sz="1250" dirty="0"/>
          </a:p>
        </p:txBody>
      </p:sp>
      <p:sp>
        <p:nvSpPr>
          <p:cNvPr id="15" name="Text 13"/>
          <p:cNvSpPr/>
          <p:nvPr/>
        </p:nvSpPr>
        <p:spPr>
          <a:xfrm>
            <a:off x="4582058"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comparing people across Low, Moderate, and High activity levels.</a:t>
            </a:r>
            <a:endParaRPr lang="en-US" sz="1050" dirty="0"/>
          </a:p>
        </p:txBody>
      </p:sp>
      <p:sp>
        <p:nvSpPr>
          <p:cNvPr id="16" name="Shape 14"/>
          <p:cNvSpPr/>
          <p:nvPr/>
        </p:nvSpPr>
        <p:spPr>
          <a:xfrm>
            <a:off x="8158277"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7" name="Shape 15"/>
          <p:cNvSpPr/>
          <p:nvPr/>
        </p:nvSpPr>
        <p:spPr>
          <a:xfrm>
            <a:off x="8386877" y="2377440"/>
            <a:ext cx="365760" cy="365760"/>
          </a:xfrm>
          <a:prstGeom prst="ellipse">
            <a:avLst/>
          </a:prstGeom>
          <a:solidFill>
            <a:srgbClr val="12283F"/>
          </a:solidFill>
          <a:ln/>
        </p:spPr>
        <p:txBody>
          <a:bodyPr/>
          <a:lstStyle/>
          <a:p>
            <a:endParaRPr lang="en-US"/>
          </a:p>
        </p:txBody>
      </p:sp>
      <p:sp>
        <p:nvSpPr>
          <p:cNvPr id="18" name="Text 16"/>
          <p:cNvSpPr/>
          <p:nvPr/>
        </p:nvSpPr>
        <p:spPr>
          <a:xfrm>
            <a:off x="8386877"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935517"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3. BMI Category Distribution</a:t>
            </a:r>
            <a:endParaRPr lang="en-US" sz="1250" dirty="0"/>
          </a:p>
        </p:txBody>
      </p:sp>
      <p:sp>
        <p:nvSpPr>
          <p:cNvPr id="20" name="Text 18"/>
          <p:cNvSpPr/>
          <p:nvPr/>
        </p:nvSpPr>
        <p:spPr>
          <a:xfrm>
            <a:off x="8386877"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Counts of people across Underweight, Normal, Overweight, and Obese categories.</a:t>
            </a:r>
            <a:endParaRPr lang="en-US" sz="1050" dirty="0"/>
          </a:p>
        </p:txBody>
      </p:sp>
      <p:sp>
        <p:nvSpPr>
          <p:cNvPr id="21" name="Shape 19"/>
          <p:cNvSpPr/>
          <p:nvPr/>
        </p:nvSpPr>
        <p:spPr>
          <a:xfrm>
            <a:off x="548640"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2" name="Shape 20"/>
          <p:cNvSpPr/>
          <p:nvPr/>
        </p:nvSpPr>
        <p:spPr>
          <a:xfrm>
            <a:off x="777240" y="4526280"/>
            <a:ext cx="365760" cy="365760"/>
          </a:xfrm>
          <a:prstGeom prst="ellipse">
            <a:avLst/>
          </a:prstGeom>
          <a:solidFill>
            <a:srgbClr val="12283F"/>
          </a:solidFill>
          <a:ln/>
        </p:spPr>
        <p:txBody>
          <a:bodyPr/>
          <a:lstStyle/>
          <a:p>
            <a:endParaRPr lang="en-US"/>
          </a:p>
        </p:txBody>
      </p:sp>
      <p:sp>
        <p:nvSpPr>
          <p:cNvPr id="23" name="Text 21"/>
          <p:cNvSpPr/>
          <p:nvPr/>
        </p:nvSpPr>
        <p:spPr>
          <a:xfrm>
            <a:off x="777240"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325880"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4. BMI % Distribution</a:t>
            </a:r>
            <a:endParaRPr lang="en-US" sz="1250" dirty="0"/>
          </a:p>
        </p:txBody>
      </p:sp>
      <p:sp>
        <p:nvSpPr>
          <p:cNvPr id="25" name="Text 23"/>
          <p:cNvSpPr/>
          <p:nvPr/>
        </p:nvSpPr>
        <p:spPr>
          <a:xfrm>
            <a:off x="777240"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showing the share of Normal, Overweight, and Obese classifications.</a:t>
            </a:r>
            <a:endParaRPr lang="en-US" sz="1050" dirty="0"/>
          </a:p>
        </p:txBody>
      </p:sp>
      <p:sp>
        <p:nvSpPr>
          <p:cNvPr id="26" name="Shape 24"/>
          <p:cNvSpPr/>
          <p:nvPr/>
        </p:nvSpPr>
        <p:spPr>
          <a:xfrm>
            <a:off x="4353458"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7" name="Shape 25"/>
          <p:cNvSpPr/>
          <p:nvPr/>
        </p:nvSpPr>
        <p:spPr>
          <a:xfrm>
            <a:off x="4582058" y="4526280"/>
            <a:ext cx="365760" cy="365760"/>
          </a:xfrm>
          <a:prstGeom prst="ellipse">
            <a:avLst/>
          </a:prstGeom>
          <a:solidFill>
            <a:srgbClr val="12283F"/>
          </a:solidFill>
          <a:ln/>
        </p:spPr>
        <p:txBody>
          <a:bodyPr/>
          <a:lstStyle/>
          <a:p>
            <a:endParaRPr lang="en-US"/>
          </a:p>
        </p:txBody>
      </p:sp>
      <p:sp>
        <p:nvSpPr>
          <p:cNvPr id="28" name="Text 26"/>
          <p:cNvSpPr/>
          <p:nvPr/>
        </p:nvSpPr>
        <p:spPr>
          <a:xfrm>
            <a:off x="4582058"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5130698"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5. Total Cholesterol Category</a:t>
            </a:r>
            <a:endParaRPr lang="en-US" sz="1250" dirty="0"/>
          </a:p>
        </p:txBody>
      </p:sp>
      <p:sp>
        <p:nvSpPr>
          <p:cNvPr id="30" name="Text 28"/>
          <p:cNvSpPr/>
          <p:nvPr/>
        </p:nvSpPr>
        <p:spPr>
          <a:xfrm>
            <a:off x="4582058"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of Desirable, Borderline High, and High cholesterol groups.</a:t>
            </a:r>
            <a:endParaRPr lang="en-US" sz="1050" dirty="0"/>
          </a:p>
        </p:txBody>
      </p:sp>
      <p:sp>
        <p:nvSpPr>
          <p:cNvPr id="31" name="Shape 29"/>
          <p:cNvSpPr/>
          <p:nvPr/>
        </p:nvSpPr>
        <p:spPr>
          <a:xfrm>
            <a:off x="8158277"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32" name="Shape 30"/>
          <p:cNvSpPr/>
          <p:nvPr/>
        </p:nvSpPr>
        <p:spPr>
          <a:xfrm>
            <a:off x="8386877" y="4526280"/>
            <a:ext cx="365760" cy="365760"/>
          </a:xfrm>
          <a:prstGeom prst="ellipse">
            <a:avLst/>
          </a:prstGeom>
          <a:solidFill>
            <a:srgbClr val="12283F"/>
          </a:solidFill>
          <a:ln/>
        </p:spPr>
        <p:txBody>
          <a:bodyPr/>
          <a:lstStyle/>
          <a:p>
            <a:endParaRPr lang="en-US"/>
          </a:p>
        </p:txBody>
      </p:sp>
      <p:sp>
        <p:nvSpPr>
          <p:cNvPr id="33" name="Text 31"/>
          <p:cNvSpPr/>
          <p:nvPr/>
        </p:nvSpPr>
        <p:spPr>
          <a:xfrm>
            <a:off x="8386877"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8935517"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6. Systolic BP Category</a:t>
            </a:r>
            <a:endParaRPr lang="en-US" sz="1250" dirty="0"/>
          </a:p>
        </p:txBody>
      </p:sp>
      <p:sp>
        <p:nvSpPr>
          <p:cNvPr id="35" name="Text 33"/>
          <p:cNvSpPr/>
          <p:nvPr/>
        </p:nvSpPr>
        <p:spPr>
          <a:xfrm>
            <a:off x="8386877"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grouping people by Normal, Elevated, and High systolic pressure.</a:t>
            </a:r>
            <a:endParaRPr lang="en-US" sz="1050" dirty="0"/>
          </a:p>
        </p:txBody>
      </p:sp>
      <p:sp>
        <p:nvSpPr>
          <p:cNvPr id="36" name="Text 3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Health Overview Dashboard</a:t>
            </a:r>
            <a:endParaRPr lang="en-US" sz="900" dirty="0"/>
          </a:p>
        </p:txBody>
      </p:sp>
      <p:sp>
        <p:nvSpPr>
          <p:cNvPr id="37" name="Text 35"/>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17 / 45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4480560" cy="310896"/>
          </a:xfrm>
          <a:prstGeom prst="roundRect">
            <a:avLst>
              <a:gd name="adj" fmla="val 50000"/>
            </a:avLst>
          </a:prstGeom>
          <a:solidFill>
            <a:srgbClr val="22C3A6"/>
          </a:solidFill>
          <a:ln/>
        </p:spPr>
        <p:txBody>
          <a:bodyPr/>
          <a:lstStyle/>
          <a:p>
            <a:endParaRPr lang="en-US"/>
          </a:p>
        </p:txBody>
      </p:sp>
      <p:sp>
        <p:nvSpPr>
          <p:cNvPr id="3" name="Text 1"/>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01 — EXCEL</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Reading the Charts — Part 2</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What each visual on this dashboard shows and why it's there.</a:t>
            </a:r>
            <a:endParaRPr lang="en-US" sz="1300" dirty="0"/>
          </a:p>
        </p:txBody>
      </p:sp>
      <p:sp>
        <p:nvSpPr>
          <p:cNvPr id="6" name="Shape 4"/>
          <p:cNvSpPr/>
          <p:nvPr/>
        </p:nvSpPr>
        <p:spPr>
          <a:xfrm>
            <a:off x="548640"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7" name="Shape 5"/>
          <p:cNvSpPr/>
          <p:nvPr/>
        </p:nvSpPr>
        <p:spPr>
          <a:xfrm>
            <a:off x="777240" y="2377440"/>
            <a:ext cx="365760" cy="365760"/>
          </a:xfrm>
          <a:prstGeom prst="ellipse">
            <a:avLst/>
          </a:prstGeom>
          <a:solidFill>
            <a:srgbClr val="12283F"/>
          </a:solidFill>
          <a:ln/>
        </p:spPr>
        <p:txBody>
          <a:bodyPr/>
          <a:lstStyle/>
          <a:p>
            <a:endParaRPr lang="en-US"/>
          </a:p>
        </p:txBody>
      </p:sp>
      <p:sp>
        <p:nvSpPr>
          <p:cNvPr id="8" name="Text 6"/>
          <p:cNvSpPr/>
          <p:nvPr/>
        </p:nvSpPr>
        <p:spPr>
          <a:xfrm>
            <a:off x="777240"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25880"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7. Age Group Distribution</a:t>
            </a:r>
            <a:endParaRPr lang="en-US" sz="1250" dirty="0"/>
          </a:p>
        </p:txBody>
      </p:sp>
      <p:sp>
        <p:nvSpPr>
          <p:cNvPr id="10" name="Text 8"/>
          <p:cNvSpPr/>
          <p:nvPr/>
        </p:nvSpPr>
        <p:spPr>
          <a:xfrm>
            <a:off x="777240"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Population count across six age bands, from 18-29 up to 70+.</a:t>
            </a:r>
            <a:endParaRPr lang="en-US" sz="1050" dirty="0"/>
          </a:p>
        </p:txBody>
      </p:sp>
      <p:sp>
        <p:nvSpPr>
          <p:cNvPr id="11" name="Shape 9"/>
          <p:cNvSpPr/>
          <p:nvPr/>
        </p:nvSpPr>
        <p:spPr>
          <a:xfrm>
            <a:off x="4353458"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2" name="Shape 10"/>
          <p:cNvSpPr/>
          <p:nvPr/>
        </p:nvSpPr>
        <p:spPr>
          <a:xfrm>
            <a:off x="4582058" y="2377440"/>
            <a:ext cx="365760" cy="365760"/>
          </a:xfrm>
          <a:prstGeom prst="ellipse">
            <a:avLst/>
          </a:prstGeom>
          <a:solidFill>
            <a:srgbClr val="12283F"/>
          </a:solidFill>
          <a:ln/>
        </p:spPr>
        <p:txBody>
          <a:bodyPr/>
          <a:lstStyle/>
          <a:p>
            <a:endParaRPr lang="en-US"/>
          </a:p>
        </p:txBody>
      </p:sp>
      <p:sp>
        <p:nvSpPr>
          <p:cNvPr id="13" name="Text 11"/>
          <p:cNvSpPr/>
          <p:nvPr/>
        </p:nvSpPr>
        <p:spPr>
          <a:xfrm>
            <a:off x="4582058"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130698"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8. Average BMI by Activity Level</a:t>
            </a:r>
            <a:endParaRPr lang="en-US" sz="1250" dirty="0"/>
          </a:p>
        </p:txBody>
      </p:sp>
      <p:sp>
        <p:nvSpPr>
          <p:cNvPr id="15" name="Text 13"/>
          <p:cNvSpPr/>
          <p:nvPr/>
        </p:nvSpPr>
        <p:spPr>
          <a:xfrm>
            <a:off x="4582058"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Compares average BMI across Low, Moderate, and High activity groups.</a:t>
            </a:r>
            <a:endParaRPr lang="en-US" sz="1050" dirty="0"/>
          </a:p>
        </p:txBody>
      </p:sp>
      <p:sp>
        <p:nvSpPr>
          <p:cNvPr id="16" name="Shape 14"/>
          <p:cNvSpPr/>
          <p:nvPr/>
        </p:nvSpPr>
        <p:spPr>
          <a:xfrm>
            <a:off x="8158277"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7" name="Shape 15"/>
          <p:cNvSpPr/>
          <p:nvPr/>
        </p:nvSpPr>
        <p:spPr>
          <a:xfrm>
            <a:off x="8386877" y="2377440"/>
            <a:ext cx="365760" cy="365760"/>
          </a:xfrm>
          <a:prstGeom prst="ellipse">
            <a:avLst/>
          </a:prstGeom>
          <a:solidFill>
            <a:srgbClr val="12283F"/>
          </a:solidFill>
          <a:ln/>
        </p:spPr>
        <p:txBody>
          <a:bodyPr/>
          <a:lstStyle/>
          <a:p>
            <a:endParaRPr lang="en-US"/>
          </a:p>
        </p:txBody>
      </p:sp>
      <p:sp>
        <p:nvSpPr>
          <p:cNvPr id="18" name="Text 16"/>
          <p:cNvSpPr/>
          <p:nvPr/>
        </p:nvSpPr>
        <p:spPr>
          <a:xfrm>
            <a:off x="8386877"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935517"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9. Average BMI by Smoking Status</a:t>
            </a:r>
            <a:endParaRPr lang="en-US" sz="1250" dirty="0"/>
          </a:p>
        </p:txBody>
      </p:sp>
      <p:sp>
        <p:nvSpPr>
          <p:cNvPr id="20" name="Text 18"/>
          <p:cNvSpPr/>
          <p:nvPr/>
        </p:nvSpPr>
        <p:spPr>
          <a:xfrm>
            <a:off x="8386877"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Compares average BMI between smokers and non-smokers.</a:t>
            </a:r>
            <a:endParaRPr lang="en-US" sz="1050" dirty="0"/>
          </a:p>
        </p:txBody>
      </p:sp>
      <p:sp>
        <p:nvSpPr>
          <p:cNvPr id="21" name="Shape 19"/>
          <p:cNvSpPr/>
          <p:nvPr/>
        </p:nvSpPr>
        <p:spPr>
          <a:xfrm>
            <a:off x="548640"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2" name="Shape 20"/>
          <p:cNvSpPr/>
          <p:nvPr/>
        </p:nvSpPr>
        <p:spPr>
          <a:xfrm>
            <a:off x="777240" y="4526280"/>
            <a:ext cx="365760" cy="365760"/>
          </a:xfrm>
          <a:prstGeom prst="ellipse">
            <a:avLst/>
          </a:prstGeom>
          <a:solidFill>
            <a:srgbClr val="12283F"/>
          </a:solidFill>
          <a:ln/>
        </p:spPr>
        <p:txBody>
          <a:bodyPr/>
          <a:lstStyle/>
          <a:p>
            <a:endParaRPr lang="en-US"/>
          </a:p>
        </p:txBody>
      </p:sp>
      <p:sp>
        <p:nvSpPr>
          <p:cNvPr id="23" name="Text 21"/>
          <p:cNvSpPr/>
          <p:nvPr/>
        </p:nvSpPr>
        <p:spPr>
          <a:xfrm>
            <a:off x="777240"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325880"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10. Average Systolic BP by Age Group</a:t>
            </a:r>
            <a:endParaRPr lang="en-US" sz="1250" dirty="0"/>
          </a:p>
        </p:txBody>
      </p:sp>
      <p:sp>
        <p:nvSpPr>
          <p:cNvPr id="25" name="Text 23"/>
          <p:cNvSpPr/>
          <p:nvPr/>
        </p:nvSpPr>
        <p:spPr>
          <a:xfrm>
            <a:off x="777240"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Shows systolic pressure rising steadily as age increases.</a:t>
            </a:r>
            <a:endParaRPr lang="en-US" sz="1050" dirty="0"/>
          </a:p>
        </p:txBody>
      </p:sp>
      <p:sp>
        <p:nvSpPr>
          <p:cNvPr id="26" name="Shape 24"/>
          <p:cNvSpPr/>
          <p:nvPr/>
        </p:nvSpPr>
        <p:spPr>
          <a:xfrm>
            <a:off x="4353458"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7" name="Shape 25"/>
          <p:cNvSpPr/>
          <p:nvPr/>
        </p:nvSpPr>
        <p:spPr>
          <a:xfrm>
            <a:off x="4582058" y="4526280"/>
            <a:ext cx="365760" cy="365760"/>
          </a:xfrm>
          <a:prstGeom prst="ellipse">
            <a:avLst/>
          </a:prstGeom>
          <a:solidFill>
            <a:srgbClr val="12283F"/>
          </a:solidFill>
          <a:ln/>
        </p:spPr>
        <p:txBody>
          <a:bodyPr/>
          <a:lstStyle/>
          <a:p>
            <a:endParaRPr lang="en-US"/>
          </a:p>
        </p:txBody>
      </p:sp>
      <p:sp>
        <p:nvSpPr>
          <p:cNvPr id="28" name="Text 26"/>
          <p:cNvSpPr/>
          <p:nvPr/>
        </p:nvSpPr>
        <p:spPr>
          <a:xfrm>
            <a:off x="4582058"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5130698"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11. BMI Category by Physical Activity</a:t>
            </a:r>
            <a:endParaRPr lang="en-US" sz="1250" dirty="0"/>
          </a:p>
        </p:txBody>
      </p:sp>
      <p:sp>
        <p:nvSpPr>
          <p:cNvPr id="30" name="Text 28"/>
          <p:cNvSpPr/>
          <p:nvPr/>
        </p:nvSpPr>
        <p:spPr>
          <a:xfrm>
            <a:off x="4582058"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100% stacked view of BMI categories within each activity level.</a:t>
            </a:r>
            <a:endParaRPr lang="en-US" sz="1050" dirty="0"/>
          </a:p>
        </p:txBody>
      </p:sp>
      <p:sp>
        <p:nvSpPr>
          <p:cNvPr id="31" name="Shape 29"/>
          <p:cNvSpPr/>
          <p:nvPr/>
        </p:nvSpPr>
        <p:spPr>
          <a:xfrm>
            <a:off x="8158277"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32" name="Shape 30"/>
          <p:cNvSpPr/>
          <p:nvPr/>
        </p:nvSpPr>
        <p:spPr>
          <a:xfrm>
            <a:off x="8386877" y="4526280"/>
            <a:ext cx="365760" cy="365760"/>
          </a:xfrm>
          <a:prstGeom prst="ellipse">
            <a:avLst/>
          </a:prstGeom>
          <a:solidFill>
            <a:srgbClr val="12283F"/>
          </a:solidFill>
          <a:ln/>
        </p:spPr>
        <p:txBody>
          <a:bodyPr/>
          <a:lstStyle/>
          <a:p>
            <a:endParaRPr lang="en-US"/>
          </a:p>
        </p:txBody>
      </p:sp>
      <p:sp>
        <p:nvSpPr>
          <p:cNvPr id="33" name="Text 31"/>
          <p:cNvSpPr/>
          <p:nvPr/>
        </p:nvSpPr>
        <p:spPr>
          <a:xfrm>
            <a:off x="8386877"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8935517"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12. Physical Activity by BMI Category</a:t>
            </a:r>
            <a:endParaRPr lang="en-US" sz="1250" dirty="0"/>
          </a:p>
        </p:txBody>
      </p:sp>
      <p:sp>
        <p:nvSpPr>
          <p:cNvPr id="35" name="Text 33"/>
          <p:cNvSpPr/>
          <p:nvPr/>
        </p:nvSpPr>
        <p:spPr>
          <a:xfrm>
            <a:off x="8386877"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100% stacked view of activity levels within each BMI category.</a:t>
            </a:r>
            <a:endParaRPr lang="en-US" sz="1050" dirty="0"/>
          </a:p>
        </p:txBody>
      </p:sp>
      <p:sp>
        <p:nvSpPr>
          <p:cNvPr id="36" name="Text 3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Health Overview Dashboard</a:t>
            </a:r>
            <a:endParaRPr lang="en-US" sz="900" dirty="0"/>
          </a:p>
        </p:txBody>
      </p:sp>
      <p:sp>
        <p:nvSpPr>
          <p:cNvPr id="37" name="Text 35"/>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18 / 45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02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Business Questions Answered with SQL</a:t>
            </a:r>
            <a:endParaRPr lang="en-US" sz="3000" dirty="0"/>
          </a:p>
        </p:txBody>
      </p:sp>
      <p:sp>
        <p:nvSpPr>
          <p:cNvPr id="5" name="Shape 3"/>
          <p:cNvSpPr/>
          <p:nvPr/>
        </p:nvSpPr>
        <p:spPr>
          <a:xfrm>
            <a:off x="548640" y="2103120"/>
            <a:ext cx="11094415" cy="548640"/>
          </a:xfrm>
          <a:prstGeom prst="roundRect">
            <a:avLst>
              <a:gd name="adj" fmla="val 11667"/>
            </a:avLst>
          </a:prstGeom>
          <a:solidFill>
            <a:srgbClr val="EAF3F8"/>
          </a:solidFill>
          <a:ln/>
        </p:spPr>
        <p:txBody>
          <a:bodyPr/>
          <a:lstStyle/>
          <a:p>
            <a:endParaRPr lang="en-US"/>
          </a:p>
        </p:txBody>
      </p:sp>
      <p:sp>
        <p:nvSpPr>
          <p:cNvPr id="6" name="Text 4"/>
          <p:cNvSpPr/>
          <p:nvPr/>
        </p:nvSpPr>
        <p:spPr>
          <a:xfrm>
            <a:off x="685800" y="21031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1143000" y="2231136"/>
            <a:ext cx="868680" cy="292608"/>
          </a:xfrm>
          <a:prstGeom prst="roundRect">
            <a:avLst>
              <a:gd name="adj" fmla="val 50000"/>
            </a:avLst>
          </a:prstGeom>
          <a:solidFill>
            <a:srgbClr val="22A699"/>
          </a:solidFill>
          <a:ln/>
        </p:spPr>
        <p:txBody>
          <a:bodyPr/>
          <a:lstStyle/>
          <a:p>
            <a:endParaRPr lang="en-US"/>
          </a:p>
        </p:txBody>
      </p:sp>
      <p:sp>
        <p:nvSpPr>
          <p:cNvPr id="8" name="Text 6"/>
          <p:cNvSpPr/>
          <p:nvPr/>
        </p:nvSpPr>
        <p:spPr>
          <a:xfrm>
            <a:off x="1143000" y="22311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9" name="Text 7"/>
          <p:cNvSpPr/>
          <p:nvPr/>
        </p:nvSpPr>
        <p:spPr>
          <a:xfrm>
            <a:off x="2194560" y="21031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What are the minimum and maximum systolic blood pressure values?</a:t>
            </a:r>
            <a:endParaRPr lang="en-US" sz="1200" dirty="0"/>
          </a:p>
        </p:txBody>
      </p:sp>
      <p:sp>
        <p:nvSpPr>
          <p:cNvPr id="10" name="Shape 8"/>
          <p:cNvSpPr/>
          <p:nvPr/>
        </p:nvSpPr>
        <p:spPr>
          <a:xfrm>
            <a:off x="548640" y="2743200"/>
            <a:ext cx="11094415" cy="548640"/>
          </a:xfrm>
          <a:prstGeom prst="roundRect">
            <a:avLst>
              <a:gd name="adj" fmla="val 11667"/>
            </a:avLst>
          </a:prstGeom>
          <a:solidFill>
            <a:srgbClr val="FFFFFF"/>
          </a:solidFill>
          <a:ln/>
        </p:spPr>
        <p:txBody>
          <a:bodyPr/>
          <a:lstStyle/>
          <a:p>
            <a:endParaRPr lang="en-US"/>
          </a:p>
        </p:txBody>
      </p:sp>
      <p:sp>
        <p:nvSpPr>
          <p:cNvPr id="11" name="Text 9"/>
          <p:cNvSpPr/>
          <p:nvPr/>
        </p:nvSpPr>
        <p:spPr>
          <a:xfrm>
            <a:off x="685800" y="27432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1143000" y="2871216"/>
            <a:ext cx="868680" cy="292608"/>
          </a:xfrm>
          <a:prstGeom prst="roundRect">
            <a:avLst>
              <a:gd name="adj" fmla="val 50000"/>
            </a:avLst>
          </a:prstGeom>
          <a:solidFill>
            <a:srgbClr val="22A699"/>
          </a:solidFill>
          <a:ln/>
        </p:spPr>
        <p:txBody>
          <a:bodyPr/>
          <a:lstStyle/>
          <a:p>
            <a:endParaRPr lang="en-US"/>
          </a:p>
        </p:txBody>
      </p:sp>
      <p:sp>
        <p:nvSpPr>
          <p:cNvPr id="13" name="Text 11"/>
          <p:cNvSpPr/>
          <p:nvPr/>
        </p:nvSpPr>
        <p:spPr>
          <a:xfrm>
            <a:off x="1143000" y="28712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4" name="Text 12"/>
          <p:cNvSpPr/>
          <p:nvPr/>
        </p:nvSpPr>
        <p:spPr>
          <a:xfrm>
            <a:off x="2194560" y="27432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What are the minimum and maximum diastolic blood pressure values?</a:t>
            </a:r>
            <a:endParaRPr lang="en-US" sz="1200" dirty="0"/>
          </a:p>
        </p:txBody>
      </p:sp>
      <p:sp>
        <p:nvSpPr>
          <p:cNvPr id="15" name="Shape 13"/>
          <p:cNvSpPr/>
          <p:nvPr/>
        </p:nvSpPr>
        <p:spPr>
          <a:xfrm>
            <a:off x="548640" y="3383280"/>
            <a:ext cx="11094415" cy="548640"/>
          </a:xfrm>
          <a:prstGeom prst="roundRect">
            <a:avLst>
              <a:gd name="adj" fmla="val 11667"/>
            </a:avLst>
          </a:prstGeom>
          <a:solidFill>
            <a:srgbClr val="EAF3F8"/>
          </a:solidFill>
          <a:ln/>
        </p:spPr>
        <p:txBody>
          <a:bodyPr/>
          <a:lstStyle/>
          <a:p>
            <a:endParaRPr lang="en-US"/>
          </a:p>
        </p:txBody>
      </p:sp>
      <p:sp>
        <p:nvSpPr>
          <p:cNvPr id="16" name="Text 14"/>
          <p:cNvSpPr/>
          <p:nvPr/>
        </p:nvSpPr>
        <p:spPr>
          <a:xfrm>
            <a:off x="685800" y="338328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3</a:t>
            </a:r>
            <a:endParaRPr lang="en-US" sz="1300" dirty="0"/>
          </a:p>
        </p:txBody>
      </p:sp>
      <p:sp>
        <p:nvSpPr>
          <p:cNvPr id="17" name="Shape 15"/>
          <p:cNvSpPr/>
          <p:nvPr/>
        </p:nvSpPr>
        <p:spPr>
          <a:xfrm>
            <a:off x="1143000" y="3511296"/>
            <a:ext cx="868680" cy="292608"/>
          </a:xfrm>
          <a:prstGeom prst="roundRect">
            <a:avLst>
              <a:gd name="adj" fmla="val 50000"/>
            </a:avLst>
          </a:prstGeom>
          <a:solidFill>
            <a:srgbClr val="22A699"/>
          </a:solidFill>
          <a:ln/>
        </p:spPr>
        <p:txBody>
          <a:bodyPr/>
          <a:lstStyle/>
          <a:p>
            <a:endParaRPr lang="en-US"/>
          </a:p>
        </p:txBody>
      </p:sp>
      <p:sp>
        <p:nvSpPr>
          <p:cNvPr id="18" name="Text 16"/>
          <p:cNvSpPr/>
          <p:nvPr/>
        </p:nvSpPr>
        <p:spPr>
          <a:xfrm>
            <a:off x="1143000" y="351129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9" name="Text 17"/>
          <p:cNvSpPr/>
          <p:nvPr/>
        </p:nvSpPr>
        <p:spPr>
          <a:xfrm>
            <a:off x="2194560" y="338328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systolic blood pressure greater than or equal to 130?</a:t>
            </a:r>
            <a:endParaRPr lang="en-US" sz="1200" dirty="0"/>
          </a:p>
        </p:txBody>
      </p:sp>
      <p:sp>
        <p:nvSpPr>
          <p:cNvPr id="20" name="Shape 18"/>
          <p:cNvSpPr/>
          <p:nvPr/>
        </p:nvSpPr>
        <p:spPr>
          <a:xfrm>
            <a:off x="548640" y="4023360"/>
            <a:ext cx="11094415" cy="548640"/>
          </a:xfrm>
          <a:prstGeom prst="roundRect">
            <a:avLst>
              <a:gd name="adj" fmla="val 11667"/>
            </a:avLst>
          </a:prstGeom>
          <a:solidFill>
            <a:srgbClr val="FFFFFF"/>
          </a:solidFill>
          <a:ln/>
        </p:spPr>
        <p:txBody>
          <a:bodyPr/>
          <a:lstStyle/>
          <a:p>
            <a:endParaRPr lang="en-US"/>
          </a:p>
        </p:txBody>
      </p:sp>
      <p:sp>
        <p:nvSpPr>
          <p:cNvPr id="21" name="Text 19"/>
          <p:cNvSpPr/>
          <p:nvPr/>
        </p:nvSpPr>
        <p:spPr>
          <a:xfrm>
            <a:off x="685800" y="402336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4</a:t>
            </a:r>
            <a:endParaRPr lang="en-US" sz="1300" dirty="0"/>
          </a:p>
        </p:txBody>
      </p:sp>
      <p:sp>
        <p:nvSpPr>
          <p:cNvPr id="22" name="Shape 20"/>
          <p:cNvSpPr/>
          <p:nvPr/>
        </p:nvSpPr>
        <p:spPr>
          <a:xfrm>
            <a:off x="1143000" y="4151376"/>
            <a:ext cx="868680" cy="292608"/>
          </a:xfrm>
          <a:prstGeom prst="roundRect">
            <a:avLst>
              <a:gd name="adj" fmla="val 50000"/>
            </a:avLst>
          </a:prstGeom>
          <a:solidFill>
            <a:srgbClr val="D99A2B"/>
          </a:solidFill>
          <a:ln/>
        </p:spPr>
        <p:txBody>
          <a:bodyPr/>
          <a:lstStyle/>
          <a:p>
            <a:endParaRPr lang="en-US"/>
          </a:p>
        </p:txBody>
      </p:sp>
      <p:sp>
        <p:nvSpPr>
          <p:cNvPr id="23" name="Text 21"/>
          <p:cNvSpPr/>
          <p:nvPr/>
        </p:nvSpPr>
        <p:spPr>
          <a:xfrm>
            <a:off x="1143000" y="415137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4" name="Text 22"/>
          <p:cNvSpPr/>
          <p:nvPr/>
        </p:nvSpPr>
        <p:spPr>
          <a:xfrm>
            <a:off x="2194560" y="402336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belong to each age group: 18-29, 30-39, 40-49, 50-59, and 60+?</a:t>
            </a:r>
            <a:endParaRPr lang="en-US" sz="1200" dirty="0"/>
          </a:p>
        </p:txBody>
      </p:sp>
      <p:sp>
        <p:nvSpPr>
          <p:cNvPr id="25" name="Shape 23"/>
          <p:cNvSpPr/>
          <p:nvPr/>
        </p:nvSpPr>
        <p:spPr>
          <a:xfrm>
            <a:off x="548640" y="4663440"/>
            <a:ext cx="11094415" cy="548640"/>
          </a:xfrm>
          <a:prstGeom prst="roundRect">
            <a:avLst>
              <a:gd name="adj" fmla="val 11667"/>
            </a:avLst>
          </a:prstGeom>
          <a:solidFill>
            <a:srgbClr val="EAF3F8"/>
          </a:solidFill>
          <a:ln/>
        </p:spPr>
        <p:txBody>
          <a:bodyPr/>
          <a:lstStyle/>
          <a:p>
            <a:endParaRPr lang="en-US"/>
          </a:p>
        </p:txBody>
      </p:sp>
      <p:sp>
        <p:nvSpPr>
          <p:cNvPr id="26" name="Text 24"/>
          <p:cNvSpPr/>
          <p:nvPr/>
        </p:nvSpPr>
        <p:spPr>
          <a:xfrm>
            <a:off x="685800" y="466344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5</a:t>
            </a:r>
            <a:endParaRPr lang="en-US" sz="1300" dirty="0"/>
          </a:p>
        </p:txBody>
      </p:sp>
      <p:sp>
        <p:nvSpPr>
          <p:cNvPr id="27" name="Shape 25"/>
          <p:cNvSpPr/>
          <p:nvPr/>
        </p:nvSpPr>
        <p:spPr>
          <a:xfrm>
            <a:off x="1143000" y="4791456"/>
            <a:ext cx="868680" cy="292608"/>
          </a:xfrm>
          <a:prstGeom prst="roundRect">
            <a:avLst>
              <a:gd name="adj" fmla="val 50000"/>
            </a:avLst>
          </a:prstGeom>
          <a:solidFill>
            <a:srgbClr val="D99A2B"/>
          </a:solidFill>
          <a:ln/>
        </p:spPr>
        <p:txBody>
          <a:bodyPr/>
          <a:lstStyle/>
          <a:p>
            <a:endParaRPr lang="en-US"/>
          </a:p>
        </p:txBody>
      </p:sp>
      <p:sp>
        <p:nvSpPr>
          <p:cNvPr id="28" name="Text 26"/>
          <p:cNvSpPr/>
          <p:nvPr/>
        </p:nvSpPr>
        <p:spPr>
          <a:xfrm>
            <a:off x="1143000" y="479145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p:nvPr/>
        </p:nvSpPr>
        <p:spPr>
          <a:xfrm>
            <a:off x="2194560" y="466344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high blood pressure in each age group?</a:t>
            </a:r>
            <a:endParaRPr lang="en-US" sz="1200" dirty="0"/>
          </a:p>
        </p:txBody>
      </p:sp>
      <p:sp>
        <p:nvSpPr>
          <p:cNvPr id="30" name="Shape 28"/>
          <p:cNvSpPr/>
          <p:nvPr/>
        </p:nvSpPr>
        <p:spPr>
          <a:xfrm>
            <a:off x="548640" y="5303520"/>
            <a:ext cx="11094415" cy="548640"/>
          </a:xfrm>
          <a:prstGeom prst="roundRect">
            <a:avLst>
              <a:gd name="adj" fmla="val 11667"/>
            </a:avLst>
          </a:prstGeom>
          <a:solidFill>
            <a:srgbClr val="FFFFFF"/>
          </a:solidFill>
          <a:ln/>
        </p:spPr>
        <p:txBody>
          <a:bodyPr/>
          <a:lstStyle/>
          <a:p>
            <a:endParaRPr lang="en-US"/>
          </a:p>
        </p:txBody>
      </p:sp>
      <p:sp>
        <p:nvSpPr>
          <p:cNvPr id="31" name="Text 29"/>
          <p:cNvSpPr/>
          <p:nvPr/>
        </p:nvSpPr>
        <p:spPr>
          <a:xfrm>
            <a:off x="685800" y="53035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6</a:t>
            </a:r>
            <a:endParaRPr lang="en-US" sz="1300" dirty="0"/>
          </a:p>
        </p:txBody>
      </p:sp>
      <p:sp>
        <p:nvSpPr>
          <p:cNvPr id="32" name="Shape 30"/>
          <p:cNvSpPr/>
          <p:nvPr/>
        </p:nvSpPr>
        <p:spPr>
          <a:xfrm>
            <a:off x="1143000" y="5431536"/>
            <a:ext cx="868680" cy="292608"/>
          </a:xfrm>
          <a:prstGeom prst="roundRect">
            <a:avLst>
              <a:gd name="adj" fmla="val 50000"/>
            </a:avLst>
          </a:prstGeom>
          <a:solidFill>
            <a:srgbClr val="D99A2B"/>
          </a:solidFill>
          <a:ln/>
        </p:spPr>
        <p:txBody>
          <a:bodyPr/>
          <a:lstStyle/>
          <a:p>
            <a:endParaRPr lang="en-US"/>
          </a:p>
        </p:txBody>
      </p:sp>
      <p:sp>
        <p:nvSpPr>
          <p:cNvPr id="33" name="Text 31"/>
          <p:cNvSpPr/>
          <p:nvPr/>
        </p:nvSpPr>
        <p:spPr>
          <a:xfrm>
            <a:off x="1143000" y="54315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4" name="Text 32"/>
          <p:cNvSpPr/>
          <p:nvPr/>
        </p:nvSpPr>
        <p:spPr>
          <a:xfrm>
            <a:off x="2194560" y="53035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normal blood pressure compared with elevated or high blood pressure?</a:t>
            </a:r>
            <a:endParaRPr lang="en-US" sz="1200" dirty="0"/>
          </a:p>
        </p:txBody>
      </p:sp>
      <p:sp>
        <p:nvSpPr>
          <p:cNvPr id="35" name="Shape 33"/>
          <p:cNvSpPr/>
          <p:nvPr/>
        </p:nvSpPr>
        <p:spPr>
          <a:xfrm>
            <a:off x="548640" y="5943600"/>
            <a:ext cx="11094415" cy="548640"/>
          </a:xfrm>
          <a:prstGeom prst="roundRect">
            <a:avLst>
              <a:gd name="adj" fmla="val 11667"/>
            </a:avLst>
          </a:prstGeom>
          <a:solidFill>
            <a:srgbClr val="EAF3F8"/>
          </a:solidFill>
          <a:ln/>
        </p:spPr>
        <p:txBody>
          <a:bodyPr/>
          <a:lstStyle/>
          <a:p>
            <a:endParaRPr lang="en-US"/>
          </a:p>
        </p:txBody>
      </p:sp>
      <p:sp>
        <p:nvSpPr>
          <p:cNvPr id="36" name="Text 34"/>
          <p:cNvSpPr/>
          <p:nvPr/>
        </p:nvSpPr>
        <p:spPr>
          <a:xfrm>
            <a:off x="685800" y="59436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7</a:t>
            </a:r>
            <a:endParaRPr lang="en-US" sz="1300" dirty="0"/>
          </a:p>
        </p:txBody>
      </p:sp>
      <p:sp>
        <p:nvSpPr>
          <p:cNvPr id="37" name="Shape 35"/>
          <p:cNvSpPr/>
          <p:nvPr/>
        </p:nvSpPr>
        <p:spPr>
          <a:xfrm>
            <a:off x="1143000" y="6071616"/>
            <a:ext cx="868680" cy="292608"/>
          </a:xfrm>
          <a:prstGeom prst="roundRect">
            <a:avLst>
              <a:gd name="adj" fmla="val 50000"/>
            </a:avLst>
          </a:prstGeom>
          <a:solidFill>
            <a:srgbClr val="C1443C"/>
          </a:solidFill>
          <a:ln/>
        </p:spPr>
        <p:txBody>
          <a:bodyPr/>
          <a:lstStyle/>
          <a:p>
            <a:endParaRPr lang="en-US"/>
          </a:p>
        </p:txBody>
      </p:sp>
      <p:sp>
        <p:nvSpPr>
          <p:cNvPr id="38" name="Text 36"/>
          <p:cNvSpPr/>
          <p:nvPr/>
        </p:nvSpPr>
        <p:spPr>
          <a:xfrm>
            <a:off x="1143000" y="60716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a:t>
            </a:r>
            <a:endParaRPr lang="en-US" sz="1000" dirty="0"/>
          </a:p>
        </p:txBody>
      </p:sp>
      <p:sp>
        <p:nvSpPr>
          <p:cNvPr id="39" name="Text 37"/>
          <p:cNvSpPr/>
          <p:nvPr/>
        </p:nvSpPr>
        <p:spPr>
          <a:xfrm>
            <a:off x="2194560" y="59436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Which age group has the highest percentage of people classified as having high blood pressure?</a:t>
            </a:r>
            <a:endParaRPr lang="en-US" sz="1200" dirty="0"/>
          </a:p>
        </p:txBody>
      </p:sp>
      <p:sp>
        <p:nvSpPr>
          <p:cNvPr id="40" name="Text 38"/>
          <p:cNvSpPr/>
          <p:nvPr/>
        </p:nvSpPr>
        <p:spPr>
          <a:xfrm>
            <a:off x="548640" y="6629400"/>
            <a:ext cx="11094415" cy="320040"/>
          </a:xfrm>
          <a:prstGeom prst="rect">
            <a:avLst/>
          </a:prstGeom>
          <a:noFill/>
          <a:ln/>
        </p:spPr>
        <p:txBody>
          <a:bodyPr wrap="square" lIns="0" tIns="0" rIns="0" bIns="0" rtlCol="0" anchor="ctr"/>
          <a:lstStyle/>
          <a:p>
            <a:pPr marL="0" indent="0">
              <a:buNone/>
            </a:pPr>
            <a:r>
              <a:rPr lang="en-US" sz="1050" i="1" dirty="0">
                <a:solidFill>
                  <a:srgbClr val="5B7284"/>
                </a:solidFill>
                <a:latin typeface="Calibri" pitchFamily="34" charset="0"/>
                <a:ea typeface="Calibri" pitchFamily="34" charset="-122"/>
                <a:cs typeface="Calibri" pitchFamily="34" charset="-120"/>
              </a:rPr>
              <a:t>Question mix: 3 Easy · 3 Medium · 1 Hard — KPIs are tracked separately from these seven SQL business questions.</a:t>
            </a:r>
            <a:endParaRPr lang="en-US" sz="1050" dirty="0"/>
          </a:p>
        </p:txBody>
      </p:sp>
      <p:sp>
        <p:nvSpPr>
          <p:cNvPr id="41" name="Text 3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Cardiometabolic Profile</a:t>
            </a:r>
            <a:endParaRPr lang="en-US" sz="900" dirty="0"/>
          </a:p>
        </p:txBody>
      </p:sp>
      <p:sp>
        <p:nvSpPr>
          <p:cNvPr id="42" name="Text 4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24 / 45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02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Cardiometabolic Profile</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Blood Pressure Risk Across Age Groups</a:t>
            </a:r>
            <a:endParaRPr lang="en-US" sz="1300" dirty="0"/>
          </a:p>
        </p:txBody>
      </p:sp>
      <p:sp>
        <p:nvSpPr>
          <p:cNvPr id="6" name="Shape 4"/>
          <p:cNvSpPr/>
          <p:nvPr/>
        </p:nvSpPr>
        <p:spPr>
          <a:xfrm>
            <a:off x="2367840" y="2221992"/>
            <a:ext cx="7456015" cy="4562856"/>
          </a:xfrm>
          <a:prstGeom prst="roundRect">
            <a:avLst>
              <a:gd name="adj" fmla="val 1603"/>
            </a:avLst>
          </a:prstGeom>
          <a:solidFill>
            <a:srgbClr val="FFFFFF"/>
          </a:solidFill>
          <a:ln w="12700">
            <a:solidFill>
              <a:srgbClr val="D7E4EC"/>
            </a:solidFill>
            <a:prstDash val="solid"/>
          </a:ln>
          <a:effectLst>
            <a:outerShdw blurRad="203200" dist="50800" dir="5400000" algn="bl" rotWithShape="0">
              <a:srgbClr val="12283F">
                <a:alpha val="22000"/>
              </a:srgbClr>
            </a:outerShdw>
          </a:effectLst>
        </p:spPr>
        <p:txBody>
          <a:bodyPr/>
          <a:lstStyle/>
          <a:p>
            <a:endParaRPr lang="en-US"/>
          </a:p>
        </p:txBody>
      </p:sp>
      <p:pic>
        <p:nvPicPr>
          <p:cNvPr id="7" name="Image 0" descr="/home/claude/medisights_ppt/Screenshot_2026-08-13_135232.png"/>
          <p:cNvPicPr>
            <a:picLocks noChangeAspect="1"/>
          </p:cNvPicPr>
          <p:nvPr/>
        </p:nvPicPr>
        <p:blipFill>
          <a:blip r:embed="rId3"/>
          <a:stretch>
            <a:fillRect/>
          </a:stretch>
        </p:blipFill>
        <p:spPr>
          <a:xfrm>
            <a:off x="2477568" y="2331720"/>
            <a:ext cx="7236559" cy="4343400"/>
          </a:xfrm>
          <a:prstGeom prst="rect">
            <a:avLst/>
          </a:prstGeom>
        </p:spPr>
      </p:pic>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Cardiometabolic Profile</a:t>
            </a:r>
            <a:endParaRPr lang="en-US" sz="900" dirty="0"/>
          </a:p>
        </p:txBody>
      </p:sp>
      <p:sp>
        <p:nvSpPr>
          <p:cNvPr id="9" name="Text 6"/>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20 / 45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02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Purpose &amp; Target Audience</a:t>
            </a:r>
            <a:endParaRPr lang="en-US" sz="3000" dirty="0"/>
          </a:p>
        </p:txBody>
      </p:sp>
      <p:sp>
        <p:nvSpPr>
          <p:cNvPr id="5" name="Shape 3"/>
          <p:cNvSpPr/>
          <p:nvPr/>
        </p:nvSpPr>
        <p:spPr>
          <a:xfrm>
            <a:off x="548640" y="1828800"/>
            <a:ext cx="11094415" cy="1234440"/>
          </a:xfrm>
          <a:prstGeom prst="roundRect">
            <a:avLst>
              <a:gd name="adj" fmla="val 8889"/>
            </a:avLst>
          </a:prstGeom>
          <a:solidFill>
            <a:srgbClr val="12283F"/>
          </a:solidFill>
          <a:ln/>
        </p:spPr>
        <p:txBody>
          <a:bodyPr/>
          <a:lstStyle/>
          <a:p>
            <a:endParaRPr lang="en-US"/>
          </a:p>
        </p:txBody>
      </p:sp>
      <p:sp>
        <p:nvSpPr>
          <p:cNvPr id="6" name="Text 4"/>
          <p:cNvSpPr/>
          <p:nvPr/>
        </p:nvSpPr>
        <p:spPr>
          <a:xfrm>
            <a:off x="868680" y="1993392"/>
            <a:ext cx="5486400" cy="274320"/>
          </a:xfrm>
          <a:prstGeom prst="rect">
            <a:avLst/>
          </a:prstGeom>
          <a:noFill/>
          <a:ln/>
        </p:spPr>
        <p:txBody>
          <a:bodyPr wrap="square" lIns="0" tIns="0" rIns="0" bIns="0" rtlCol="0" anchor="ctr"/>
          <a:lstStyle/>
          <a:p>
            <a:pPr marL="0" indent="0">
              <a:buNone/>
            </a:pPr>
            <a:r>
              <a:rPr lang="en-US" sz="1050" b="1" kern="0" spc="120" dirty="0">
                <a:solidFill>
                  <a:srgbClr val="22C3A6"/>
                </a:solidFill>
                <a:latin typeface="Calibri" pitchFamily="34" charset="0"/>
                <a:ea typeface="Calibri" pitchFamily="34" charset="-122"/>
                <a:cs typeface="Calibri" pitchFamily="34" charset="-120"/>
              </a:rPr>
              <a:t>DASHBOARD GOAL</a:t>
            </a:r>
            <a:endParaRPr lang="en-US" sz="1050" dirty="0"/>
          </a:p>
        </p:txBody>
      </p:sp>
      <p:sp>
        <p:nvSpPr>
          <p:cNvPr id="7" name="Text 5"/>
          <p:cNvSpPr/>
          <p:nvPr/>
        </p:nvSpPr>
        <p:spPr>
          <a:xfrm>
            <a:off x="868680" y="2267712"/>
            <a:ext cx="10454335" cy="73152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Identify age groups with higher blood pressure risk and show how blood pressure status changes across different stages of age.</a:t>
            </a:r>
            <a:endParaRPr lang="en-US" sz="1350" dirty="0"/>
          </a:p>
        </p:txBody>
      </p:sp>
      <p:sp>
        <p:nvSpPr>
          <p:cNvPr id="8" name="Text 6"/>
          <p:cNvSpPr/>
          <p:nvPr/>
        </p:nvSpPr>
        <p:spPr>
          <a:xfrm>
            <a:off x="548640" y="3337560"/>
            <a:ext cx="5486400" cy="320040"/>
          </a:xfrm>
          <a:prstGeom prst="rect">
            <a:avLst/>
          </a:prstGeom>
          <a:noFill/>
          <a:ln/>
        </p:spPr>
        <p:txBody>
          <a:bodyPr wrap="square" lIns="0" tIns="0" rIns="0" bIns="0" rtlCol="0" anchor="ctr"/>
          <a:lstStyle/>
          <a:p>
            <a:pPr marL="0" indent="0">
              <a:buNone/>
            </a:pPr>
            <a:r>
              <a:rPr lang="en-US" sz="1200" b="1" kern="0" spc="100" dirty="0">
                <a:solidFill>
                  <a:srgbClr val="12283F"/>
                </a:solidFill>
                <a:latin typeface="Calibri" pitchFamily="34" charset="0"/>
                <a:ea typeface="Calibri" pitchFamily="34" charset="-122"/>
                <a:cs typeface="Calibri" pitchFamily="34" charset="-120"/>
              </a:rPr>
              <a:t>WHO USES THIS DASHBOARD</a:t>
            </a:r>
            <a:endParaRPr lang="en-US" sz="1200" dirty="0"/>
          </a:p>
        </p:txBody>
      </p:sp>
      <p:sp>
        <p:nvSpPr>
          <p:cNvPr id="9" name="Shape 7"/>
          <p:cNvSpPr/>
          <p:nvPr/>
        </p:nvSpPr>
        <p:spPr>
          <a:xfrm>
            <a:off x="548640"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0" name="Shape 8"/>
          <p:cNvSpPr/>
          <p:nvPr/>
        </p:nvSpPr>
        <p:spPr>
          <a:xfrm>
            <a:off x="1622260" y="4069080"/>
            <a:ext cx="420624" cy="420624"/>
          </a:xfrm>
          <a:prstGeom prst="ellipse">
            <a:avLst/>
          </a:prstGeom>
          <a:solidFill>
            <a:srgbClr val="1C7293"/>
          </a:solidFill>
          <a:ln/>
        </p:spPr>
        <p:txBody>
          <a:bodyPr/>
          <a:lstStyle/>
          <a:p>
            <a:endParaRPr lang="en-US"/>
          </a:p>
        </p:txBody>
      </p:sp>
      <p:sp>
        <p:nvSpPr>
          <p:cNvPr id="11" name="Text 9"/>
          <p:cNvSpPr/>
          <p:nvPr/>
        </p:nvSpPr>
        <p:spPr>
          <a:xfrm>
            <a:off x="1622260"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85800"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Clinical Risk Analysts</a:t>
            </a:r>
            <a:endParaRPr lang="en-US" sz="1250" dirty="0"/>
          </a:p>
        </p:txBody>
      </p:sp>
      <p:sp>
        <p:nvSpPr>
          <p:cNvPr id="13" name="Shape 11"/>
          <p:cNvSpPr/>
          <p:nvPr/>
        </p:nvSpPr>
        <p:spPr>
          <a:xfrm>
            <a:off x="3390824"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4" name="Shape 12"/>
          <p:cNvSpPr/>
          <p:nvPr/>
        </p:nvSpPr>
        <p:spPr>
          <a:xfrm>
            <a:off x="4464444" y="4069080"/>
            <a:ext cx="420624" cy="420624"/>
          </a:xfrm>
          <a:prstGeom prst="ellipse">
            <a:avLst/>
          </a:prstGeom>
          <a:solidFill>
            <a:srgbClr val="1C7293"/>
          </a:solidFill>
          <a:ln/>
        </p:spPr>
        <p:txBody>
          <a:bodyPr/>
          <a:lstStyle/>
          <a:p>
            <a:endParaRPr lang="en-US"/>
          </a:p>
        </p:txBody>
      </p:sp>
      <p:sp>
        <p:nvSpPr>
          <p:cNvPr id="15" name="Text 13"/>
          <p:cNvSpPr/>
          <p:nvPr/>
        </p:nvSpPr>
        <p:spPr>
          <a:xfrm>
            <a:off x="4464444"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3527984"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Healthcare Professionals</a:t>
            </a:r>
            <a:endParaRPr lang="en-US" sz="1250" dirty="0"/>
          </a:p>
        </p:txBody>
      </p:sp>
      <p:sp>
        <p:nvSpPr>
          <p:cNvPr id="17" name="Shape 15"/>
          <p:cNvSpPr/>
          <p:nvPr/>
        </p:nvSpPr>
        <p:spPr>
          <a:xfrm>
            <a:off x="6233008"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8" name="Shape 16"/>
          <p:cNvSpPr/>
          <p:nvPr/>
        </p:nvSpPr>
        <p:spPr>
          <a:xfrm>
            <a:off x="7306628" y="4069080"/>
            <a:ext cx="420624" cy="420624"/>
          </a:xfrm>
          <a:prstGeom prst="ellipse">
            <a:avLst/>
          </a:prstGeom>
          <a:solidFill>
            <a:srgbClr val="1C7293"/>
          </a:solidFill>
          <a:ln/>
        </p:spPr>
        <p:txBody>
          <a:bodyPr/>
          <a:lstStyle/>
          <a:p>
            <a:endParaRPr lang="en-US"/>
          </a:p>
        </p:txBody>
      </p:sp>
      <p:sp>
        <p:nvSpPr>
          <p:cNvPr id="19" name="Text 17"/>
          <p:cNvSpPr/>
          <p:nvPr/>
        </p:nvSpPr>
        <p:spPr>
          <a:xfrm>
            <a:off x="7306628"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370168"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Preventive Care Teams</a:t>
            </a:r>
            <a:endParaRPr lang="en-US" sz="1250" dirty="0"/>
          </a:p>
        </p:txBody>
      </p:sp>
      <p:sp>
        <p:nvSpPr>
          <p:cNvPr id="21" name="Shape 19"/>
          <p:cNvSpPr/>
          <p:nvPr/>
        </p:nvSpPr>
        <p:spPr>
          <a:xfrm>
            <a:off x="9075191"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22" name="Shape 20"/>
          <p:cNvSpPr/>
          <p:nvPr/>
        </p:nvSpPr>
        <p:spPr>
          <a:xfrm>
            <a:off x="10148811" y="4069080"/>
            <a:ext cx="420624" cy="420624"/>
          </a:xfrm>
          <a:prstGeom prst="ellipse">
            <a:avLst/>
          </a:prstGeom>
          <a:solidFill>
            <a:srgbClr val="1C7293"/>
          </a:solidFill>
          <a:ln/>
        </p:spPr>
        <p:txBody>
          <a:bodyPr/>
          <a:lstStyle/>
          <a:p>
            <a:endParaRPr lang="en-US"/>
          </a:p>
        </p:txBody>
      </p:sp>
      <p:sp>
        <p:nvSpPr>
          <p:cNvPr id="23" name="Text 21"/>
          <p:cNvSpPr/>
          <p:nvPr/>
        </p:nvSpPr>
        <p:spPr>
          <a:xfrm>
            <a:off x="10148811"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212351"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 Risk Assessment Teams</a:t>
            </a:r>
            <a:endParaRPr lang="en-US" sz="12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Cardiometabolic Profile</a:t>
            </a:r>
            <a:endParaRPr lang="en-US" sz="900" dirty="0"/>
          </a:p>
        </p:txBody>
      </p:sp>
      <p:sp>
        <p:nvSpPr>
          <p:cNvPr id="26" name="Text 24"/>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21 / 45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02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Key Performance Indicators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The headline numbers this dashboard puts front and center, and why each one matters.</a:t>
            </a:r>
            <a:endParaRPr lang="en-US" sz="1300" dirty="0"/>
          </a:p>
        </p:txBody>
      </p:sp>
      <p:sp>
        <p:nvSpPr>
          <p:cNvPr id="6" name="Shape 4"/>
          <p:cNvSpPr/>
          <p:nvPr/>
        </p:nvSpPr>
        <p:spPr>
          <a:xfrm>
            <a:off x="548640"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7" name="Text 5"/>
          <p:cNvSpPr/>
          <p:nvPr/>
        </p:nvSpPr>
        <p:spPr>
          <a:xfrm>
            <a:off x="658368"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109.01</a:t>
            </a:r>
            <a:endParaRPr lang="en-US" sz="2100" dirty="0"/>
          </a:p>
        </p:txBody>
      </p:sp>
      <p:sp>
        <p:nvSpPr>
          <p:cNvPr id="8" name="Shape 6"/>
          <p:cNvSpPr/>
          <p:nvPr/>
        </p:nvSpPr>
        <p:spPr>
          <a:xfrm>
            <a:off x="822960" y="3474720"/>
            <a:ext cx="1465417" cy="0"/>
          </a:xfrm>
          <a:prstGeom prst="line">
            <a:avLst/>
          </a:prstGeom>
          <a:noFill/>
          <a:ln w="12700">
            <a:solidFill>
              <a:srgbClr val="D7E4EC"/>
            </a:solidFill>
            <a:prstDash val="solid"/>
          </a:ln>
        </p:spPr>
        <p:txBody>
          <a:bodyPr/>
          <a:lstStyle/>
          <a:p>
            <a:endParaRPr lang="en-US"/>
          </a:p>
        </p:txBody>
      </p:sp>
      <p:sp>
        <p:nvSpPr>
          <p:cNvPr id="9" name="Text 7"/>
          <p:cNvSpPr/>
          <p:nvPr/>
        </p:nvSpPr>
        <p:spPr>
          <a:xfrm>
            <a:off x="685800"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Systolic BP</a:t>
            </a:r>
            <a:endParaRPr lang="en-US" sz="1150" dirty="0"/>
          </a:p>
        </p:txBody>
      </p:sp>
      <p:sp>
        <p:nvSpPr>
          <p:cNvPr id="10" name="Text 8"/>
          <p:cNvSpPr/>
          <p:nvPr/>
        </p:nvSpPr>
        <p:spPr>
          <a:xfrm>
            <a:off x="685800"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upper blood pressure value</a:t>
            </a:r>
            <a:endParaRPr lang="en-US" sz="1000" dirty="0"/>
          </a:p>
        </p:txBody>
      </p:sp>
      <p:sp>
        <p:nvSpPr>
          <p:cNvPr id="11" name="Shape 9"/>
          <p:cNvSpPr/>
          <p:nvPr/>
        </p:nvSpPr>
        <p:spPr>
          <a:xfrm>
            <a:off x="2818729"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12" name="Text 10"/>
          <p:cNvSpPr/>
          <p:nvPr/>
        </p:nvSpPr>
        <p:spPr>
          <a:xfrm>
            <a:off x="292845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81.80</a:t>
            </a:r>
            <a:endParaRPr lang="en-US" sz="2100" dirty="0"/>
          </a:p>
        </p:txBody>
      </p:sp>
      <p:sp>
        <p:nvSpPr>
          <p:cNvPr id="13" name="Shape 11"/>
          <p:cNvSpPr/>
          <p:nvPr/>
        </p:nvSpPr>
        <p:spPr>
          <a:xfrm>
            <a:off x="3093049" y="3474720"/>
            <a:ext cx="1465417" cy="0"/>
          </a:xfrm>
          <a:prstGeom prst="line">
            <a:avLst/>
          </a:prstGeom>
          <a:noFill/>
          <a:ln w="12700">
            <a:solidFill>
              <a:srgbClr val="D7E4EC"/>
            </a:solidFill>
            <a:prstDash val="solid"/>
          </a:ln>
        </p:spPr>
        <p:txBody>
          <a:bodyPr/>
          <a:lstStyle/>
          <a:p>
            <a:endParaRPr lang="en-US"/>
          </a:p>
        </p:txBody>
      </p:sp>
      <p:sp>
        <p:nvSpPr>
          <p:cNvPr id="14" name="Text 12"/>
          <p:cNvSpPr/>
          <p:nvPr/>
        </p:nvSpPr>
        <p:spPr>
          <a:xfrm>
            <a:off x="295588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Diastolic BP</a:t>
            </a:r>
            <a:endParaRPr lang="en-US" sz="1150" dirty="0"/>
          </a:p>
        </p:txBody>
      </p:sp>
      <p:sp>
        <p:nvSpPr>
          <p:cNvPr id="15" name="Text 13"/>
          <p:cNvSpPr/>
          <p:nvPr/>
        </p:nvSpPr>
        <p:spPr>
          <a:xfrm>
            <a:off x="295588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lower blood pressure value</a:t>
            </a:r>
            <a:endParaRPr lang="en-US" sz="1000" dirty="0"/>
          </a:p>
        </p:txBody>
      </p:sp>
      <p:sp>
        <p:nvSpPr>
          <p:cNvPr id="16" name="Shape 14"/>
          <p:cNvSpPr/>
          <p:nvPr/>
        </p:nvSpPr>
        <p:spPr>
          <a:xfrm>
            <a:off x="5088819"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17" name="Text 15"/>
          <p:cNvSpPr/>
          <p:nvPr/>
        </p:nvSpPr>
        <p:spPr>
          <a:xfrm>
            <a:off x="519854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147.02</a:t>
            </a:r>
            <a:endParaRPr lang="en-US" sz="2100" dirty="0"/>
          </a:p>
        </p:txBody>
      </p:sp>
      <p:sp>
        <p:nvSpPr>
          <p:cNvPr id="18" name="Shape 16"/>
          <p:cNvSpPr/>
          <p:nvPr/>
        </p:nvSpPr>
        <p:spPr>
          <a:xfrm>
            <a:off x="5363139" y="3474720"/>
            <a:ext cx="1465417" cy="0"/>
          </a:xfrm>
          <a:prstGeom prst="line">
            <a:avLst/>
          </a:prstGeom>
          <a:noFill/>
          <a:ln w="12700">
            <a:solidFill>
              <a:srgbClr val="D7E4EC"/>
            </a:solidFill>
            <a:prstDash val="solid"/>
          </a:ln>
        </p:spPr>
        <p:txBody>
          <a:bodyPr/>
          <a:lstStyle/>
          <a:p>
            <a:endParaRPr lang="en-US"/>
          </a:p>
        </p:txBody>
      </p:sp>
      <p:sp>
        <p:nvSpPr>
          <p:cNvPr id="19" name="Text 17"/>
          <p:cNvSpPr/>
          <p:nvPr/>
        </p:nvSpPr>
        <p:spPr>
          <a:xfrm>
            <a:off x="522597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Highest Systolic BP</a:t>
            </a:r>
            <a:endParaRPr lang="en-US" sz="1150" dirty="0"/>
          </a:p>
        </p:txBody>
      </p:sp>
      <p:sp>
        <p:nvSpPr>
          <p:cNvPr id="20" name="Text 18"/>
          <p:cNvSpPr/>
          <p:nvPr/>
        </p:nvSpPr>
        <p:spPr>
          <a:xfrm>
            <a:off x="522597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Highlights the maximum observed systolic value</a:t>
            </a:r>
            <a:endParaRPr lang="en-US" sz="1000" dirty="0"/>
          </a:p>
        </p:txBody>
      </p:sp>
      <p:sp>
        <p:nvSpPr>
          <p:cNvPr id="21" name="Shape 19"/>
          <p:cNvSpPr/>
          <p:nvPr/>
        </p:nvSpPr>
        <p:spPr>
          <a:xfrm>
            <a:off x="7358908"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22" name="Text 20"/>
          <p:cNvSpPr/>
          <p:nvPr/>
        </p:nvSpPr>
        <p:spPr>
          <a:xfrm>
            <a:off x="746863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108.43</a:t>
            </a:r>
            <a:endParaRPr lang="en-US" sz="2100" dirty="0"/>
          </a:p>
        </p:txBody>
      </p:sp>
      <p:sp>
        <p:nvSpPr>
          <p:cNvPr id="23" name="Shape 21"/>
          <p:cNvSpPr/>
          <p:nvPr/>
        </p:nvSpPr>
        <p:spPr>
          <a:xfrm>
            <a:off x="7633228" y="3474720"/>
            <a:ext cx="1465417" cy="0"/>
          </a:xfrm>
          <a:prstGeom prst="line">
            <a:avLst/>
          </a:prstGeom>
          <a:noFill/>
          <a:ln w="12700">
            <a:solidFill>
              <a:srgbClr val="D7E4EC"/>
            </a:solidFill>
            <a:prstDash val="solid"/>
          </a:ln>
        </p:spPr>
        <p:txBody>
          <a:bodyPr/>
          <a:lstStyle/>
          <a:p>
            <a:endParaRPr lang="en-US"/>
          </a:p>
        </p:txBody>
      </p:sp>
      <p:sp>
        <p:nvSpPr>
          <p:cNvPr id="24" name="Text 22"/>
          <p:cNvSpPr/>
          <p:nvPr/>
        </p:nvSpPr>
        <p:spPr>
          <a:xfrm>
            <a:off x="749606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Highest Diastolic BP</a:t>
            </a:r>
            <a:endParaRPr lang="en-US" sz="1150" dirty="0"/>
          </a:p>
        </p:txBody>
      </p:sp>
      <p:sp>
        <p:nvSpPr>
          <p:cNvPr id="25" name="Text 23"/>
          <p:cNvSpPr/>
          <p:nvPr/>
        </p:nvSpPr>
        <p:spPr>
          <a:xfrm>
            <a:off x="749606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Highlights the maximum observed diastolic value</a:t>
            </a:r>
            <a:endParaRPr lang="en-US" sz="1000" dirty="0"/>
          </a:p>
        </p:txBody>
      </p:sp>
      <p:sp>
        <p:nvSpPr>
          <p:cNvPr id="26" name="Shape 24"/>
          <p:cNvSpPr/>
          <p:nvPr/>
        </p:nvSpPr>
        <p:spPr>
          <a:xfrm>
            <a:off x="9628998"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27" name="Text 25"/>
          <p:cNvSpPr/>
          <p:nvPr/>
        </p:nvSpPr>
        <p:spPr>
          <a:xfrm>
            <a:off x="973872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59.66%</a:t>
            </a:r>
            <a:endParaRPr lang="en-US" sz="2100" dirty="0"/>
          </a:p>
        </p:txBody>
      </p:sp>
      <p:sp>
        <p:nvSpPr>
          <p:cNvPr id="28" name="Shape 26"/>
          <p:cNvSpPr/>
          <p:nvPr/>
        </p:nvSpPr>
        <p:spPr>
          <a:xfrm>
            <a:off x="9903318" y="3474720"/>
            <a:ext cx="1465417" cy="0"/>
          </a:xfrm>
          <a:prstGeom prst="line">
            <a:avLst/>
          </a:prstGeom>
          <a:noFill/>
          <a:ln w="12700">
            <a:solidFill>
              <a:srgbClr val="D7E4EC"/>
            </a:solidFill>
            <a:prstDash val="solid"/>
          </a:ln>
        </p:spPr>
        <p:txBody>
          <a:bodyPr/>
          <a:lstStyle/>
          <a:p>
            <a:endParaRPr lang="en-US"/>
          </a:p>
        </p:txBody>
      </p:sp>
      <p:sp>
        <p:nvSpPr>
          <p:cNvPr id="29" name="Text 27"/>
          <p:cNvSpPr/>
          <p:nvPr/>
        </p:nvSpPr>
        <p:spPr>
          <a:xfrm>
            <a:off x="976615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High BP Percentage</a:t>
            </a:r>
            <a:endParaRPr lang="en-US" sz="1150" dirty="0"/>
          </a:p>
        </p:txBody>
      </p:sp>
      <p:sp>
        <p:nvSpPr>
          <p:cNvPr id="30" name="Text 28"/>
          <p:cNvSpPr/>
          <p:nvPr/>
        </p:nvSpPr>
        <p:spPr>
          <a:xfrm>
            <a:off x="976615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Shows the share of the population with high blood pressure</a:t>
            </a:r>
            <a:endParaRPr lang="en-US" sz="1000" dirty="0"/>
          </a:p>
        </p:txBody>
      </p:sp>
      <p:sp>
        <p:nvSpPr>
          <p:cNvPr id="31" name="Text 2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Cardiometabolic Profile</a:t>
            </a:r>
            <a:endParaRPr lang="en-US" sz="900" dirty="0"/>
          </a:p>
        </p:txBody>
      </p:sp>
      <p:sp>
        <p:nvSpPr>
          <p:cNvPr id="32" name="Text 3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22 / 45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02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Reading the Charts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What each visual on this dashboard shows and why it's there.</a:t>
            </a:r>
            <a:endParaRPr lang="en-US" sz="1300" dirty="0"/>
          </a:p>
        </p:txBody>
      </p:sp>
      <p:sp>
        <p:nvSpPr>
          <p:cNvPr id="6" name="Shape 4"/>
          <p:cNvSpPr/>
          <p:nvPr/>
        </p:nvSpPr>
        <p:spPr>
          <a:xfrm>
            <a:off x="548640"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7" name="Shape 5"/>
          <p:cNvSpPr/>
          <p:nvPr/>
        </p:nvSpPr>
        <p:spPr>
          <a:xfrm>
            <a:off x="777240" y="2377440"/>
            <a:ext cx="365760" cy="365760"/>
          </a:xfrm>
          <a:prstGeom prst="ellipse">
            <a:avLst/>
          </a:prstGeom>
          <a:solidFill>
            <a:srgbClr val="12283F"/>
          </a:solidFill>
          <a:ln/>
        </p:spPr>
        <p:txBody>
          <a:bodyPr/>
          <a:lstStyle/>
          <a:p>
            <a:endParaRPr lang="en-US"/>
          </a:p>
        </p:txBody>
      </p:sp>
      <p:sp>
        <p:nvSpPr>
          <p:cNvPr id="8" name="Text 6"/>
          <p:cNvSpPr/>
          <p:nvPr/>
        </p:nvSpPr>
        <p:spPr>
          <a:xfrm>
            <a:off x="777240"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25880"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Max &amp; Min Systolic BP</a:t>
            </a:r>
            <a:endParaRPr lang="en-US" sz="1250" dirty="0"/>
          </a:p>
        </p:txBody>
      </p:sp>
      <p:sp>
        <p:nvSpPr>
          <p:cNvPr id="10" name="Text 8"/>
          <p:cNvSpPr/>
          <p:nvPr/>
        </p:nvSpPr>
        <p:spPr>
          <a:xfrm>
            <a:off x="777240"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Pie chart contrasting the highest and lowest systolic readings recorded.</a:t>
            </a:r>
            <a:endParaRPr lang="en-US" sz="1050" dirty="0"/>
          </a:p>
        </p:txBody>
      </p:sp>
      <p:sp>
        <p:nvSpPr>
          <p:cNvPr id="11" name="Shape 9"/>
          <p:cNvSpPr/>
          <p:nvPr/>
        </p:nvSpPr>
        <p:spPr>
          <a:xfrm>
            <a:off x="4353458"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2" name="Shape 10"/>
          <p:cNvSpPr/>
          <p:nvPr/>
        </p:nvSpPr>
        <p:spPr>
          <a:xfrm>
            <a:off x="4582058" y="2377440"/>
            <a:ext cx="365760" cy="365760"/>
          </a:xfrm>
          <a:prstGeom prst="ellipse">
            <a:avLst/>
          </a:prstGeom>
          <a:solidFill>
            <a:srgbClr val="12283F"/>
          </a:solidFill>
          <a:ln/>
        </p:spPr>
        <p:txBody>
          <a:bodyPr/>
          <a:lstStyle/>
          <a:p>
            <a:endParaRPr lang="en-US"/>
          </a:p>
        </p:txBody>
      </p:sp>
      <p:sp>
        <p:nvSpPr>
          <p:cNvPr id="13" name="Text 11"/>
          <p:cNvSpPr/>
          <p:nvPr/>
        </p:nvSpPr>
        <p:spPr>
          <a:xfrm>
            <a:off x="4582058"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130698"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High BP % by Age Group</a:t>
            </a:r>
            <a:endParaRPr lang="en-US" sz="1250" dirty="0"/>
          </a:p>
        </p:txBody>
      </p:sp>
      <p:sp>
        <p:nvSpPr>
          <p:cNvPr id="15" name="Text 13"/>
          <p:cNvSpPr/>
          <p:nvPr/>
        </p:nvSpPr>
        <p:spPr>
          <a:xfrm>
            <a:off x="4582058"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showing high blood pressure risk climbing with age, peaking at 70+.</a:t>
            </a:r>
            <a:endParaRPr lang="en-US" sz="1050" dirty="0"/>
          </a:p>
        </p:txBody>
      </p:sp>
      <p:sp>
        <p:nvSpPr>
          <p:cNvPr id="16" name="Shape 14"/>
          <p:cNvSpPr/>
          <p:nvPr/>
        </p:nvSpPr>
        <p:spPr>
          <a:xfrm>
            <a:off x="8158277"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7" name="Shape 15"/>
          <p:cNvSpPr/>
          <p:nvPr/>
        </p:nvSpPr>
        <p:spPr>
          <a:xfrm>
            <a:off x="8386877" y="2377440"/>
            <a:ext cx="365760" cy="365760"/>
          </a:xfrm>
          <a:prstGeom prst="ellipse">
            <a:avLst/>
          </a:prstGeom>
          <a:solidFill>
            <a:srgbClr val="12283F"/>
          </a:solidFill>
          <a:ln/>
        </p:spPr>
        <p:txBody>
          <a:bodyPr/>
          <a:lstStyle/>
          <a:p>
            <a:endParaRPr lang="en-US"/>
          </a:p>
        </p:txBody>
      </p:sp>
      <p:sp>
        <p:nvSpPr>
          <p:cNvPr id="18" name="Text 16"/>
          <p:cNvSpPr/>
          <p:nvPr/>
        </p:nvSpPr>
        <p:spPr>
          <a:xfrm>
            <a:off x="8386877"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935517"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High BP Count by Age Group</a:t>
            </a:r>
            <a:endParaRPr lang="en-US" sz="1250" dirty="0"/>
          </a:p>
        </p:txBody>
      </p:sp>
      <p:sp>
        <p:nvSpPr>
          <p:cNvPr id="20" name="Text 18"/>
          <p:cNvSpPr/>
          <p:nvPr/>
        </p:nvSpPr>
        <p:spPr>
          <a:xfrm>
            <a:off x="8386877"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Horizontal bars ranking raw high-BP case counts across every age band.</a:t>
            </a:r>
            <a:endParaRPr lang="en-US" sz="1050" dirty="0"/>
          </a:p>
        </p:txBody>
      </p:sp>
      <p:sp>
        <p:nvSpPr>
          <p:cNvPr id="21" name="Shape 19"/>
          <p:cNvSpPr/>
          <p:nvPr/>
        </p:nvSpPr>
        <p:spPr>
          <a:xfrm>
            <a:off x="548640"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2" name="Shape 20"/>
          <p:cNvSpPr/>
          <p:nvPr/>
        </p:nvSpPr>
        <p:spPr>
          <a:xfrm>
            <a:off x="777240" y="4526280"/>
            <a:ext cx="365760" cy="365760"/>
          </a:xfrm>
          <a:prstGeom prst="ellipse">
            <a:avLst/>
          </a:prstGeom>
          <a:solidFill>
            <a:srgbClr val="12283F"/>
          </a:solidFill>
          <a:ln/>
        </p:spPr>
        <p:txBody>
          <a:bodyPr/>
          <a:lstStyle/>
          <a:p>
            <a:endParaRPr lang="en-US"/>
          </a:p>
        </p:txBody>
      </p:sp>
      <p:sp>
        <p:nvSpPr>
          <p:cNvPr id="23" name="Text 21"/>
          <p:cNvSpPr/>
          <p:nvPr/>
        </p:nvSpPr>
        <p:spPr>
          <a:xfrm>
            <a:off x="777240"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325880"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Systolic 130+ Count</a:t>
            </a:r>
            <a:endParaRPr lang="en-US" sz="1250" dirty="0"/>
          </a:p>
        </p:txBody>
      </p:sp>
      <p:sp>
        <p:nvSpPr>
          <p:cNvPr id="25" name="Text 23"/>
          <p:cNvSpPr/>
          <p:nvPr/>
        </p:nvSpPr>
        <p:spPr>
          <a:xfrm>
            <a:off x="777240"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Single bar isolating everyone with systolic pressure at or above 130 mmHg.</a:t>
            </a:r>
            <a:endParaRPr lang="en-US" sz="1050" dirty="0"/>
          </a:p>
        </p:txBody>
      </p:sp>
      <p:sp>
        <p:nvSpPr>
          <p:cNvPr id="26" name="Shape 24"/>
          <p:cNvSpPr/>
          <p:nvPr/>
        </p:nvSpPr>
        <p:spPr>
          <a:xfrm>
            <a:off x="4353458"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7" name="Shape 25"/>
          <p:cNvSpPr/>
          <p:nvPr/>
        </p:nvSpPr>
        <p:spPr>
          <a:xfrm>
            <a:off x="4582058" y="4526280"/>
            <a:ext cx="365760" cy="365760"/>
          </a:xfrm>
          <a:prstGeom prst="ellipse">
            <a:avLst/>
          </a:prstGeom>
          <a:solidFill>
            <a:srgbClr val="12283F"/>
          </a:solidFill>
          <a:ln/>
        </p:spPr>
        <p:txBody>
          <a:bodyPr/>
          <a:lstStyle/>
          <a:p>
            <a:endParaRPr lang="en-US"/>
          </a:p>
        </p:txBody>
      </p:sp>
      <p:sp>
        <p:nvSpPr>
          <p:cNvPr id="28" name="Text 26"/>
          <p:cNvSpPr/>
          <p:nvPr/>
        </p:nvSpPr>
        <p:spPr>
          <a:xfrm>
            <a:off x="4582058"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5130698"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BP Risk Category Split</a:t>
            </a:r>
            <a:endParaRPr lang="en-US" sz="1250" dirty="0"/>
          </a:p>
        </p:txBody>
      </p:sp>
      <p:sp>
        <p:nvSpPr>
          <p:cNvPr id="30" name="Text 28"/>
          <p:cNvSpPr/>
          <p:nvPr/>
        </p:nvSpPr>
        <p:spPr>
          <a:xfrm>
            <a:off x="4582058"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dividing the population into Normal (59.7%) vs. Elevated/High (40.3%) risk.</a:t>
            </a:r>
            <a:endParaRPr lang="en-US" sz="1050" dirty="0"/>
          </a:p>
        </p:txBody>
      </p:sp>
      <p:sp>
        <p:nvSpPr>
          <p:cNvPr id="31" name="Shape 29"/>
          <p:cNvSpPr/>
          <p:nvPr/>
        </p:nvSpPr>
        <p:spPr>
          <a:xfrm>
            <a:off x="8158277"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32" name="Shape 30"/>
          <p:cNvSpPr/>
          <p:nvPr/>
        </p:nvSpPr>
        <p:spPr>
          <a:xfrm>
            <a:off x="8386877" y="4526280"/>
            <a:ext cx="365760" cy="365760"/>
          </a:xfrm>
          <a:prstGeom prst="ellipse">
            <a:avLst/>
          </a:prstGeom>
          <a:solidFill>
            <a:srgbClr val="12283F"/>
          </a:solidFill>
          <a:ln/>
        </p:spPr>
        <p:txBody>
          <a:bodyPr/>
          <a:lstStyle/>
          <a:p>
            <a:endParaRPr lang="en-US"/>
          </a:p>
        </p:txBody>
      </p:sp>
      <p:sp>
        <p:nvSpPr>
          <p:cNvPr id="33" name="Text 31"/>
          <p:cNvSpPr/>
          <p:nvPr/>
        </p:nvSpPr>
        <p:spPr>
          <a:xfrm>
            <a:off x="8386877"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8935517"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Population by Age Group</a:t>
            </a:r>
            <a:endParaRPr lang="en-US" sz="1250" dirty="0"/>
          </a:p>
        </p:txBody>
      </p:sp>
      <p:sp>
        <p:nvSpPr>
          <p:cNvPr id="35" name="Text 33"/>
          <p:cNvSpPr/>
          <p:nvPr/>
        </p:nvSpPr>
        <p:spPr>
          <a:xfrm>
            <a:off x="8386877"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of total headcount within each of the six age groups.</a:t>
            </a:r>
            <a:endParaRPr lang="en-US" sz="1050" dirty="0"/>
          </a:p>
        </p:txBody>
      </p:sp>
      <p:sp>
        <p:nvSpPr>
          <p:cNvPr id="36" name="Text 3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Cardiometabolic Profile</a:t>
            </a:r>
            <a:endParaRPr lang="en-US" sz="900" dirty="0"/>
          </a:p>
        </p:txBody>
      </p:sp>
      <p:sp>
        <p:nvSpPr>
          <p:cNvPr id="37" name="Text 35"/>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23 / 45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03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Business Questions Answered with SQL</a:t>
            </a:r>
            <a:endParaRPr lang="en-US" sz="3000" dirty="0"/>
          </a:p>
        </p:txBody>
      </p:sp>
      <p:sp>
        <p:nvSpPr>
          <p:cNvPr id="5" name="Shape 3"/>
          <p:cNvSpPr/>
          <p:nvPr/>
        </p:nvSpPr>
        <p:spPr>
          <a:xfrm>
            <a:off x="548640" y="2103120"/>
            <a:ext cx="11094415" cy="548640"/>
          </a:xfrm>
          <a:prstGeom prst="roundRect">
            <a:avLst>
              <a:gd name="adj" fmla="val 11667"/>
            </a:avLst>
          </a:prstGeom>
          <a:solidFill>
            <a:srgbClr val="EAF3F8"/>
          </a:solidFill>
          <a:ln/>
        </p:spPr>
        <p:txBody>
          <a:bodyPr/>
          <a:lstStyle/>
          <a:p>
            <a:endParaRPr lang="en-US"/>
          </a:p>
        </p:txBody>
      </p:sp>
      <p:sp>
        <p:nvSpPr>
          <p:cNvPr id="6" name="Text 4"/>
          <p:cNvSpPr/>
          <p:nvPr/>
        </p:nvSpPr>
        <p:spPr>
          <a:xfrm>
            <a:off x="685800" y="21031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1143000" y="2231136"/>
            <a:ext cx="868680" cy="292608"/>
          </a:xfrm>
          <a:prstGeom prst="roundRect">
            <a:avLst>
              <a:gd name="adj" fmla="val 50000"/>
            </a:avLst>
          </a:prstGeom>
          <a:solidFill>
            <a:srgbClr val="22A699"/>
          </a:solidFill>
          <a:ln/>
        </p:spPr>
        <p:txBody>
          <a:bodyPr/>
          <a:lstStyle/>
          <a:p>
            <a:endParaRPr lang="en-US"/>
          </a:p>
        </p:txBody>
      </p:sp>
      <p:sp>
        <p:nvSpPr>
          <p:cNvPr id="8" name="Text 6"/>
          <p:cNvSpPr/>
          <p:nvPr/>
        </p:nvSpPr>
        <p:spPr>
          <a:xfrm>
            <a:off x="1143000" y="22311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9" name="Text 7"/>
          <p:cNvSpPr/>
          <p:nvPr/>
        </p:nvSpPr>
        <p:spPr>
          <a:xfrm>
            <a:off x="2194560" y="21031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What is the highest total cholesterol value in the dataset?</a:t>
            </a:r>
            <a:endParaRPr lang="en-US" sz="1200" dirty="0"/>
          </a:p>
        </p:txBody>
      </p:sp>
      <p:sp>
        <p:nvSpPr>
          <p:cNvPr id="10" name="Shape 8"/>
          <p:cNvSpPr/>
          <p:nvPr/>
        </p:nvSpPr>
        <p:spPr>
          <a:xfrm>
            <a:off x="548640" y="2743200"/>
            <a:ext cx="11094415" cy="548640"/>
          </a:xfrm>
          <a:prstGeom prst="roundRect">
            <a:avLst>
              <a:gd name="adj" fmla="val 11667"/>
            </a:avLst>
          </a:prstGeom>
          <a:solidFill>
            <a:srgbClr val="FFFFFF"/>
          </a:solidFill>
          <a:ln/>
        </p:spPr>
        <p:txBody>
          <a:bodyPr/>
          <a:lstStyle/>
          <a:p>
            <a:endParaRPr lang="en-US"/>
          </a:p>
        </p:txBody>
      </p:sp>
      <p:sp>
        <p:nvSpPr>
          <p:cNvPr id="11" name="Text 9"/>
          <p:cNvSpPr/>
          <p:nvPr/>
        </p:nvSpPr>
        <p:spPr>
          <a:xfrm>
            <a:off x="685800" y="27432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1143000" y="2871216"/>
            <a:ext cx="868680" cy="292608"/>
          </a:xfrm>
          <a:prstGeom prst="roundRect">
            <a:avLst>
              <a:gd name="adj" fmla="val 50000"/>
            </a:avLst>
          </a:prstGeom>
          <a:solidFill>
            <a:srgbClr val="22A699"/>
          </a:solidFill>
          <a:ln/>
        </p:spPr>
        <p:txBody>
          <a:bodyPr/>
          <a:lstStyle/>
          <a:p>
            <a:endParaRPr lang="en-US"/>
          </a:p>
        </p:txBody>
      </p:sp>
      <p:sp>
        <p:nvSpPr>
          <p:cNvPr id="13" name="Text 11"/>
          <p:cNvSpPr/>
          <p:nvPr/>
        </p:nvSpPr>
        <p:spPr>
          <a:xfrm>
            <a:off x="1143000" y="28712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4" name="Text 12"/>
          <p:cNvSpPr/>
          <p:nvPr/>
        </p:nvSpPr>
        <p:spPr>
          <a:xfrm>
            <a:off x="2194560" y="27432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What is the lowest LDL cholesterol value in the dataset?</a:t>
            </a:r>
            <a:endParaRPr lang="en-US" sz="1200" dirty="0"/>
          </a:p>
        </p:txBody>
      </p:sp>
      <p:sp>
        <p:nvSpPr>
          <p:cNvPr id="15" name="Shape 13"/>
          <p:cNvSpPr/>
          <p:nvPr/>
        </p:nvSpPr>
        <p:spPr>
          <a:xfrm>
            <a:off x="548640" y="3383280"/>
            <a:ext cx="11094415" cy="548640"/>
          </a:xfrm>
          <a:prstGeom prst="roundRect">
            <a:avLst>
              <a:gd name="adj" fmla="val 11667"/>
            </a:avLst>
          </a:prstGeom>
          <a:solidFill>
            <a:srgbClr val="EAF3F8"/>
          </a:solidFill>
          <a:ln/>
        </p:spPr>
        <p:txBody>
          <a:bodyPr/>
          <a:lstStyle/>
          <a:p>
            <a:endParaRPr lang="en-US"/>
          </a:p>
        </p:txBody>
      </p:sp>
      <p:sp>
        <p:nvSpPr>
          <p:cNvPr id="16" name="Text 14"/>
          <p:cNvSpPr/>
          <p:nvPr/>
        </p:nvSpPr>
        <p:spPr>
          <a:xfrm>
            <a:off x="685800" y="338328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3</a:t>
            </a:r>
            <a:endParaRPr lang="en-US" sz="1300" dirty="0"/>
          </a:p>
        </p:txBody>
      </p:sp>
      <p:sp>
        <p:nvSpPr>
          <p:cNvPr id="17" name="Shape 15"/>
          <p:cNvSpPr/>
          <p:nvPr/>
        </p:nvSpPr>
        <p:spPr>
          <a:xfrm>
            <a:off x="1143000" y="3511296"/>
            <a:ext cx="868680" cy="292608"/>
          </a:xfrm>
          <a:prstGeom prst="roundRect">
            <a:avLst>
              <a:gd name="adj" fmla="val 50000"/>
            </a:avLst>
          </a:prstGeom>
          <a:solidFill>
            <a:srgbClr val="22A699"/>
          </a:solidFill>
          <a:ln/>
        </p:spPr>
        <p:txBody>
          <a:bodyPr/>
          <a:lstStyle/>
          <a:p>
            <a:endParaRPr lang="en-US"/>
          </a:p>
        </p:txBody>
      </p:sp>
      <p:sp>
        <p:nvSpPr>
          <p:cNvPr id="18" name="Text 16"/>
          <p:cNvSpPr/>
          <p:nvPr/>
        </p:nvSpPr>
        <p:spPr>
          <a:xfrm>
            <a:off x="1143000" y="351129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9" name="Text 17"/>
          <p:cNvSpPr/>
          <p:nvPr/>
        </p:nvSpPr>
        <p:spPr>
          <a:xfrm>
            <a:off x="2194560" y="338328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HDL cholesterol below 40?</a:t>
            </a:r>
            <a:endParaRPr lang="en-US" sz="1200" dirty="0"/>
          </a:p>
        </p:txBody>
      </p:sp>
      <p:sp>
        <p:nvSpPr>
          <p:cNvPr id="20" name="Shape 18"/>
          <p:cNvSpPr/>
          <p:nvPr/>
        </p:nvSpPr>
        <p:spPr>
          <a:xfrm>
            <a:off x="548640" y="4023360"/>
            <a:ext cx="11094415" cy="548640"/>
          </a:xfrm>
          <a:prstGeom prst="roundRect">
            <a:avLst>
              <a:gd name="adj" fmla="val 11667"/>
            </a:avLst>
          </a:prstGeom>
          <a:solidFill>
            <a:srgbClr val="FFFFFF"/>
          </a:solidFill>
          <a:ln/>
        </p:spPr>
        <p:txBody>
          <a:bodyPr/>
          <a:lstStyle/>
          <a:p>
            <a:endParaRPr lang="en-US"/>
          </a:p>
        </p:txBody>
      </p:sp>
      <p:sp>
        <p:nvSpPr>
          <p:cNvPr id="21" name="Text 19"/>
          <p:cNvSpPr/>
          <p:nvPr/>
        </p:nvSpPr>
        <p:spPr>
          <a:xfrm>
            <a:off x="685800" y="402336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4</a:t>
            </a:r>
            <a:endParaRPr lang="en-US" sz="1300" dirty="0"/>
          </a:p>
        </p:txBody>
      </p:sp>
      <p:sp>
        <p:nvSpPr>
          <p:cNvPr id="22" name="Shape 20"/>
          <p:cNvSpPr/>
          <p:nvPr/>
        </p:nvSpPr>
        <p:spPr>
          <a:xfrm>
            <a:off x="1143000" y="4151376"/>
            <a:ext cx="868680" cy="292608"/>
          </a:xfrm>
          <a:prstGeom prst="roundRect">
            <a:avLst>
              <a:gd name="adj" fmla="val 50000"/>
            </a:avLst>
          </a:prstGeom>
          <a:solidFill>
            <a:srgbClr val="D99A2B"/>
          </a:solidFill>
          <a:ln/>
        </p:spPr>
        <p:txBody>
          <a:bodyPr/>
          <a:lstStyle/>
          <a:p>
            <a:endParaRPr lang="en-US"/>
          </a:p>
        </p:txBody>
      </p:sp>
      <p:sp>
        <p:nvSpPr>
          <p:cNvPr id="23" name="Text 21"/>
          <p:cNvSpPr/>
          <p:nvPr/>
        </p:nvSpPr>
        <p:spPr>
          <a:xfrm>
            <a:off x="1143000" y="415137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4" name="Text 22"/>
          <p:cNvSpPr/>
          <p:nvPr/>
        </p:nvSpPr>
        <p:spPr>
          <a:xfrm>
            <a:off x="2194560" y="402336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fall into the Desirable, Borderline High, and High total cholesterol categories?</a:t>
            </a:r>
            <a:endParaRPr lang="en-US" sz="1200" dirty="0"/>
          </a:p>
        </p:txBody>
      </p:sp>
      <p:sp>
        <p:nvSpPr>
          <p:cNvPr id="25" name="Shape 23"/>
          <p:cNvSpPr/>
          <p:nvPr/>
        </p:nvSpPr>
        <p:spPr>
          <a:xfrm>
            <a:off x="548640" y="4663440"/>
            <a:ext cx="11094415" cy="548640"/>
          </a:xfrm>
          <a:prstGeom prst="roundRect">
            <a:avLst>
              <a:gd name="adj" fmla="val 11667"/>
            </a:avLst>
          </a:prstGeom>
          <a:solidFill>
            <a:srgbClr val="EAF3F8"/>
          </a:solidFill>
          <a:ln/>
        </p:spPr>
        <p:txBody>
          <a:bodyPr/>
          <a:lstStyle/>
          <a:p>
            <a:endParaRPr lang="en-US"/>
          </a:p>
        </p:txBody>
      </p:sp>
      <p:sp>
        <p:nvSpPr>
          <p:cNvPr id="26" name="Text 24"/>
          <p:cNvSpPr/>
          <p:nvPr/>
        </p:nvSpPr>
        <p:spPr>
          <a:xfrm>
            <a:off x="685800" y="466344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5</a:t>
            </a:r>
            <a:endParaRPr lang="en-US" sz="1300" dirty="0"/>
          </a:p>
        </p:txBody>
      </p:sp>
      <p:sp>
        <p:nvSpPr>
          <p:cNvPr id="27" name="Shape 25"/>
          <p:cNvSpPr/>
          <p:nvPr/>
        </p:nvSpPr>
        <p:spPr>
          <a:xfrm>
            <a:off x="1143000" y="4791456"/>
            <a:ext cx="868680" cy="292608"/>
          </a:xfrm>
          <a:prstGeom prst="roundRect">
            <a:avLst>
              <a:gd name="adj" fmla="val 50000"/>
            </a:avLst>
          </a:prstGeom>
          <a:solidFill>
            <a:srgbClr val="D99A2B"/>
          </a:solidFill>
          <a:ln/>
        </p:spPr>
        <p:txBody>
          <a:bodyPr/>
          <a:lstStyle/>
          <a:p>
            <a:endParaRPr lang="en-US"/>
          </a:p>
        </p:txBody>
      </p:sp>
      <p:sp>
        <p:nvSpPr>
          <p:cNvPr id="28" name="Text 26"/>
          <p:cNvSpPr/>
          <p:nvPr/>
        </p:nvSpPr>
        <p:spPr>
          <a:xfrm>
            <a:off x="1143000" y="479145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p:nvPr/>
        </p:nvSpPr>
        <p:spPr>
          <a:xfrm>
            <a:off x="2194560" y="466344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LDL cholesterol classified as High or Very High?</a:t>
            </a:r>
            <a:endParaRPr lang="en-US" sz="1200" dirty="0"/>
          </a:p>
        </p:txBody>
      </p:sp>
      <p:sp>
        <p:nvSpPr>
          <p:cNvPr id="30" name="Shape 28"/>
          <p:cNvSpPr/>
          <p:nvPr/>
        </p:nvSpPr>
        <p:spPr>
          <a:xfrm>
            <a:off x="548640" y="5303520"/>
            <a:ext cx="11094415" cy="548640"/>
          </a:xfrm>
          <a:prstGeom prst="roundRect">
            <a:avLst>
              <a:gd name="adj" fmla="val 11667"/>
            </a:avLst>
          </a:prstGeom>
          <a:solidFill>
            <a:srgbClr val="FFFFFF"/>
          </a:solidFill>
          <a:ln/>
        </p:spPr>
        <p:txBody>
          <a:bodyPr/>
          <a:lstStyle/>
          <a:p>
            <a:endParaRPr lang="en-US"/>
          </a:p>
        </p:txBody>
      </p:sp>
      <p:sp>
        <p:nvSpPr>
          <p:cNvPr id="31" name="Text 29"/>
          <p:cNvSpPr/>
          <p:nvPr/>
        </p:nvSpPr>
        <p:spPr>
          <a:xfrm>
            <a:off x="685800" y="53035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6</a:t>
            </a:r>
            <a:endParaRPr lang="en-US" sz="1300" dirty="0"/>
          </a:p>
        </p:txBody>
      </p:sp>
      <p:sp>
        <p:nvSpPr>
          <p:cNvPr id="32" name="Shape 30"/>
          <p:cNvSpPr/>
          <p:nvPr/>
        </p:nvSpPr>
        <p:spPr>
          <a:xfrm>
            <a:off x="1143000" y="5431536"/>
            <a:ext cx="868680" cy="292608"/>
          </a:xfrm>
          <a:prstGeom prst="roundRect">
            <a:avLst>
              <a:gd name="adj" fmla="val 50000"/>
            </a:avLst>
          </a:prstGeom>
          <a:solidFill>
            <a:srgbClr val="D99A2B"/>
          </a:solidFill>
          <a:ln/>
        </p:spPr>
        <p:txBody>
          <a:bodyPr/>
          <a:lstStyle/>
          <a:p>
            <a:endParaRPr lang="en-US"/>
          </a:p>
        </p:txBody>
      </p:sp>
      <p:sp>
        <p:nvSpPr>
          <p:cNvPr id="33" name="Text 31"/>
          <p:cNvSpPr/>
          <p:nvPr/>
        </p:nvSpPr>
        <p:spPr>
          <a:xfrm>
            <a:off x="1143000" y="54315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4" name="Text 32"/>
          <p:cNvSpPr/>
          <p:nvPr/>
        </p:nvSpPr>
        <p:spPr>
          <a:xfrm>
            <a:off x="2194560" y="53035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does the number of people with high total cholesterol differ between smokers and non-smokers?</a:t>
            </a:r>
            <a:endParaRPr lang="en-US" sz="1200" dirty="0"/>
          </a:p>
        </p:txBody>
      </p:sp>
      <p:sp>
        <p:nvSpPr>
          <p:cNvPr id="35" name="Shape 33"/>
          <p:cNvSpPr/>
          <p:nvPr/>
        </p:nvSpPr>
        <p:spPr>
          <a:xfrm>
            <a:off x="548640" y="5943600"/>
            <a:ext cx="11094415" cy="548640"/>
          </a:xfrm>
          <a:prstGeom prst="roundRect">
            <a:avLst>
              <a:gd name="adj" fmla="val 11667"/>
            </a:avLst>
          </a:prstGeom>
          <a:solidFill>
            <a:srgbClr val="EAF3F8"/>
          </a:solidFill>
          <a:ln/>
        </p:spPr>
        <p:txBody>
          <a:bodyPr/>
          <a:lstStyle/>
          <a:p>
            <a:endParaRPr lang="en-US"/>
          </a:p>
        </p:txBody>
      </p:sp>
      <p:sp>
        <p:nvSpPr>
          <p:cNvPr id="36" name="Text 34"/>
          <p:cNvSpPr/>
          <p:nvPr/>
        </p:nvSpPr>
        <p:spPr>
          <a:xfrm>
            <a:off x="685800" y="59436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7</a:t>
            </a:r>
            <a:endParaRPr lang="en-US" sz="1300" dirty="0"/>
          </a:p>
        </p:txBody>
      </p:sp>
      <p:sp>
        <p:nvSpPr>
          <p:cNvPr id="37" name="Shape 35"/>
          <p:cNvSpPr/>
          <p:nvPr/>
        </p:nvSpPr>
        <p:spPr>
          <a:xfrm>
            <a:off x="1143000" y="6071616"/>
            <a:ext cx="868680" cy="292608"/>
          </a:xfrm>
          <a:prstGeom prst="roundRect">
            <a:avLst>
              <a:gd name="adj" fmla="val 50000"/>
            </a:avLst>
          </a:prstGeom>
          <a:solidFill>
            <a:srgbClr val="C1443C"/>
          </a:solidFill>
          <a:ln/>
        </p:spPr>
        <p:txBody>
          <a:bodyPr/>
          <a:lstStyle/>
          <a:p>
            <a:endParaRPr lang="en-US"/>
          </a:p>
        </p:txBody>
      </p:sp>
      <p:sp>
        <p:nvSpPr>
          <p:cNvPr id="38" name="Text 36"/>
          <p:cNvSpPr/>
          <p:nvPr/>
        </p:nvSpPr>
        <p:spPr>
          <a:xfrm>
            <a:off x="1143000" y="60716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a:t>
            </a:r>
            <a:endParaRPr lang="en-US" sz="1000" dirty="0"/>
          </a:p>
        </p:txBody>
      </p:sp>
      <p:sp>
        <p:nvSpPr>
          <p:cNvPr id="39" name="Text 37"/>
          <p:cNvSpPr/>
          <p:nvPr/>
        </p:nvSpPr>
        <p:spPr>
          <a:xfrm>
            <a:off x="2194560" y="59436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Which age group has the highest percentage of people with high LDL cholesterol?</a:t>
            </a:r>
            <a:endParaRPr lang="en-US" sz="1200" dirty="0"/>
          </a:p>
        </p:txBody>
      </p:sp>
      <p:sp>
        <p:nvSpPr>
          <p:cNvPr id="40" name="Text 38"/>
          <p:cNvSpPr/>
          <p:nvPr/>
        </p:nvSpPr>
        <p:spPr>
          <a:xfrm>
            <a:off x="548640" y="6629400"/>
            <a:ext cx="11094415" cy="320040"/>
          </a:xfrm>
          <a:prstGeom prst="rect">
            <a:avLst/>
          </a:prstGeom>
          <a:noFill/>
          <a:ln/>
        </p:spPr>
        <p:txBody>
          <a:bodyPr wrap="square" lIns="0" tIns="0" rIns="0" bIns="0" rtlCol="0" anchor="ctr"/>
          <a:lstStyle/>
          <a:p>
            <a:pPr marL="0" indent="0">
              <a:buNone/>
            </a:pPr>
            <a:r>
              <a:rPr lang="en-US" sz="1050" i="1" dirty="0">
                <a:solidFill>
                  <a:srgbClr val="5B7284"/>
                </a:solidFill>
                <a:latin typeface="Calibri" pitchFamily="34" charset="0"/>
                <a:ea typeface="Calibri" pitchFamily="34" charset="-122"/>
                <a:cs typeface="Calibri" pitchFamily="34" charset="-120"/>
              </a:rPr>
              <a:t>Question mix: 3 Easy · 3 Medium · 1 Hard — KPIs are tracked separately from these seven SQL business questions.</a:t>
            </a:r>
            <a:endParaRPr lang="en-US" sz="1050" dirty="0"/>
          </a:p>
        </p:txBody>
      </p:sp>
      <p:sp>
        <p:nvSpPr>
          <p:cNvPr id="41" name="Text 3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Cholesterol Risks</a:t>
            </a:r>
            <a:endParaRPr lang="en-US" sz="900" dirty="0"/>
          </a:p>
        </p:txBody>
      </p:sp>
      <p:sp>
        <p:nvSpPr>
          <p:cNvPr id="42" name="Text 4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29 / 45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03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Cholesterol Risks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Cholesterol and Blood Lipid Risk</a:t>
            </a:r>
            <a:endParaRPr lang="en-US" sz="1300" dirty="0"/>
          </a:p>
        </p:txBody>
      </p:sp>
      <p:sp>
        <p:nvSpPr>
          <p:cNvPr id="6" name="Shape 4"/>
          <p:cNvSpPr/>
          <p:nvPr/>
        </p:nvSpPr>
        <p:spPr>
          <a:xfrm>
            <a:off x="2367840" y="2221992"/>
            <a:ext cx="7456015" cy="4562856"/>
          </a:xfrm>
          <a:prstGeom prst="roundRect">
            <a:avLst>
              <a:gd name="adj" fmla="val 1603"/>
            </a:avLst>
          </a:prstGeom>
          <a:solidFill>
            <a:srgbClr val="FFFFFF"/>
          </a:solidFill>
          <a:ln w="12700">
            <a:solidFill>
              <a:srgbClr val="D7E4EC"/>
            </a:solidFill>
            <a:prstDash val="solid"/>
          </a:ln>
          <a:effectLst>
            <a:outerShdw blurRad="203200" dist="50800" dir="5400000" algn="bl" rotWithShape="0">
              <a:srgbClr val="12283F">
                <a:alpha val="22000"/>
              </a:srgbClr>
            </a:outerShdw>
          </a:effectLst>
        </p:spPr>
        <p:txBody>
          <a:bodyPr/>
          <a:lstStyle/>
          <a:p>
            <a:endParaRPr lang="en-US"/>
          </a:p>
        </p:txBody>
      </p:sp>
      <p:pic>
        <p:nvPicPr>
          <p:cNvPr id="7" name="Image 0" descr="/home/claude/medisights_ppt/Screenshot_2026-08-13_135259.png"/>
          <p:cNvPicPr>
            <a:picLocks noChangeAspect="1"/>
          </p:cNvPicPr>
          <p:nvPr/>
        </p:nvPicPr>
        <p:blipFill>
          <a:blip r:embed="rId3"/>
          <a:stretch>
            <a:fillRect/>
          </a:stretch>
        </p:blipFill>
        <p:spPr>
          <a:xfrm>
            <a:off x="2477568" y="2331720"/>
            <a:ext cx="7236559" cy="4343400"/>
          </a:xfrm>
          <a:prstGeom prst="rect">
            <a:avLst/>
          </a:prstGeom>
        </p:spPr>
      </p:pic>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Cholesterol Risks</a:t>
            </a:r>
            <a:endParaRPr lang="en-US" sz="900" dirty="0"/>
          </a:p>
        </p:txBody>
      </p:sp>
      <p:sp>
        <p:nvSpPr>
          <p:cNvPr id="9" name="Text 6"/>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25 / 45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03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Purpose &amp; Target Audience</a:t>
            </a:r>
            <a:endParaRPr lang="en-US" sz="3000" dirty="0"/>
          </a:p>
        </p:txBody>
      </p:sp>
      <p:sp>
        <p:nvSpPr>
          <p:cNvPr id="5" name="Shape 3"/>
          <p:cNvSpPr/>
          <p:nvPr/>
        </p:nvSpPr>
        <p:spPr>
          <a:xfrm>
            <a:off x="548640" y="1828800"/>
            <a:ext cx="11094415" cy="1234440"/>
          </a:xfrm>
          <a:prstGeom prst="roundRect">
            <a:avLst>
              <a:gd name="adj" fmla="val 8889"/>
            </a:avLst>
          </a:prstGeom>
          <a:solidFill>
            <a:srgbClr val="12283F"/>
          </a:solidFill>
          <a:ln/>
        </p:spPr>
        <p:txBody>
          <a:bodyPr/>
          <a:lstStyle/>
          <a:p>
            <a:endParaRPr lang="en-US"/>
          </a:p>
        </p:txBody>
      </p:sp>
      <p:sp>
        <p:nvSpPr>
          <p:cNvPr id="6" name="Text 4"/>
          <p:cNvSpPr/>
          <p:nvPr/>
        </p:nvSpPr>
        <p:spPr>
          <a:xfrm>
            <a:off x="868680" y="1993392"/>
            <a:ext cx="5486400" cy="274320"/>
          </a:xfrm>
          <a:prstGeom prst="rect">
            <a:avLst/>
          </a:prstGeom>
          <a:noFill/>
          <a:ln/>
        </p:spPr>
        <p:txBody>
          <a:bodyPr wrap="square" lIns="0" tIns="0" rIns="0" bIns="0" rtlCol="0" anchor="ctr"/>
          <a:lstStyle/>
          <a:p>
            <a:pPr marL="0" indent="0">
              <a:buNone/>
            </a:pPr>
            <a:r>
              <a:rPr lang="en-US" sz="1050" b="1" kern="0" spc="120" dirty="0">
                <a:solidFill>
                  <a:srgbClr val="22C3A6"/>
                </a:solidFill>
                <a:latin typeface="Calibri" pitchFamily="34" charset="0"/>
                <a:ea typeface="Calibri" pitchFamily="34" charset="-122"/>
                <a:cs typeface="Calibri" pitchFamily="34" charset="-120"/>
              </a:rPr>
              <a:t>DASHBOARD GOAL</a:t>
            </a:r>
            <a:endParaRPr lang="en-US" sz="1050" dirty="0"/>
          </a:p>
        </p:txBody>
      </p:sp>
      <p:sp>
        <p:nvSpPr>
          <p:cNvPr id="7" name="Text 5"/>
          <p:cNvSpPr/>
          <p:nvPr/>
        </p:nvSpPr>
        <p:spPr>
          <a:xfrm>
            <a:off x="868680" y="2267712"/>
            <a:ext cx="10454335" cy="73152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Monitor cholesterol and blood lipid indicators to identify groups with potentially higher cardiovascular risk and determine where attention is needed.</a:t>
            </a:r>
            <a:endParaRPr lang="en-US" sz="1350" dirty="0"/>
          </a:p>
        </p:txBody>
      </p:sp>
      <p:sp>
        <p:nvSpPr>
          <p:cNvPr id="8" name="Text 6"/>
          <p:cNvSpPr/>
          <p:nvPr/>
        </p:nvSpPr>
        <p:spPr>
          <a:xfrm>
            <a:off x="548640" y="3337560"/>
            <a:ext cx="5486400" cy="320040"/>
          </a:xfrm>
          <a:prstGeom prst="rect">
            <a:avLst/>
          </a:prstGeom>
          <a:noFill/>
          <a:ln/>
        </p:spPr>
        <p:txBody>
          <a:bodyPr wrap="square" lIns="0" tIns="0" rIns="0" bIns="0" rtlCol="0" anchor="ctr"/>
          <a:lstStyle/>
          <a:p>
            <a:pPr marL="0" indent="0">
              <a:buNone/>
            </a:pPr>
            <a:r>
              <a:rPr lang="en-US" sz="1200" b="1" kern="0" spc="100" dirty="0">
                <a:solidFill>
                  <a:srgbClr val="12283F"/>
                </a:solidFill>
                <a:latin typeface="Calibri" pitchFamily="34" charset="0"/>
                <a:ea typeface="Calibri" pitchFamily="34" charset="-122"/>
                <a:cs typeface="Calibri" pitchFamily="34" charset="-120"/>
              </a:rPr>
              <a:t>WHO USES THIS DASHBOARD</a:t>
            </a:r>
            <a:endParaRPr lang="en-US" sz="1200" dirty="0"/>
          </a:p>
        </p:txBody>
      </p:sp>
      <p:sp>
        <p:nvSpPr>
          <p:cNvPr id="9" name="Shape 7"/>
          <p:cNvSpPr/>
          <p:nvPr/>
        </p:nvSpPr>
        <p:spPr>
          <a:xfrm>
            <a:off x="548640"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0" name="Shape 8"/>
          <p:cNvSpPr/>
          <p:nvPr/>
        </p:nvSpPr>
        <p:spPr>
          <a:xfrm>
            <a:off x="1622260" y="4069080"/>
            <a:ext cx="420624" cy="420624"/>
          </a:xfrm>
          <a:prstGeom prst="ellipse">
            <a:avLst/>
          </a:prstGeom>
          <a:solidFill>
            <a:srgbClr val="1C7293"/>
          </a:solidFill>
          <a:ln/>
        </p:spPr>
        <p:txBody>
          <a:bodyPr/>
          <a:lstStyle/>
          <a:p>
            <a:endParaRPr lang="en-US"/>
          </a:p>
        </p:txBody>
      </p:sp>
      <p:sp>
        <p:nvSpPr>
          <p:cNvPr id="11" name="Text 9"/>
          <p:cNvSpPr/>
          <p:nvPr/>
        </p:nvSpPr>
        <p:spPr>
          <a:xfrm>
            <a:off x="1622260"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85800"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Cardiovascular Risk Analysts</a:t>
            </a:r>
            <a:endParaRPr lang="en-US" sz="1250" dirty="0"/>
          </a:p>
        </p:txBody>
      </p:sp>
      <p:sp>
        <p:nvSpPr>
          <p:cNvPr id="13" name="Shape 11"/>
          <p:cNvSpPr/>
          <p:nvPr/>
        </p:nvSpPr>
        <p:spPr>
          <a:xfrm>
            <a:off x="3390824"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4" name="Shape 12"/>
          <p:cNvSpPr/>
          <p:nvPr/>
        </p:nvSpPr>
        <p:spPr>
          <a:xfrm>
            <a:off x="4464444" y="4069080"/>
            <a:ext cx="420624" cy="420624"/>
          </a:xfrm>
          <a:prstGeom prst="ellipse">
            <a:avLst/>
          </a:prstGeom>
          <a:solidFill>
            <a:srgbClr val="1C7293"/>
          </a:solidFill>
          <a:ln/>
        </p:spPr>
        <p:txBody>
          <a:bodyPr/>
          <a:lstStyle/>
          <a:p>
            <a:endParaRPr lang="en-US"/>
          </a:p>
        </p:txBody>
      </p:sp>
      <p:sp>
        <p:nvSpPr>
          <p:cNvPr id="15" name="Text 13"/>
          <p:cNvSpPr/>
          <p:nvPr/>
        </p:nvSpPr>
        <p:spPr>
          <a:xfrm>
            <a:off x="4464444"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3527984"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Clinical Nutrition Teams</a:t>
            </a:r>
            <a:endParaRPr lang="en-US" sz="1250" dirty="0"/>
          </a:p>
        </p:txBody>
      </p:sp>
      <p:sp>
        <p:nvSpPr>
          <p:cNvPr id="17" name="Shape 15"/>
          <p:cNvSpPr/>
          <p:nvPr/>
        </p:nvSpPr>
        <p:spPr>
          <a:xfrm>
            <a:off x="6233008"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8" name="Shape 16"/>
          <p:cNvSpPr/>
          <p:nvPr/>
        </p:nvSpPr>
        <p:spPr>
          <a:xfrm>
            <a:off x="7306628" y="4069080"/>
            <a:ext cx="420624" cy="420624"/>
          </a:xfrm>
          <a:prstGeom prst="ellipse">
            <a:avLst/>
          </a:prstGeom>
          <a:solidFill>
            <a:srgbClr val="1C7293"/>
          </a:solidFill>
          <a:ln/>
        </p:spPr>
        <p:txBody>
          <a:bodyPr/>
          <a:lstStyle/>
          <a:p>
            <a:endParaRPr lang="en-US"/>
          </a:p>
        </p:txBody>
      </p:sp>
      <p:sp>
        <p:nvSpPr>
          <p:cNvPr id="19" name="Text 17"/>
          <p:cNvSpPr/>
          <p:nvPr/>
        </p:nvSpPr>
        <p:spPr>
          <a:xfrm>
            <a:off x="7306628"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370168"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 Screening Teams</a:t>
            </a:r>
            <a:endParaRPr lang="en-US" sz="1250" dirty="0"/>
          </a:p>
        </p:txBody>
      </p:sp>
      <p:sp>
        <p:nvSpPr>
          <p:cNvPr id="21" name="Shape 19"/>
          <p:cNvSpPr/>
          <p:nvPr/>
        </p:nvSpPr>
        <p:spPr>
          <a:xfrm>
            <a:off x="9075191"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22" name="Shape 20"/>
          <p:cNvSpPr/>
          <p:nvPr/>
        </p:nvSpPr>
        <p:spPr>
          <a:xfrm>
            <a:off x="10148811" y="4069080"/>
            <a:ext cx="420624" cy="420624"/>
          </a:xfrm>
          <a:prstGeom prst="ellipse">
            <a:avLst/>
          </a:prstGeom>
          <a:solidFill>
            <a:srgbClr val="1C7293"/>
          </a:solidFill>
          <a:ln/>
        </p:spPr>
        <p:txBody>
          <a:bodyPr/>
          <a:lstStyle/>
          <a:p>
            <a:endParaRPr lang="en-US"/>
          </a:p>
        </p:txBody>
      </p:sp>
      <p:sp>
        <p:nvSpPr>
          <p:cNvPr id="23" name="Text 21"/>
          <p:cNvSpPr/>
          <p:nvPr/>
        </p:nvSpPr>
        <p:spPr>
          <a:xfrm>
            <a:off x="10148811"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212351"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Healthcare Researchers</a:t>
            </a:r>
            <a:endParaRPr lang="en-US" sz="12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Cholesterol Risks</a:t>
            </a:r>
            <a:endParaRPr lang="en-US" sz="900" dirty="0"/>
          </a:p>
        </p:txBody>
      </p:sp>
      <p:sp>
        <p:nvSpPr>
          <p:cNvPr id="26" name="Text 24"/>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26 / 45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03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Key Performance Indicators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The headline numbers this dashboard puts front and center, and why each one matters.</a:t>
            </a:r>
            <a:endParaRPr lang="en-US" sz="1300" dirty="0"/>
          </a:p>
        </p:txBody>
      </p:sp>
      <p:sp>
        <p:nvSpPr>
          <p:cNvPr id="6" name="Shape 4"/>
          <p:cNvSpPr/>
          <p:nvPr/>
        </p:nvSpPr>
        <p:spPr>
          <a:xfrm>
            <a:off x="548640"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7" name="Text 5"/>
          <p:cNvSpPr/>
          <p:nvPr/>
        </p:nvSpPr>
        <p:spPr>
          <a:xfrm>
            <a:off x="658368"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193.19</a:t>
            </a:r>
            <a:endParaRPr lang="en-US" sz="2100" dirty="0"/>
          </a:p>
        </p:txBody>
      </p:sp>
      <p:sp>
        <p:nvSpPr>
          <p:cNvPr id="8" name="Shape 6"/>
          <p:cNvSpPr/>
          <p:nvPr/>
        </p:nvSpPr>
        <p:spPr>
          <a:xfrm>
            <a:off x="822960" y="3474720"/>
            <a:ext cx="1465417" cy="0"/>
          </a:xfrm>
          <a:prstGeom prst="line">
            <a:avLst/>
          </a:prstGeom>
          <a:noFill/>
          <a:ln w="12700">
            <a:solidFill>
              <a:srgbClr val="D7E4EC"/>
            </a:solidFill>
            <a:prstDash val="solid"/>
          </a:ln>
        </p:spPr>
        <p:txBody>
          <a:bodyPr/>
          <a:lstStyle/>
          <a:p>
            <a:endParaRPr lang="en-US"/>
          </a:p>
        </p:txBody>
      </p:sp>
      <p:sp>
        <p:nvSpPr>
          <p:cNvPr id="9" name="Text 7"/>
          <p:cNvSpPr/>
          <p:nvPr/>
        </p:nvSpPr>
        <p:spPr>
          <a:xfrm>
            <a:off x="685800"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Total Cholesterol</a:t>
            </a:r>
            <a:endParaRPr lang="en-US" sz="1150" dirty="0"/>
          </a:p>
        </p:txBody>
      </p:sp>
      <p:sp>
        <p:nvSpPr>
          <p:cNvPr id="10" name="Text 8"/>
          <p:cNvSpPr/>
          <p:nvPr/>
        </p:nvSpPr>
        <p:spPr>
          <a:xfrm>
            <a:off x="685800"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overall cholesterol level</a:t>
            </a:r>
            <a:endParaRPr lang="en-US" sz="1000" dirty="0"/>
          </a:p>
        </p:txBody>
      </p:sp>
      <p:sp>
        <p:nvSpPr>
          <p:cNvPr id="11" name="Shape 9"/>
          <p:cNvSpPr/>
          <p:nvPr/>
        </p:nvSpPr>
        <p:spPr>
          <a:xfrm>
            <a:off x="2818729"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12" name="Text 10"/>
          <p:cNvSpPr/>
          <p:nvPr/>
        </p:nvSpPr>
        <p:spPr>
          <a:xfrm>
            <a:off x="292845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37.22</a:t>
            </a:r>
            <a:endParaRPr lang="en-US" sz="2100" dirty="0"/>
          </a:p>
        </p:txBody>
      </p:sp>
      <p:sp>
        <p:nvSpPr>
          <p:cNvPr id="13" name="Shape 11"/>
          <p:cNvSpPr/>
          <p:nvPr/>
        </p:nvSpPr>
        <p:spPr>
          <a:xfrm>
            <a:off x="3093049" y="3474720"/>
            <a:ext cx="1465417" cy="0"/>
          </a:xfrm>
          <a:prstGeom prst="line">
            <a:avLst/>
          </a:prstGeom>
          <a:noFill/>
          <a:ln w="12700">
            <a:solidFill>
              <a:srgbClr val="D7E4EC"/>
            </a:solidFill>
            <a:prstDash val="solid"/>
          </a:ln>
        </p:spPr>
        <p:txBody>
          <a:bodyPr/>
          <a:lstStyle/>
          <a:p>
            <a:endParaRPr lang="en-US"/>
          </a:p>
        </p:txBody>
      </p:sp>
      <p:sp>
        <p:nvSpPr>
          <p:cNvPr id="14" name="Text 12"/>
          <p:cNvSpPr/>
          <p:nvPr/>
        </p:nvSpPr>
        <p:spPr>
          <a:xfrm>
            <a:off x="295588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HDL Cholesterol</a:t>
            </a:r>
            <a:endParaRPr lang="en-US" sz="1150" dirty="0"/>
          </a:p>
        </p:txBody>
      </p:sp>
      <p:sp>
        <p:nvSpPr>
          <p:cNvPr id="15" name="Text 13"/>
          <p:cNvSpPr/>
          <p:nvPr/>
        </p:nvSpPr>
        <p:spPr>
          <a:xfrm>
            <a:off x="295588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HDL (“good”) cholesterol level</a:t>
            </a:r>
            <a:endParaRPr lang="en-US" sz="1000" dirty="0"/>
          </a:p>
        </p:txBody>
      </p:sp>
      <p:sp>
        <p:nvSpPr>
          <p:cNvPr id="16" name="Shape 14"/>
          <p:cNvSpPr/>
          <p:nvPr/>
        </p:nvSpPr>
        <p:spPr>
          <a:xfrm>
            <a:off x="5088819"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17" name="Text 15"/>
          <p:cNvSpPr/>
          <p:nvPr/>
        </p:nvSpPr>
        <p:spPr>
          <a:xfrm>
            <a:off x="519854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215.73</a:t>
            </a:r>
            <a:endParaRPr lang="en-US" sz="2100" dirty="0"/>
          </a:p>
        </p:txBody>
      </p:sp>
      <p:sp>
        <p:nvSpPr>
          <p:cNvPr id="18" name="Shape 16"/>
          <p:cNvSpPr/>
          <p:nvPr/>
        </p:nvSpPr>
        <p:spPr>
          <a:xfrm>
            <a:off x="5363139" y="3474720"/>
            <a:ext cx="1465417" cy="0"/>
          </a:xfrm>
          <a:prstGeom prst="line">
            <a:avLst/>
          </a:prstGeom>
          <a:noFill/>
          <a:ln w="12700">
            <a:solidFill>
              <a:srgbClr val="D7E4EC"/>
            </a:solidFill>
            <a:prstDash val="solid"/>
          </a:ln>
        </p:spPr>
        <p:txBody>
          <a:bodyPr/>
          <a:lstStyle/>
          <a:p>
            <a:endParaRPr lang="en-US"/>
          </a:p>
        </p:txBody>
      </p:sp>
      <p:sp>
        <p:nvSpPr>
          <p:cNvPr id="19" name="Text 17"/>
          <p:cNvSpPr/>
          <p:nvPr/>
        </p:nvSpPr>
        <p:spPr>
          <a:xfrm>
            <a:off x="522597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LDL Cholesterol</a:t>
            </a:r>
            <a:endParaRPr lang="en-US" sz="1150" dirty="0"/>
          </a:p>
        </p:txBody>
      </p:sp>
      <p:sp>
        <p:nvSpPr>
          <p:cNvPr id="20" name="Text 18"/>
          <p:cNvSpPr/>
          <p:nvPr/>
        </p:nvSpPr>
        <p:spPr>
          <a:xfrm>
            <a:off x="522597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LDL (“bad”) cholesterol level</a:t>
            </a:r>
            <a:endParaRPr lang="en-US" sz="1000" dirty="0"/>
          </a:p>
        </p:txBody>
      </p:sp>
      <p:sp>
        <p:nvSpPr>
          <p:cNvPr id="21" name="Shape 19"/>
          <p:cNvSpPr/>
          <p:nvPr/>
        </p:nvSpPr>
        <p:spPr>
          <a:xfrm>
            <a:off x="7358908"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22" name="Text 20"/>
          <p:cNvSpPr/>
          <p:nvPr/>
        </p:nvSpPr>
        <p:spPr>
          <a:xfrm>
            <a:off x="746863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248.96</a:t>
            </a:r>
            <a:endParaRPr lang="en-US" sz="2100" dirty="0"/>
          </a:p>
        </p:txBody>
      </p:sp>
      <p:sp>
        <p:nvSpPr>
          <p:cNvPr id="23" name="Shape 21"/>
          <p:cNvSpPr/>
          <p:nvPr/>
        </p:nvSpPr>
        <p:spPr>
          <a:xfrm>
            <a:off x="7633228" y="3474720"/>
            <a:ext cx="1465417" cy="0"/>
          </a:xfrm>
          <a:prstGeom prst="line">
            <a:avLst/>
          </a:prstGeom>
          <a:noFill/>
          <a:ln w="12700">
            <a:solidFill>
              <a:srgbClr val="D7E4EC"/>
            </a:solidFill>
            <a:prstDash val="solid"/>
          </a:ln>
        </p:spPr>
        <p:txBody>
          <a:bodyPr/>
          <a:lstStyle/>
          <a:p>
            <a:endParaRPr lang="en-US"/>
          </a:p>
        </p:txBody>
      </p:sp>
      <p:sp>
        <p:nvSpPr>
          <p:cNvPr id="24" name="Text 22"/>
          <p:cNvSpPr/>
          <p:nvPr/>
        </p:nvSpPr>
        <p:spPr>
          <a:xfrm>
            <a:off x="749606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Triglycerides</a:t>
            </a:r>
            <a:endParaRPr lang="en-US" sz="1150" dirty="0"/>
          </a:p>
        </p:txBody>
      </p:sp>
      <p:sp>
        <p:nvSpPr>
          <p:cNvPr id="25" name="Text 23"/>
          <p:cNvSpPr/>
          <p:nvPr/>
        </p:nvSpPr>
        <p:spPr>
          <a:xfrm>
            <a:off x="749606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triglyceride level</a:t>
            </a:r>
            <a:endParaRPr lang="en-US" sz="1000" dirty="0"/>
          </a:p>
        </p:txBody>
      </p:sp>
      <p:sp>
        <p:nvSpPr>
          <p:cNvPr id="26" name="Shape 24"/>
          <p:cNvSpPr/>
          <p:nvPr/>
        </p:nvSpPr>
        <p:spPr>
          <a:xfrm>
            <a:off x="9628998"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27" name="Text 25"/>
          <p:cNvSpPr/>
          <p:nvPr/>
        </p:nvSpPr>
        <p:spPr>
          <a:xfrm>
            <a:off x="973872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49.24%</a:t>
            </a:r>
            <a:endParaRPr lang="en-US" sz="2100" dirty="0"/>
          </a:p>
        </p:txBody>
      </p:sp>
      <p:sp>
        <p:nvSpPr>
          <p:cNvPr id="28" name="Shape 26"/>
          <p:cNvSpPr/>
          <p:nvPr/>
        </p:nvSpPr>
        <p:spPr>
          <a:xfrm>
            <a:off x="9903318" y="3474720"/>
            <a:ext cx="1465417" cy="0"/>
          </a:xfrm>
          <a:prstGeom prst="line">
            <a:avLst/>
          </a:prstGeom>
          <a:noFill/>
          <a:ln w="12700">
            <a:solidFill>
              <a:srgbClr val="D7E4EC"/>
            </a:solidFill>
            <a:prstDash val="solid"/>
          </a:ln>
        </p:spPr>
        <p:txBody>
          <a:bodyPr/>
          <a:lstStyle/>
          <a:p>
            <a:endParaRPr lang="en-US"/>
          </a:p>
        </p:txBody>
      </p:sp>
      <p:sp>
        <p:nvSpPr>
          <p:cNvPr id="29" name="Text 27"/>
          <p:cNvSpPr/>
          <p:nvPr/>
        </p:nvSpPr>
        <p:spPr>
          <a:xfrm>
            <a:off x="976615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High LDL Percentage</a:t>
            </a:r>
            <a:endParaRPr lang="en-US" sz="1150" dirty="0"/>
          </a:p>
        </p:txBody>
      </p:sp>
      <p:sp>
        <p:nvSpPr>
          <p:cNvPr id="30" name="Text 28"/>
          <p:cNvSpPr/>
          <p:nvPr/>
        </p:nvSpPr>
        <p:spPr>
          <a:xfrm>
            <a:off x="976615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Shows the share of the population with high LDL</a:t>
            </a:r>
            <a:endParaRPr lang="en-US" sz="1000" dirty="0"/>
          </a:p>
        </p:txBody>
      </p:sp>
      <p:sp>
        <p:nvSpPr>
          <p:cNvPr id="31" name="Text 2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Cholesterol Risks</a:t>
            </a:r>
            <a:endParaRPr lang="en-US" sz="900" dirty="0"/>
          </a:p>
        </p:txBody>
      </p:sp>
      <p:sp>
        <p:nvSpPr>
          <p:cNvPr id="32" name="Text 3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27 / 45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03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Reading the Charts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What each visual on this dashboard shows and why it's there.</a:t>
            </a:r>
            <a:endParaRPr lang="en-US" sz="1300" dirty="0"/>
          </a:p>
        </p:txBody>
      </p:sp>
      <p:sp>
        <p:nvSpPr>
          <p:cNvPr id="6" name="Shape 4"/>
          <p:cNvSpPr/>
          <p:nvPr/>
        </p:nvSpPr>
        <p:spPr>
          <a:xfrm>
            <a:off x="548640"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7" name="Shape 5"/>
          <p:cNvSpPr/>
          <p:nvPr/>
        </p:nvSpPr>
        <p:spPr>
          <a:xfrm>
            <a:off x="777240" y="2377440"/>
            <a:ext cx="365760" cy="365760"/>
          </a:xfrm>
          <a:prstGeom prst="ellipse">
            <a:avLst/>
          </a:prstGeom>
          <a:solidFill>
            <a:srgbClr val="12283F"/>
          </a:solidFill>
          <a:ln/>
        </p:spPr>
        <p:txBody>
          <a:bodyPr/>
          <a:lstStyle/>
          <a:p>
            <a:endParaRPr lang="en-US"/>
          </a:p>
        </p:txBody>
      </p:sp>
      <p:sp>
        <p:nvSpPr>
          <p:cNvPr id="8" name="Text 6"/>
          <p:cNvSpPr/>
          <p:nvPr/>
        </p:nvSpPr>
        <p:spPr>
          <a:xfrm>
            <a:off x="777240"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25880"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Cholesterol Range Indicators</a:t>
            </a:r>
            <a:endParaRPr lang="en-US" sz="1250" dirty="0"/>
          </a:p>
        </p:txBody>
      </p:sp>
      <p:sp>
        <p:nvSpPr>
          <p:cNvPr id="10" name="Text 8"/>
          <p:cNvSpPr/>
          <p:nvPr/>
        </p:nvSpPr>
        <p:spPr>
          <a:xfrm>
            <a:off x="777240"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Gauges showing the highest total cholesterol (256.24) and lowest LDL cholesterol (162.39) on record.</a:t>
            </a:r>
            <a:endParaRPr lang="en-US" sz="1050" dirty="0"/>
          </a:p>
        </p:txBody>
      </p:sp>
      <p:sp>
        <p:nvSpPr>
          <p:cNvPr id="11" name="Shape 9"/>
          <p:cNvSpPr/>
          <p:nvPr/>
        </p:nvSpPr>
        <p:spPr>
          <a:xfrm>
            <a:off x="4353458"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2" name="Shape 10"/>
          <p:cNvSpPr/>
          <p:nvPr/>
        </p:nvSpPr>
        <p:spPr>
          <a:xfrm>
            <a:off x="4582058" y="2377440"/>
            <a:ext cx="365760" cy="365760"/>
          </a:xfrm>
          <a:prstGeom prst="ellipse">
            <a:avLst/>
          </a:prstGeom>
          <a:solidFill>
            <a:srgbClr val="12283F"/>
          </a:solidFill>
          <a:ln/>
        </p:spPr>
        <p:txBody>
          <a:bodyPr/>
          <a:lstStyle/>
          <a:p>
            <a:endParaRPr lang="en-US"/>
          </a:p>
        </p:txBody>
      </p:sp>
      <p:sp>
        <p:nvSpPr>
          <p:cNvPr id="13" name="Text 11"/>
          <p:cNvSpPr/>
          <p:nvPr/>
        </p:nvSpPr>
        <p:spPr>
          <a:xfrm>
            <a:off x="4582058"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130698"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HDL Below 40 Count</a:t>
            </a:r>
            <a:endParaRPr lang="en-US" sz="1250" dirty="0"/>
          </a:p>
        </p:txBody>
      </p:sp>
      <p:sp>
        <p:nvSpPr>
          <p:cNvPr id="15" name="Text 13"/>
          <p:cNvSpPr/>
          <p:nvPr/>
        </p:nvSpPr>
        <p:spPr>
          <a:xfrm>
            <a:off x="4582058"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isolating everyone whose HDL (“good” cholesterol) falls under the healthy 40 threshold.</a:t>
            </a:r>
            <a:endParaRPr lang="en-US" sz="1050" dirty="0"/>
          </a:p>
        </p:txBody>
      </p:sp>
      <p:sp>
        <p:nvSpPr>
          <p:cNvPr id="16" name="Shape 14"/>
          <p:cNvSpPr/>
          <p:nvPr/>
        </p:nvSpPr>
        <p:spPr>
          <a:xfrm>
            <a:off x="8158277"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7" name="Shape 15"/>
          <p:cNvSpPr/>
          <p:nvPr/>
        </p:nvSpPr>
        <p:spPr>
          <a:xfrm>
            <a:off x="8386877" y="2377440"/>
            <a:ext cx="365760" cy="365760"/>
          </a:xfrm>
          <a:prstGeom prst="ellipse">
            <a:avLst/>
          </a:prstGeom>
          <a:solidFill>
            <a:srgbClr val="12283F"/>
          </a:solidFill>
          <a:ln/>
        </p:spPr>
        <p:txBody>
          <a:bodyPr/>
          <a:lstStyle/>
          <a:p>
            <a:endParaRPr lang="en-US"/>
          </a:p>
        </p:txBody>
      </p:sp>
      <p:sp>
        <p:nvSpPr>
          <p:cNvPr id="18" name="Text 16"/>
          <p:cNvSpPr/>
          <p:nvPr/>
        </p:nvSpPr>
        <p:spPr>
          <a:xfrm>
            <a:off x="8386877"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935517"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Total Cholesterol Category Split</a:t>
            </a:r>
            <a:endParaRPr lang="en-US" sz="1250" dirty="0"/>
          </a:p>
        </p:txBody>
      </p:sp>
      <p:sp>
        <p:nvSpPr>
          <p:cNvPr id="20" name="Text 18"/>
          <p:cNvSpPr/>
          <p:nvPr/>
        </p:nvSpPr>
        <p:spPr>
          <a:xfrm>
            <a:off x="8386877"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across Desirable (2.77K), Borderline High (1.38K), and High groups.</a:t>
            </a:r>
            <a:endParaRPr lang="en-US" sz="1050" dirty="0"/>
          </a:p>
        </p:txBody>
      </p:sp>
      <p:sp>
        <p:nvSpPr>
          <p:cNvPr id="21" name="Shape 19"/>
          <p:cNvSpPr/>
          <p:nvPr/>
        </p:nvSpPr>
        <p:spPr>
          <a:xfrm>
            <a:off x="548640"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2" name="Shape 20"/>
          <p:cNvSpPr/>
          <p:nvPr/>
        </p:nvSpPr>
        <p:spPr>
          <a:xfrm>
            <a:off x="777240" y="4526280"/>
            <a:ext cx="365760" cy="365760"/>
          </a:xfrm>
          <a:prstGeom prst="ellipse">
            <a:avLst/>
          </a:prstGeom>
          <a:solidFill>
            <a:srgbClr val="12283F"/>
          </a:solidFill>
          <a:ln/>
        </p:spPr>
        <p:txBody>
          <a:bodyPr/>
          <a:lstStyle/>
          <a:p>
            <a:endParaRPr lang="en-US"/>
          </a:p>
        </p:txBody>
      </p:sp>
      <p:sp>
        <p:nvSpPr>
          <p:cNvPr id="23" name="Text 21"/>
          <p:cNvSpPr/>
          <p:nvPr/>
        </p:nvSpPr>
        <p:spPr>
          <a:xfrm>
            <a:off x="777240"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325880"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LDL Category Split</a:t>
            </a:r>
            <a:endParaRPr lang="en-US" sz="1250" dirty="0"/>
          </a:p>
        </p:txBody>
      </p:sp>
      <p:sp>
        <p:nvSpPr>
          <p:cNvPr id="25" name="Text 23"/>
          <p:cNvSpPr/>
          <p:nvPr/>
        </p:nvSpPr>
        <p:spPr>
          <a:xfrm>
            <a:off x="777240"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dividing the population between High and Very High LDL classifications.</a:t>
            </a:r>
            <a:endParaRPr lang="en-US" sz="1050" dirty="0"/>
          </a:p>
        </p:txBody>
      </p:sp>
      <p:sp>
        <p:nvSpPr>
          <p:cNvPr id="26" name="Shape 24"/>
          <p:cNvSpPr/>
          <p:nvPr/>
        </p:nvSpPr>
        <p:spPr>
          <a:xfrm>
            <a:off x="4353458"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7" name="Shape 25"/>
          <p:cNvSpPr/>
          <p:nvPr/>
        </p:nvSpPr>
        <p:spPr>
          <a:xfrm>
            <a:off x="4582058" y="4526280"/>
            <a:ext cx="365760" cy="365760"/>
          </a:xfrm>
          <a:prstGeom prst="ellipse">
            <a:avLst/>
          </a:prstGeom>
          <a:solidFill>
            <a:srgbClr val="12283F"/>
          </a:solidFill>
          <a:ln/>
        </p:spPr>
        <p:txBody>
          <a:bodyPr/>
          <a:lstStyle/>
          <a:p>
            <a:endParaRPr lang="en-US"/>
          </a:p>
        </p:txBody>
      </p:sp>
      <p:sp>
        <p:nvSpPr>
          <p:cNvPr id="28" name="Text 26"/>
          <p:cNvSpPr/>
          <p:nvPr/>
        </p:nvSpPr>
        <p:spPr>
          <a:xfrm>
            <a:off x="4582058"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5130698"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Cholesterol by Smoking Status</a:t>
            </a:r>
            <a:endParaRPr lang="en-US" sz="1250" dirty="0"/>
          </a:p>
        </p:txBody>
      </p:sp>
      <p:sp>
        <p:nvSpPr>
          <p:cNvPr id="30" name="Text 28"/>
          <p:cNvSpPr/>
          <p:nvPr/>
        </p:nvSpPr>
        <p:spPr>
          <a:xfrm>
            <a:off x="4582058"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comparing high-cholesterol prevalence between smokers and non-smokers.</a:t>
            </a:r>
            <a:endParaRPr lang="en-US" sz="1050" dirty="0"/>
          </a:p>
        </p:txBody>
      </p:sp>
      <p:sp>
        <p:nvSpPr>
          <p:cNvPr id="31" name="Shape 29"/>
          <p:cNvSpPr/>
          <p:nvPr/>
        </p:nvSpPr>
        <p:spPr>
          <a:xfrm>
            <a:off x="8158277"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32" name="Shape 30"/>
          <p:cNvSpPr/>
          <p:nvPr/>
        </p:nvSpPr>
        <p:spPr>
          <a:xfrm>
            <a:off x="8386877" y="4526280"/>
            <a:ext cx="365760" cy="365760"/>
          </a:xfrm>
          <a:prstGeom prst="ellipse">
            <a:avLst/>
          </a:prstGeom>
          <a:solidFill>
            <a:srgbClr val="12283F"/>
          </a:solidFill>
          <a:ln/>
        </p:spPr>
        <p:txBody>
          <a:bodyPr/>
          <a:lstStyle/>
          <a:p>
            <a:endParaRPr lang="en-US"/>
          </a:p>
        </p:txBody>
      </p:sp>
      <p:sp>
        <p:nvSpPr>
          <p:cNvPr id="33" name="Text 31"/>
          <p:cNvSpPr/>
          <p:nvPr/>
        </p:nvSpPr>
        <p:spPr>
          <a:xfrm>
            <a:off x="8386877"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8935517"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High LDL % by Age Group</a:t>
            </a:r>
            <a:endParaRPr lang="en-US" sz="1250" dirty="0"/>
          </a:p>
        </p:txBody>
      </p:sp>
      <p:sp>
        <p:nvSpPr>
          <p:cNvPr id="35" name="Text 33"/>
          <p:cNvSpPr/>
          <p:nvPr/>
        </p:nvSpPr>
        <p:spPr>
          <a:xfrm>
            <a:off x="8386877"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tracking how high-LDL prevalence shifts across age bands.</a:t>
            </a:r>
            <a:endParaRPr lang="en-US" sz="1050" dirty="0"/>
          </a:p>
        </p:txBody>
      </p:sp>
      <p:sp>
        <p:nvSpPr>
          <p:cNvPr id="36" name="Text 3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Cholesterol Risks</a:t>
            </a:r>
            <a:endParaRPr lang="en-US" sz="900" dirty="0"/>
          </a:p>
        </p:txBody>
      </p:sp>
      <p:sp>
        <p:nvSpPr>
          <p:cNvPr id="37" name="Text 35"/>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28 / 45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04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Business Questions Answered with SQL</a:t>
            </a:r>
            <a:endParaRPr lang="en-US" sz="3000" dirty="0"/>
          </a:p>
        </p:txBody>
      </p:sp>
      <p:sp>
        <p:nvSpPr>
          <p:cNvPr id="5" name="Shape 3"/>
          <p:cNvSpPr/>
          <p:nvPr/>
        </p:nvSpPr>
        <p:spPr>
          <a:xfrm>
            <a:off x="548640" y="2103120"/>
            <a:ext cx="11094415" cy="548640"/>
          </a:xfrm>
          <a:prstGeom prst="roundRect">
            <a:avLst>
              <a:gd name="adj" fmla="val 11667"/>
            </a:avLst>
          </a:prstGeom>
          <a:solidFill>
            <a:srgbClr val="EAF3F8"/>
          </a:solidFill>
          <a:ln/>
        </p:spPr>
        <p:txBody>
          <a:bodyPr/>
          <a:lstStyle/>
          <a:p>
            <a:endParaRPr lang="en-US"/>
          </a:p>
        </p:txBody>
      </p:sp>
      <p:sp>
        <p:nvSpPr>
          <p:cNvPr id="6" name="Text 4"/>
          <p:cNvSpPr/>
          <p:nvPr/>
        </p:nvSpPr>
        <p:spPr>
          <a:xfrm>
            <a:off x="685800" y="21031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1143000" y="2231136"/>
            <a:ext cx="868680" cy="292608"/>
          </a:xfrm>
          <a:prstGeom prst="roundRect">
            <a:avLst>
              <a:gd name="adj" fmla="val 50000"/>
            </a:avLst>
          </a:prstGeom>
          <a:solidFill>
            <a:srgbClr val="22A699"/>
          </a:solidFill>
          <a:ln/>
        </p:spPr>
        <p:txBody>
          <a:bodyPr/>
          <a:lstStyle/>
          <a:p>
            <a:endParaRPr lang="en-US"/>
          </a:p>
        </p:txBody>
      </p:sp>
      <p:sp>
        <p:nvSpPr>
          <p:cNvPr id="8" name="Text 6"/>
          <p:cNvSpPr/>
          <p:nvPr/>
        </p:nvSpPr>
        <p:spPr>
          <a:xfrm>
            <a:off x="1143000" y="22311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9" name="Text 7"/>
          <p:cNvSpPr/>
          <p:nvPr/>
        </p:nvSpPr>
        <p:spPr>
          <a:xfrm>
            <a:off x="2194560" y="21031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are smokers and how many are non-smokers?</a:t>
            </a:r>
            <a:endParaRPr lang="en-US" sz="1200" dirty="0"/>
          </a:p>
        </p:txBody>
      </p:sp>
      <p:sp>
        <p:nvSpPr>
          <p:cNvPr id="10" name="Shape 8"/>
          <p:cNvSpPr/>
          <p:nvPr/>
        </p:nvSpPr>
        <p:spPr>
          <a:xfrm>
            <a:off x="548640" y="2743200"/>
            <a:ext cx="11094415" cy="548640"/>
          </a:xfrm>
          <a:prstGeom prst="roundRect">
            <a:avLst>
              <a:gd name="adj" fmla="val 11667"/>
            </a:avLst>
          </a:prstGeom>
          <a:solidFill>
            <a:srgbClr val="FFFFFF"/>
          </a:solidFill>
          <a:ln/>
        </p:spPr>
        <p:txBody>
          <a:bodyPr/>
          <a:lstStyle/>
          <a:p>
            <a:endParaRPr lang="en-US"/>
          </a:p>
        </p:txBody>
      </p:sp>
      <p:sp>
        <p:nvSpPr>
          <p:cNvPr id="11" name="Text 9"/>
          <p:cNvSpPr/>
          <p:nvPr/>
        </p:nvSpPr>
        <p:spPr>
          <a:xfrm>
            <a:off x="685800" y="27432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1143000" y="2871216"/>
            <a:ext cx="868680" cy="292608"/>
          </a:xfrm>
          <a:prstGeom prst="roundRect">
            <a:avLst>
              <a:gd name="adj" fmla="val 50000"/>
            </a:avLst>
          </a:prstGeom>
          <a:solidFill>
            <a:srgbClr val="22A699"/>
          </a:solidFill>
          <a:ln/>
        </p:spPr>
        <p:txBody>
          <a:bodyPr/>
          <a:lstStyle/>
          <a:p>
            <a:endParaRPr lang="en-US"/>
          </a:p>
        </p:txBody>
      </p:sp>
      <p:sp>
        <p:nvSpPr>
          <p:cNvPr id="13" name="Text 11"/>
          <p:cNvSpPr/>
          <p:nvPr/>
        </p:nvSpPr>
        <p:spPr>
          <a:xfrm>
            <a:off x="1143000" y="28712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4" name="Text 12"/>
          <p:cNvSpPr/>
          <p:nvPr/>
        </p:nvSpPr>
        <p:spPr>
          <a:xfrm>
            <a:off x="2194560" y="27432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belong to Low, Moderate, and High physical activity levels?</a:t>
            </a:r>
            <a:endParaRPr lang="en-US" sz="1200" dirty="0"/>
          </a:p>
        </p:txBody>
      </p:sp>
      <p:sp>
        <p:nvSpPr>
          <p:cNvPr id="15" name="Shape 13"/>
          <p:cNvSpPr/>
          <p:nvPr/>
        </p:nvSpPr>
        <p:spPr>
          <a:xfrm>
            <a:off x="548640" y="3383280"/>
            <a:ext cx="11094415" cy="548640"/>
          </a:xfrm>
          <a:prstGeom prst="roundRect">
            <a:avLst>
              <a:gd name="adj" fmla="val 11667"/>
            </a:avLst>
          </a:prstGeom>
          <a:solidFill>
            <a:srgbClr val="EAF3F8"/>
          </a:solidFill>
          <a:ln/>
        </p:spPr>
        <p:txBody>
          <a:bodyPr/>
          <a:lstStyle/>
          <a:p>
            <a:endParaRPr lang="en-US"/>
          </a:p>
        </p:txBody>
      </p:sp>
      <p:sp>
        <p:nvSpPr>
          <p:cNvPr id="16" name="Text 14"/>
          <p:cNvSpPr/>
          <p:nvPr/>
        </p:nvSpPr>
        <p:spPr>
          <a:xfrm>
            <a:off x="685800" y="338328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3</a:t>
            </a:r>
            <a:endParaRPr lang="en-US" sz="1300" dirty="0"/>
          </a:p>
        </p:txBody>
      </p:sp>
      <p:sp>
        <p:nvSpPr>
          <p:cNvPr id="17" name="Shape 15"/>
          <p:cNvSpPr/>
          <p:nvPr/>
        </p:nvSpPr>
        <p:spPr>
          <a:xfrm>
            <a:off x="1143000" y="3511296"/>
            <a:ext cx="868680" cy="292608"/>
          </a:xfrm>
          <a:prstGeom prst="roundRect">
            <a:avLst>
              <a:gd name="adj" fmla="val 50000"/>
            </a:avLst>
          </a:prstGeom>
          <a:solidFill>
            <a:srgbClr val="22A699"/>
          </a:solidFill>
          <a:ln/>
        </p:spPr>
        <p:txBody>
          <a:bodyPr/>
          <a:lstStyle/>
          <a:p>
            <a:endParaRPr lang="en-US"/>
          </a:p>
        </p:txBody>
      </p:sp>
      <p:sp>
        <p:nvSpPr>
          <p:cNvPr id="18" name="Text 16"/>
          <p:cNvSpPr/>
          <p:nvPr/>
        </p:nvSpPr>
        <p:spPr>
          <a:xfrm>
            <a:off x="1143000" y="351129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9" name="Text 17"/>
          <p:cNvSpPr/>
          <p:nvPr/>
        </p:nvSpPr>
        <p:spPr>
          <a:xfrm>
            <a:off x="2194560" y="338328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many people have a BMI greater than or equal to 25?</a:t>
            </a:r>
            <a:endParaRPr lang="en-US" sz="1200" dirty="0"/>
          </a:p>
        </p:txBody>
      </p:sp>
      <p:sp>
        <p:nvSpPr>
          <p:cNvPr id="20" name="Shape 18"/>
          <p:cNvSpPr/>
          <p:nvPr/>
        </p:nvSpPr>
        <p:spPr>
          <a:xfrm>
            <a:off x="548640" y="4023360"/>
            <a:ext cx="11094415" cy="548640"/>
          </a:xfrm>
          <a:prstGeom prst="roundRect">
            <a:avLst>
              <a:gd name="adj" fmla="val 11667"/>
            </a:avLst>
          </a:prstGeom>
          <a:solidFill>
            <a:srgbClr val="FFFFFF"/>
          </a:solidFill>
          <a:ln/>
        </p:spPr>
        <p:txBody>
          <a:bodyPr/>
          <a:lstStyle/>
          <a:p>
            <a:endParaRPr lang="en-US"/>
          </a:p>
        </p:txBody>
      </p:sp>
      <p:sp>
        <p:nvSpPr>
          <p:cNvPr id="21" name="Text 19"/>
          <p:cNvSpPr/>
          <p:nvPr/>
        </p:nvSpPr>
        <p:spPr>
          <a:xfrm>
            <a:off x="685800" y="402336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4</a:t>
            </a:r>
            <a:endParaRPr lang="en-US" sz="1300" dirty="0"/>
          </a:p>
        </p:txBody>
      </p:sp>
      <p:sp>
        <p:nvSpPr>
          <p:cNvPr id="22" name="Shape 20"/>
          <p:cNvSpPr/>
          <p:nvPr/>
        </p:nvSpPr>
        <p:spPr>
          <a:xfrm>
            <a:off x="1143000" y="4151376"/>
            <a:ext cx="868680" cy="292608"/>
          </a:xfrm>
          <a:prstGeom prst="roundRect">
            <a:avLst>
              <a:gd name="adj" fmla="val 50000"/>
            </a:avLst>
          </a:prstGeom>
          <a:solidFill>
            <a:srgbClr val="D99A2B"/>
          </a:solidFill>
          <a:ln/>
        </p:spPr>
        <p:txBody>
          <a:bodyPr/>
          <a:lstStyle/>
          <a:p>
            <a:endParaRPr lang="en-US"/>
          </a:p>
        </p:txBody>
      </p:sp>
      <p:sp>
        <p:nvSpPr>
          <p:cNvPr id="23" name="Text 21"/>
          <p:cNvSpPr/>
          <p:nvPr/>
        </p:nvSpPr>
        <p:spPr>
          <a:xfrm>
            <a:off x="1143000" y="415137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4" name="Text 22"/>
          <p:cNvSpPr/>
          <p:nvPr/>
        </p:nvSpPr>
        <p:spPr>
          <a:xfrm>
            <a:off x="2194560" y="402336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For each physical activity level, how many people are Overweight or Obese?</a:t>
            </a:r>
            <a:endParaRPr lang="en-US" sz="1200" dirty="0"/>
          </a:p>
        </p:txBody>
      </p:sp>
      <p:sp>
        <p:nvSpPr>
          <p:cNvPr id="25" name="Shape 23"/>
          <p:cNvSpPr/>
          <p:nvPr/>
        </p:nvSpPr>
        <p:spPr>
          <a:xfrm>
            <a:off x="548640" y="4663440"/>
            <a:ext cx="11094415" cy="548640"/>
          </a:xfrm>
          <a:prstGeom prst="roundRect">
            <a:avLst>
              <a:gd name="adj" fmla="val 11667"/>
            </a:avLst>
          </a:prstGeom>
          <a:solidFill>
            <a:srgbClr val="EAF3F8"/>
          </a:solidFill>
          <a:ln/>
        </p:spPr>
        <p:txBody>
          <a:bodyPr/>
          <a:lstStyle/>
          <a:p>
            <a:endParaRPr lang="en-US"/>
          </a:p>
        </p:txBody>
      </p:sp>
      <p:sp>
        <p:nvSpPr>
          <p:cNvPr id="26" name="Text 24"/>
          <p:cNvSpPr/>
          <p:nvPr/>
        </p:nvSpPr>
        <p:spPr>
          <a:xfrm>
            <a:off x="685800" y="466344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5</a:t>
            </a:r>
            <a:endParaRPr lang="en-US" sz="1300" dirty="0"/>
          </a:p>
        </p:txBody>
      </p:sp>
      <p:sp>
        <p:nvSpPr>
          <p:cNvPr id="27" name="Shape 25"/>
          <p:cNvSpPr/>
          <p:nvPr/>
        </p:nvSpPr>
        <p:spPr>
          <a:xfrm>
            <a:off x="1143000" y="4791456"/>
            <a:ext cx="868680" cy="292608"/>
          </a:xfrm>
          <a:prstGeom prst="roundRect">
            <a:avLst>
              <a:gd name="adj" fmla="val 50000"/>
            </a:avLst>
          </a:prstGeom>
          <a:solidFill>
            <a:srgbClr val="D99A2B"/>
          </a:solidFill>
          <a:ln/>
        </p:spPr>
        <p:txBody>
          <a:bodyPr/>
          <a:lstStyle/>
          <a:p>
            <a:endParaRPr lang="en-US"/>
          </a:p>
        </p:txBody>
      </p:sp>
      <p:sp>
        <p:nvSpPr>
          <p:cNvPr id="28" name="Text 26"/>
          <p:cNvSpPr/>
          <p:nvPr/>
        </p:nvSpPr>
        <p:spPr>
          <a:xfrm>
            <a:off x="1143000" y="479145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9" name="Text 27"/>
          <p:cNvSpPr/>
          <p:nvPr/>
        </p:nvSpPr>
        <p:spPr>
          <a:xfrm>
            <a:off x="2194560" y="466344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How does the number of people with high LDL cholesterol differ between smokers and non-smokers?</a:t>
            </a:r>
            <a:endParaRPr lang="en-US" sz="1200" dirty="0"/>
          </a:p>
        </p:txBody>
      </p:sp>
      <p:sp>
        <p:nvSpPr>
          <p:cNvPr id="30" name="Shape 28"/>
          <p:cNvSpPr/>
          <p:nvPr/>
        </p:nvSpPr>
        <p:spPr>
          <a:xfrm>
            <a:off x="548640" y="5303520"/>
            <a:ext cx="11094415" cy="548640"/>
          </a:xfrm>
          <a:prstGeom prst="roundRect">
            <a:avLst>
              <a:gd name="adj" fmla="val 11667"/>
            </a:avLst>
          </a:prstGeom>
          <a:solidFill>
            <a:srgbClr val="FFFFFF"/>
          </a:solidFill>
          <a:ln/>
        </p:spPr>
        <p:txBody>
          <a:bodyPr/>
          <a:lstStyle/>
          <a:p>
            <a:endParaRPr lang="en-US"/>
          </a:p>
        </p:txBody>
      </p:sp>
      <p:sp>
        <p:nvSpPr>
          <p:cNvPr id="31" name="Text 29"/>
          <p:cNvSpPr/>
          <p:nvPr/>
        </p:nvSpPr>
        <p:spPr>
          <a:xfrm>
            <a:off x="685800" y="530352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6</a:t>
            </a:r>
            <a:endParaRPr lang="en-US" sz="1300" dirty="0"/>
          </a:p>
        </p:txBody>
      </p:sp>
      <p:sp>
        <p:nvSpPr>
          <p:cNvPr id="32" name="Shape 30"/>
          <p:cNvSpPr/>
          <p:nvPr/>
        </p:nvSpPr>
        <p:spPr>
          <a:xfrm>
            <a:off x="1143000" y="5431536"/>
            <a:ext cx="868680" cy="292608"/>
          </a:xfrm>
          <a:prstGeom prst="roundRect">
            <a:avLst>
              <a:gd name="adj" fmla="val 50000"/>
            </a:avLst>
          </a:prstGeom>
          <a:solidFill>
            <a:srgbClr val="D99A2B"/>
          </a:solidFill>
          <a:ln/>
        </p:spPr>
        <p:txBody>
          <a:bodyPr/>
          <a:lstStyle/>
          <a:p>
            <a:endParaRPr lang="en-US"/>
          </a:p>
        </p:txBody>
      </p:sp>
      <p:sp>
        <p:nvSpPr>
          <p:cNvPr id="33" name="Text 31"/>
          <p:cNvSpPr/>
          <p:nvPr/>
        </p:nvSpPr>
        <p:spPr>
          <a:xfrm>
            <a:off x="1143000" y="543153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4" name="Text 32"/>
          <p:cNvSpPr/>
          <p:nvPr/>
        </p:nvSpPr>
        <p:spPr>
          <a:xfrm>
            <a:off x="2194560" y="530352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For each physical activity level, how many people have high triglycerides?</a:t>
            </a:r>
            <a:endParaRPr lang="en-US" sz="1200" dirty="0"/>
          </a:p>
        </p:txBody>
      </p:sp>
      <p:sp>
        <p:nvSpPr>
          <p:cNvPr id="35" name="Shape 33"/>
          <p:cNvSpPr/>
          <p:nvPr/>
        </p:nvSpPr>
        <p:spPr>
          <a:xfrm>
            <a:off x="548640" y="5943600"/>
            <a:ext cx="11094415" cy="548640"/>
          </a:xfrm>
          <a:prstGeom prst="roundRect">
            <a:avLst>
              <a:gd name="adj" fmla="val 11667"/>
            </a:avLst>
          </a:prstGeom>
          <a:solidFill>
            <a:srgbClr val="EAF3F8"/>
          </a:solidFill>
          <a:ln/>
        </p:spPr>
        <p:txBody>
          <a:bodyPr/>
          <a:lstStyle/>
          <a:p>
            <a:endParaRPr lang="en-US"/>
          </a:p>
        </p:txBody>
      </p:sp>
      <p:sp>
        <p:nvSpPr>
          <p:cNvPr id="36" name="Text 34"/>
          <p:cNvSpPr/>
          <p:nvPr/>
        </p:nvSpPr>
        <p:spPr>
          <a:xfrm>
            <a:off x="685800" y="5943600"/>
            <a:ext cx="365760" cy="548640"/>
          </a:xfrm>
          <a:prstGeom prst="rect">
            <a:avLst/>
          </a:prstGeom>
          <a:noFill/>
          <a:ln/>
        </p:spPr>
        <p:txBody>
          <a:bodyPr wrap="square" lIns="0" tIns="0" rIns="0" bIns="0" rtlCol="0" anchor="ctr"/>
          <a:lstStyle/>
          <a:p>
            <a:pPr marL="0" indent="0" algn="ctr">
              <a:buNone/>
            </a:pPr>
            <a:r>
              <a:rPr lang="en-US" sz="1300" b="1" dirty="0">
                <a:solidFill>
                  <a:srgbClr val="5B7284"/>
                </a:solidFill>
                <a:latin typeface="Calibri" pitchFamily="34" charset="0"/>
                <a:ea typeface="Calibri" pitchFamily="34" charset="-122"/>
                <a:cs typeface="Calibri" pitchFamily="34" charset="-120"/>
              </a:rPr>
              <a:t>7</a:t>
            </a:r>
            <a:endParaRPr lang="en-US" sz="1300" dirty="0"/>
          </a:p>
        </p:txBody>
      </p:sp>
      <p:sp>
        <p:nvSpPr>
          <p:cNvPr id="37" name="Shape 35"/>
          <p:cNvSpPr/>
          <p:nvPr/>
        </p:nvSpPr>
        <p:spPr>
          <a:xfrm>
            <a:off x="1143000" y="6071616"/>
            <a:ext cx="868680" cy="292608"/>
          </a:xfrm>
          <a:prstGeom prst="roundRect">
            <a:avLst>
              <a:gd name="adj" fmla="val 50000"/>
            </a:avLst>
          </a:prstGeom>
          <a:solidFill>
            <a:srgbClr val="C1443C"/>
          </a:solidFill>
          <a:ln/>
        </p:spPr>
        <p:txBody>
          <a:bodyPr/>
          <a:lstStyle/>
          <a:p>
            <a:endParaRPr lang="en-US"/>
          </a:p>
        </p:txBody>
      </p:sp>
      <p:sp>
        <p:nvSpPr>
          <p:cNvPr id="38" name="Text 36"/>
          <p:cNvSpPr/>
          <p:nvPr/>
        </p:nvSpPr>
        <p:spPr>
          <a:xfrm>
            <a:off x="1143000" y="6071616"/>
            <a:ext cx="868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a:t>
            </a:r>
            <a:endParaRPr lang="en-US" sz="1000" dirty="0"/>
          </a:p>
        </p:txBody>
      </p:sp>
      <p:sp>
        <p:nvSpPr>
          <p:cNvPr id="39" name="Text 37"/>
          <p:cNvSpPr/>
          <p:nvPr/>
        </p:nvSpPr>
        <p:spPr>
          <a:xfrm>
            <a:off x="2194560" y="5943600"/>
            <a:ext cx="9265615" cy="548640"/>
          </a:xfrm>
          <a:prstGeom prst="rect">
            <a:avLst/>
          </a:prstGeom>
          <a:noFill/>
          <a:ln/>
        </p:spPr>
        <p:txBody>
          <a:bodyPr wrap="square" lIns="0" tIns="0" rIns="0" bIns="0" rtlCol="0" anchor="ctr"/>
          <a:lstStyle/>
          <a:p>
            <a:pPr marL="0" indent="0">
              <a:lnSpc>
                <a:spcPts val="1400"/>
              </a:lnSpc>
              <a:buNone/>
            </a:pPr>
            <a:r>
              <a:rPr lang="en-US" sz="1200" dirty="0">
                <a:solidFill>
                  <a:srgbClr val="1A2733"/>
                </a:solidFill>
                <a:latin typeface="Calibri" pitchFamily="34" charset="0"/>
                <a:ea typeface="Calibri" pitchFamily="34" charset="-122"/>
                <a:cs typeface="Calibri" pitchFamily="34" charset="-120"/>
              </a:rPr>
              <a:t>Which physical activity level has the highest percentage of people with BMI greater than or equal to 25?</a:t>
            </a:r>
            <a:endParaRPr lang="en-US" sz="1200" dirty="0"/>
          </a:p>
        </p:txBody>
      </p:sp>
      <p:sp>
        <p:nvSpPr>
          <p:cNvPr id="40" name="Text 38"/>
          <p:cNvSpPr/>
          <p:nvPr/>
        </p:nvSpPr>
        <p:spPr>
          <a:xfrm>
            <a:off x="548640" y="6629400"/>
            <a:ext cx="11094415" cy="320040"/>
          </a:xfrm>
          <a:prstGeom prst="rect">
            <a:avLst/>
          </a:prstGeom>
          <a:noFill/>
          <a:ln/>
        </p:spPr>
        <p:txBody>
          <a:bodyPr wrap="square" lIns="0" tIns="0" rIns="0" bIns="0" rtlCol="0" anchor="ctr"/>
          <a:lstStyle/>
          <a:p>
            <a:pPr marL="0" indent="0">
              <a:buNone/>
            </a:pPr>
            <a:r>
              <a:rPr lang="en-US" sz="1050" i="1" dirty="0">
                <a:solidFill>
                  <a:srgbClr val="5B7284"/>
                </a:solidFill>
                <a:latin typeface="Calibri" pitchFamily="34" charset="0"/>
                <a:ea typeface="Calibri" pitchFamily="34" charset="-122"/>
                <a:cs typeface="Calibri" pitchFamily="34" charset="-120"/>
              </a:rPr>
              <a:t>Question mix: 3 Easy · 3 Medium · 1 Hard — KPIs are tracked separately from these seven SQL business questions.</a:t>
            </a:r>
            <a:endParaRPr lang="en-US" sz="1050" dirty="0"/>
          </a:p>
        </p:txBody>
      </p:sp>
      <p:sp>
        <p:nvSpPr>
          <p:cNvPr id="41" name="Text 3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Lifestyle &amp; Health Risk</a:t>
            </a:r>
            <a:endParaRPr lang="en-US" sz="900" dirty="0"/>
          </a:p>
        </p:txBody>
      </p:sp>
      <p:sp>
        <p:nvSpPr>
          <p:cNvPr id="42" name="Text 4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34 / 45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04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Lifestyle &amp; Health Risk</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Lifestyle Factors and Health Outcomes</a:t>
            </a:r>
            <a:endParaRPr lang="en-US" sz="1300" dirty="0"/>
          </a:p>
        </p:txBody>
      </p:sp>
      <p:sp>
        <p:nvSpPr>
          <p:cNvPr id="6" name="Shape 4"/>
          <p:cNvSpPr/>
          <p:nvPr/>
        </p:nvSpPr>
        <p:spPr>
          <a:xfrm>
            <a:off x="2344459" y="2221992"/>
            <a:ext cx="7502776" cy="4562856"/>
          </a:xfrm>
          <a:prstGeom prst="roundRect">
            <a:avLst>
              <a:gd name="adj" fmla="val 1603"/>
            </a:avLst>
          </a:prstGeom>
          <a:solidFill>
            <a:srgbClr val="FFFFFF"/>
          </a:solidFill>
          <a:ln w="12700">
            <a:solidFill>
              <a:srgbClr val="D7E4EC"/>
            </a:solidFill>
            <a:prstDash val="solid"/>
          </a:ln>
          <a:effectLst>
            <a:outerShdw blurRad="203200" dist="50800" dir="5400000" algn="bl" rotWithShape="0">
              <a:srgbClr val="12283F">
                <a:alpha val="22000"/>
              </a:srgbClr>
            </a:outerShdw>
          </a:effectLst>
        </p:spPr>
        <p:txBody>
          <a:bodyPr/>
          <a:lstStyle/>
          <a:p>
            <a:endParaRPr lang="en-US"/>
          </a:p>
        </p:txBody>
      </p:sp>
      <p:pic>
        <p:nvPicPr>
          <p:cNvPr id="7" name="Image 0" descr="/home/claude/medisights_ppt/Screenshot_2026-08-13_135325.png"/>
          <p:cNvPicPr>
            <a:picLocks noChangeAspect="1"/>
          </p:cNvPicPr>
          <p:nvPr/>
        </p:nvPicPr>
        <p:blipFill>
          <a:blip r:embed="rId3"/>
          <a:stretch>
            <a:fillRect/>
          </a:stretch>
        </p:blipFill>
        <p:spPr>
          <a:xfrm>
            <a:off x="2454187" y="2331720"/>
            <a:ext cx="7283320" cy="4343400"/>
          </a:xfrm>
          <a:prstGeom prst="rect">
            <a:avLst/>
          </a:prstGeom>
        </p:spPr>
      </p:pic>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Lifestyle &amp; Health Risk</a:t>
            </a:r>
            <a:endParaRPr lang="en-US" sz="900" dirty="0"/>
          </a:p>
        </p:txBody>
      </p:sp>
      <p:sp>
        <p:nvSpPr>
          <p:cNvPr id="9" name="Text 6"/>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30 / 45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2">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04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Purpose &amp; Target Audience</a:t>
            </a:r>
            <a:endParaRPr lang="en-US" sz="3000" dirty="0"/>
          </a:p>
        </p:txBody>
      </p:sp>
      <p:sp>
        <p:nvSpPr>
          <p:cNvPr id="5" name="Shape 3"/>
          <p:cNvSpPr/>
          <p:nvPr/>
        </p:nvSpPr>
        <p:spPr>
          <a:xfrm>
            <a:off x="548640" y="1828800"/>
            <a:ext cx="11094415" cy="1234440"/>
          </a:xfrm>
          <a:prstGeom prst="roundRect">
            <a:avLst>
              <a:gd name="adj" fmla="val 8889"/>
            </a:avLst>
          </a:prstGeom>
          <a:solidFill>
            <a:srgbClr val="12283F"/>
          </a:solidFill>
          <a:ln/>
        </p:spPr>
        <p:txBody>
          <a:bodyPr/>
          <a:lstStyle/>
          <a:p>
            <a:endParaRPr lang="en-US"/>
          </a:p>
        </p:txBody>
      </p:sp>
      <p:sp>
        <p:nvSpPr>
          <p:cNvPr id="6" name="Text 4"/>
          <p:cNvSpPr/>
          <p:nvPr/>
        </p:nvSpPr>
        <p:spPr>
          <a:xfrm>
            <a:off x="868680" y="1993392"/>
            <a:ext cx="5486400" cy="274320"/>
          </a:xfrm>
          <a:prstGeom prst="rect">
            <a:avLst/>
          </a:prstGeom>
          <a:noFill/>
          <a:ln/>
        </p:spPr>
        <p:txBody>
          <a:bodyPr wrap="square" lIns="0" tIns="0" rIns="0" bIns="0" rtlCol="0" anchor="ctr"/>
          <a:lstStyle/>
          <a:p>
            <a:pPr marL="0" indent="0">
              <a:buNone/>
            </a:pPr>
            <a:r>
              <a:rPr lang="en-US" sz="1050" b="1" kern="0" spc="120" dirty="0">
                <a:solidFill>
                  <a:srgbClr val="22C3A6"/>
                </a:solidFill>
                <a:latin typeface="Calibri" pitchFamily="34" charset="0"/>
                <a:ea typeface="Calibri" pitchFamily="34" charset="-122"/>
                <a:cs typeface="Calibri" pitchFamily="34" charset="-120"/>
              </a:rPr>
              <a:t>DASHBOARD GOAL</a:t>
            </a:r>
            <a:endParaRPr lang="en-US" sz="1050" dirty="0"/>
          </a:p>
        </p:txBody>
      </p:sp>
      <p:sp>
        <p:nvSpPr>
          <p:cNvPr id="7" name="Text 5"/>
          <p:cNvSpPr/>
          <p:nvPr/>
        </p:nvSpPr>
        <p:spPr>
          <a:xfrm>
            <a:off x="868680" y="2267712"/>
            <a:ext cx="10454335" cy="73152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Explore how lifestyle characteristics such as smoking and physical activity are associated with BMI, LDL cholesterol, and triglyceride levels.</a:t>
            </a:r>
            <a:endParaRPr lang="en-US" sz="1350" dirty="0"/>
          </a:p>
        </p:txBody>
      </p:sp>
      <p:sp>
        <p:nvSpPr>
          <p:cNvPr id="8" name="Text 6"/>
          <p:cNvSpPr/>
          <p:nvPr/>
        </p:nvSpPr>
        <p:spPr>
          <a:xfrm>
            <a:off x="548640" y="3337560"/>
            <a:ext cx="5486400" cy="320040"/>
          </a:xfrm>
          <a:prstGeom prst="rect">
            <a:avLst/>
          </a:prstGeom>
          <a:noFill/>
          <a:ln/>
        </p:spPr>
        <p:txBody>
          <a:bodyPr wrap="square" lIns="0" tIns="0" rIns="0" bIns="0" rtlCol="0" anchor="ctr"/>
          <a:lstStyle/>
          <a:p>
            <a:pPr marL="0" indent="0">
              <a:buNone/>
            </a:pPr>
            <a:r>
              <a:rPr lang="en-US" sz="1200" b="1" kern="0" spc="100" dirty="0">
                <a:solidFill>
                  <a:srgbClr val="12283F"/>
                </a:solidFill>
                <a:latin typeface="Calibri" pitchFamily="34" charset="0"/>
                <a:ea typeface="Calibri" pitchFamily="34" charset="-122"/>
                <a:cs typeface="Calibri" pitchFamily="34" charset="-120"/>
              </a:rPr>
              <a:t>WHO USES THIS DASHBOARD</a:t>
            </a:r>
            <a:endParaRPr lang="en-US" sz="1200" dirty="0"/>
          </a:p>
        </p:txBody>
      </p:sp>
      <p:sp>
        <p:nvSpPr>
          <p:cNvPr id="9" name="Shape 7"/>
          <p:cNvSpPr/>
          <p:nvPr/>
        </p:nvSpPr>
        <p:spPr>
          <a:xfrm>
            <a:off x="548640"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0" name="Shape 8"/>
          <p:cNvSpPr/>
          <p:nvPr/>
        </p:nvSpPr>
        <p:spPr>
          <a:xfrm>
            <a:off x="1622260" y="4069080"/>
            <a:ext cx="420624" cy="420624"/>
          </a:xfrm>
          <a:prstGeom prst="ellipse">
            <a:avLst/>
          </a:prstGeom>
          <a:solidFill>
            <a:srgbClr val="1C7293"/>
          </a:solidFill>
          <a:ln/>
        </p:spPr>
        <p:txBody>
          <a:bodyPr/>
          <a:lstStyle/>
          <a:p>
            <a:endParaRPr lang="en-US"/>
          </a:p>
        </p:txBody>
      </p:sp>
      <p:sp>
        <p:nvSpPr>
          <p:cNvPr id="11" name="Text 9"/>
          <p:cNvSpPr/>
          <p:nvPr/>
        </p:nvSpPr>
        <p:spPr>
          <a:xfrm>
            <a:off x="1622260"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85800"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Lifestyle and Wellness Analysts</a:t>
            </a:r>
            <a:endParaRPr lang="en-US" sz="1250" dirty="0"/>
          </a:p>
        </p:txBody>
      </p:sp>
      <p:sp>
        <p:nvSpPr>
          <p:cNvPr id="13" name="Shape 11"/>
          <p:cNvSpPr/>
          <p:nvPr/>
        </p:nvSpPr>
        <p:spPr>
          <a:xfrm>
            <a:off x="3390824"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4" name="Shape 12"/>
          <p:cNvSpPr/>
          <p:nvPr/>
        </p:nvSpPr>
        <p:spPr>
          <a:xfrm>
            <a:off x="4464444" y="4069080"/>
            <a:ext cx="420624" cy="420624"/>
          </a:xfrm>
          <a:prstGeom prst="ellipse">
            <a:avLst/>
          </a:prstGeom>
          <a:solidFill>
            <a:srgbClr val="1C7293"/>
          </a:solidFill>
          <a:ln/>
        </p:spPr>
        <p:txBody>
          <a:bodyPr/>
          <a:lstStyle/>
          <a:p>
            <a:endParaRPr lang="en-US"/>
          </a:p>
        </p:txBody>
      </p:sp>
      <p:sp>
        <p:nvSpPr>
          <p:cNvPr id="15" name="Text 13"/>
          <p:cNvSpPr/>
          <p:nvPr/>
        </p:nvSpPr>
        <p:spPr>
          <a:xfrm>
            <a:off x="4464444"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3527984"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Health Promotion Teams</a:t>
            </a:r>
            <a:endParaRPr lang="en-US" sz="1250" dirty="0"/>
          </a:p>
        </p:txBody>
      </p:sp>
      <p:sp>
        <p:nvSpPr>
          <p:cNvPr id="17" name="Shape 15"/>
          <p:cNvSpPr/>
          <p:nvPr/>
        </p:nvSpPr>
        <p:spPr>
          <a:xfrm>
            <a:off x="6233008"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18" name="Shape 16"/>
          <p:cNvSpPr/>
          <p:nvPr/>
        </p:nvSpPr>
        <p:spPr>
          <a:xfrm>
            <a:off x="7306628" y="4069080"/>
            <a:ext cx="420624" cy="420624"/>
          </a:xfrm>
          <a:prstGeom prst="ellipse">
            <a:avLst/>
          </a:prstGeom>
          <a:solidFill>
            <a:srgbClr val="1C7293"/>
          </a:solidFill>
          <a:ln/>
        </p:spPr>
        <p:txBody>
          <a:bodyPr/>
          <a:lstStyle/>
          <a:p>
            <a:endParaRPr lang="en-US"/>
          </a:p>
        </p:txBody>
      </p:sp>
      <p:sp>
        <p:nvSpPr>
          <p:cNvPr id="19" name="Text 17"/>
          <p:cNvSpPr/>
          <p:nvPr/>
        </p:nvSpPr>
        <p:spPr>
          <a:xfrm>
            <a:off x="7306628"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370168"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Community Health Planners</a:t>
            </a:r>
            <a:endParaRPr lang="en-US" sz="1250" dirty="0"/>
          </a:p>
        </p:txBody>
      </p:sp>
      <p:sp>
        <p:nvSpPr>
          <p:cNvPr id="21" name="Shape 19"/>
          <p:cNvSpPr/>
          <p:nvPr/>
        </p:nvSpPr>
        <p:spPr>
          <a:xfrm>
            <a:off x="9075191" y="3794760"/>
            <a:ext cx="2567864" cy="2377440"/>
          </a:xfrm>
          <a:prstGeom prst="roundRect">
            <a:avLst>
              <a:gd name="adj" fmla="val 3846"/>
            </a:avLst>
          </a:prstGeom>
          <a:solidFill>
            <a:srgbClr val="FFFFFF"/>
          </a:solidFill>
          <a:ln/>
          <a:effectLst>
            <a:outerShdw blurRad="101600" dist="25400" dir="5400000" algn="bl" rotWithShape="0">
              <a:srgbClr val="12283F">
                <a:alpha val="12000"/>
              </a:srgbClr>
            </a:outerShdw>
          </a:effectLst>
        </p:spPr>
        <p:txBody>
          <a:bodyPr/>
          <a:lstStyle/>
          <a:p>
            <a:endParaRPr lang="en-US"/>
          </a:p>
        </p:txBody>
      </p:sp>
      <p:sp>
        <p:nvSpPr>
          <p:cNvPr id="22" name="Shape 20"/>
          <p:cNvSpPr/>
          <p:nvPr/>
        </p:nvSpPr>
        <p:spPr>
          <a:xfrm>
            <a:off x="10148811" y="4069080"/>
            <a:ext cx="420624" cy="420624"/>
          </a:xfrm>
          <a:prstGeom prst="ellipse">
            <a:avLst/>
          </a:prstGeom>
          <a:solidFill>
            <a:srgbClr val="1C7293"/>
          </a:solidFill>
          <a:ln/>
        </p:spPr>
        <p:txBody>
          <a:bodyPr/>
          <a:lstStyle/>
          <a:p>
            <a:endParaRPr lang="en-US"/>
          </a:p>
        </p:txBody>
      </p:sp>
      <p:sp>
        <p:nvSpPr>
          <p:cNvPr id="23" name="Text 21"/>
          <p:cNvSpPr/>
          <p:nvPr/>
        </p:nvSpPr>
        <p:spPr>
          <a:xfrm>
            <a:off x="10148811"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212351" y="4754880"/>
            <a:ext cx="2293544" cy="1234440"/>
          </a:xfrm>
          <a:prstGeom prst="rect">
            <a:avLst/>
          </a:prstGeom>
          <a:noFill/>
          <a:ln/>
        </p:spPr>
        <p:txBody>
          <a:bodyPr wrap="square" lIns="0" tIns="0" rIns="0" bIns="0" rtlCol="0" anchor="ctr"/>
          <a:lstStyle/>
          <a:p>
            <a:pPr marL="0" indent="0" algn="ctr">
              <a:lnSpc>
                <a:spcPts val="1600"/>
              </a:lnSpc>
              <a:buNone/>
            </a:pPr>
            <a:r>
              <a:rPr lang="en-US" sz="1250" b="1" dirty="0">
                <a:solidFill>
                  <a:srgbClr val="12283F"/>
                </a:solidFill>
                <a:latin typeface="Calibri" pitchFamily="34" charset="0"/>
                <a:ea typeface="Calibri" pitchFamily="34" charset="-122"/>
                <a:cs typeface="Calibri" pitchFamily="34" charset="-120"/>
              </a:rPr>
              <a:t>Wellness Program Managers</a:t>
            </a:r>
            <a:endParaRPr lang="en-US" sz="12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Lifestyle &amp; Health Risk</a:t>
            </a:r>
            <a:endParaRPr lang="en-US" sz="900" dirty="0"/>
          </a:p>
        </p:txBody>
      </p:sp>
      <p:sp>
        <p:nvSpPr>
          <p:cNvPr id="26" name="Text 24"/>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31 / 45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04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Key Performance Indicators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The headline numbers this dashboard puts front and center, and why each one matters.</a:t>
            </a:r>
            <a:endParaRPr lang="en-US" sz="1300" dirty="0"/>
          </a:p>
        </p:txBody>
      </p:sp>
      <p:sp>
        <p:nvSpPr>
          <p:cNvPr id="6" name="Shape 4"/>
          <p:cNvSpPr/>
          <p:nvPr/>
        </p:nvSpPr>
        <p:spPr>
          <a:xfrm>
            <a:off x="548640"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7" name="Text 5"/>
          <p:cNvSpPr/>
          <p:nvPr/>
        </p:nvSpPr>
        <p:spPr>
          <a:xfrm>
            <a:off x="658368"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29.72%</a:t>
            </a:r>
            <a:endParaRPr lang="en-US" sz="2100" dirty="0"/>
          </a:p>
        </p:txBody>
      </p:sp>
      <p:sp>
        <p:nvSpPr>
          <p:cNvPr id="8" name="Shape 6"/>
          <p:cNvSpPr/>
          <p:nvPr/>
        </p:nvSpPr>
        <p:spPr>
          <a:xfrm>
            <a:off x="822960" y="3474720"/>
            <a:ext cx="1465417" cy="0"/>
          </a:xfrm>
          <a:prstGeom prst="line">
            <a:avLst/>
          </a:prstGeom>
          <a:noFill/>
          <a:ln w="12700">
            <a:solidFill>
              <a:srgbClr val="D7E4EC"/>
            </a:solidFill>
            <a:prstDash val="solid"/>
          </a:ln>
        </p:spPr>
        <p:txBody>
          <a:bodyPr/>
          <a:lstStyle/>
          <a:p>
            <a:endParaRPr lang="en-US"/>
          </a:p>
        </p:txBody>
      </p:sp>
      <p:sp>
        <p:nvSpPr>
          <p:cNvPr id="9" name="Text 7"/>
          <p:cNvSpPr/>
          <p:nvPr/>
        </p:nvSpPr>
        <p:spPr>
          <a:xfrm>
            <a:off x="685800"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Percentage of Smokers</a:t>
            </a:r>
            <a:endParaRPr lang="en-US" sz="1150" dirty="0"/>
          </a:p>
        </p:txBody>
      </p:sp>
      <p:sp>
        <p:nvSpPr>
          <p:cNvPr id="10" name="Text 8"/>
          <p:cNvSpPr/>
          <p:nvPr/>
        </p:nvSpPr>
        <p:spPr>
          <a:xfrm>
            <a:off x="685800"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Shows the share of smokers in the population</a:t>
            </a:r>
            <a:endParaRPr lang="en-US" sz="1000" dirty="0"/>
          </a:p>
        </p:txBody>
      </p:sp>
      <p:sp>
        <p:nvSpPr>
          <p:cNvPr id="11" name="Shape 9"/>
          <p:cNvSpPr/>
          <p:nvPr/>
        </p:nvSpPr>
        <p:spPr>
          <a:xfrm>
            <a:off x="2818729"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12" name="Text 10"/>
          <p:cNvSpPr/>
          <p:nvPr/>
        </p:nvSpPr>
        <p:spPr>
          <a:xfrm>
            <a:off x="292845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65.78%</a:t>
            </a:r>
            <a:endParaRPr lang="en-US" sz="2100" dirty="0"/>
          </a:p>
        </p:txBody>
      </p:sp>
      <p:sp>
        <p:nvSpPr>
          <p:cNvPr id="13" name="Shape 11"/>
          <p:cNvSpPr/>
          <p:nvPr/>
        </p:nvSpPr>
        <p:spPr>
          <a:xfrm>
            <a:off x="3093049" y="3474720"/>
            <a:ext cx="1465417" cy="0"/>
          </a:xfrm>
          <a:prstGeom prst="line">
            <a:avLst/>
          </a:prstGeom>
          <a:noFill/>
          <a:ln w="12700">
            <a:solidFill>
              <a:srgbClr val="D7E4EC"/>
            </a:solidFill>
            <a:prstDash val="solid"/>
          </a:ln>
        </p:spPr>
        <p:txBody>
          <a:bodyPr/>
          <a:lstStyle/>
          <a:p>
            <a:endParaRPr lang="en-US"/>
          </a:p>
        </p:txBody>
      </p:sp>
      <p:sp>
        <p:nvSpPr>
          <p:cNvPr id="14" name="Text 12"/>
          <p:cNvSpPr/>
          <p:nvPr/>
        </p:nvSpPr>
        <p:spPr>
          <a:xfrm>
            <a:off x="295588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BMI 25+ Percentage</a:t>
            </a:r>
            <a:endParaRPr lang="en-US" sz="1150" dirty="0"/>
          </a:p>
        </p:txBody>
      </p:sp>
      <p:sp>
        <p:nvSpPr>
          <p:cNvPr id="15" name="Text 13"/>
          <p:cNvSpPr/>
          <p:nvPr/>
        </p:nvSpPr>
        <p:spPr>
          <a:xfrm>
            <a:off x="295588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Shows the share classified as overweight or above</a:t>
            </a:r>
            <a:endParaRPr lang="en-US" sz="1000" dirty="0"/>
          </a:p>
        </p:txBody>
      </p:sp>
      <p:sp>
        <p:nvSpPr>
          <p:cNvPr id="16" name="Shape 14"/>
          <p:cNvSpPr/>
          <p:nvPr/>
        </p:nvSpPr>
        <p:spPr>
          <a:xfrm>
            <a:off x="5088819"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17" name="Text 15"/>
          <p:cNvSpPr/>
          <p:nvPr/>
        </p:nvSpPr>
        <p:spPr>
          <a:xfrm>
            <a:off x="5198547"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27.03</a:t>
            </a:r>
            <a:endParaRPr lang="en-US" sz="2100" dirty="0"/>
          </a:p>
        </p:txBody>
      </p:sp>
      <p:sp>
        <p:nvSpPr>
          <p:cNvPr id="18" name="Shape 16"/>
          <p:cNvSpPr/>
          <p:nvPr/>
        </p:nvSpPr>
        <p:spPr>
          <a:xfrm>
            <a:off x="5363139" y="3474720"/>
            <a:ext cx="1465417" cy="0"/>
          </a:xfrm>
          <a:prstGeom prst="line">
            <a:avLst/>
          </a:prstGeom>
          <a:noFill/>
          <a:ln w="12700">
            <a:solidFill>
              <a:srgbClr val="D7E4EC"/>
            </a:solidFill>
            <a:prstDash val="solid"/>
          </a:ln>
        </p:spPr>
        <p:txBody>
          <a:bodyPr/>
          <a:lstStyle/>
          <a:p>
            <a:endParaRPr lang="en-US"/>
          </a:p>
        </p:txBody>
      </p:sp>
      <p:sp>
        <p:nvSpPr>
          <p:cNvPr id="19" name="Text 17"/>
          <p:cNvSpPr/>
          <p:nvPr/>
        </p:nvSpPr>
        <p:spPr>
          <a:xfrm>
            <a:off x="5225979"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BMI</a:t>
            </a:r>
            <a:endParaRPr lang="en-US" sz="1150" dirty="0"/>
          </a:p>
        </p:txBody>
      </p:sp>
      <p:sp>
        <p:nvSpPr>
          <p:cNvPr id="20" name="Text 18"/>
          <p:cNvSpPr/>
          <p:nvPr/>
        </p:nvSpPr>
        <p:spPr>
          <a:xfrm>
            <a:off x="5225979"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overall BMI level</a:t>
            </a:r>
            <a:endParaRPr lang="en-US" sz="1000" dirty="0"/>
          </a:p>
        </p:txBody>
      </p:sp>
      <p:sp>
        <p:nvSpPr>
          <p:cNvPr id="21" name="Shape 19"/>
          <p:cNvSpPr/>
          <p:nvPr/>
        </p:nvSpPr>
        <p:spPr>
          <a:xfrm>
            <a:off x="7358908" y="2331720"/>
            <a:ext cx="2014057" cy="3566160"/>
          </a:xfrm>
          <a:prstGeom prst="roundRect">
            <a:avLst>
              <a:gd name="adj" fmla="val 4540"/>
            </a:avLst>
          </a:prstGeom>
          <a:solidFill>
            <a:srgbClr val="FFFFFF"/>
          </a:solidFill>
          <a:ln w="12700">
            <a:solidFill>
              <a:srgbClr val="D7E4EC"/>
            </a:solidFill>
            <a:prstDash val="solid"/>
          </a:ln>
        </p:spPr>
        <p:txBody>
          <a:bodyPr/>
          <a:lstStyle/>
          <a:p>
            <a:endParaRPr lang="en-US"/>
          </a:p>
        </p:txBody>
      </p:sp>
      <p:sp>
        <p:nvSpPr>
          <p:cNvPr id="22" name="Text 20"/>
          <p:cNvSpPr/>
          <p:nvPr/>
        </p:nvSpPr>
        <p:spPr>
          <a:xfrm>
            <a:off x="746863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215.73</a:t>
            </a:r>
            <a:endParaRPr lang="en-US" sz="2100" dirty="0"/>
          </a:p>
        </p:txBody>
      </p:sp>
      <p:sp>
        <p:nvSpPr>
          <p:cNvPr id="23" name="Shape 21"/>
          <p:cNvSpPr/>
          <p:nvPr/>
        </p:nvSpPr>
        <p:spPr>
          <a:xfrm>
            <a:off x="7633228" y="3474720"/>
            <a:ext cx="1465417" cy="0"/>
          </a:xfrm>
          <a:prstGeom prst="line">
            <a:avLst/>
          </a:prstGeom>
          <a:noFill/>
          <a:ln w="12700">
            <a:solidFill>
              <a:srgbClr val="D7E4EC"/>
            </a:solidFill>
            <a:prstDash val="solid"/>
          </a:ln>
        </p:spPr>
        <p:txBody>
          <a:bodyPr/>
          <a:lstStyle/>
          <a:p>
            <a:endParaRPr lang="en-US"/>
          </a:p>
        </p:txBody>
      </p:sp>
      <p:sp>
        <p:nvSpPr>
          <p:cNvPr id="24" name="Text 22"/>
          <p:cNvSpPr/>
          <p:nvPr/>
        </p:nvSpPr>
        <p:spPr>
          <a:xfrm>
            <a:off x="749606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LDL Cholesterol</a:t>
            </a:r>
            <a:endParaRPr lang="en-US" sz="1150" dirty="0"/>
          </a:p>
        </p:txBody>
      </p:sp>
      <p:sp>
        <p:nvSpPr>
          <p:cNvPr id="25" name="Text 23"/>
          <p:cNvSpPr/>
          <p:nvPr/>
        </p:nvSpPr>
        <p:spPr>
          <a:xfrm>
            <a:off x="749606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LDL level</a:t>
            </a:r>
            <a:endParaRPr lang="en-US" sz="1000" dirty="0"/>
          </a:p>
        </p:txBody>
      </p:sp>
      <p:sp>
        <p:nvSpPr>
          <p:cNvPr id="26" name="Shape 24"/>
          <p:cNvSpPr/>
          <p:nvPr/>
        </p:nvSpPr>
        <p:spPr>
          <a:xfrm>
            <a:off x="9628998" y="2331720"/>
            <a:ext cx="2014057" cy="3566160"/>
          </a:xfrm>
          <a:prstGeom prst="roundRect">
            <a:avLst>
              <a:gd name="adj" fmla="val 4540"/>
            </a:avLst>
          </a:prstGeom>
          <a:solidFill>
            <a:srgbClr val="EAF3F8"/>
          </a:solidFill>
          <a:ln w="12700">
            <a:solidFill>
              <a:srgbClr val="D7E4EC"/>
            </a:solidFill>
            <a:prstDash val="solid"/>
          </a:ln>
        </p:spPr>
        <p:txBody>
          <a:bodyPr/>
          <a:lstStyle/>
          <a:p>
            <a:endParaRPr lang="en-US"/>
          </a:p>
        </p:txBody>
      </p:sp>
      <p:sp>
        <p:nvSpPr>
          <p:cNvPr id="27" name="Text 25"/>
          <p:cNvSpPr/>
          <p:nvPr/>
        </p:nvSpPr>
        <p:spPr>
          <a:xfrm>
            <a:off x="9738726" y="2606040"/>
            <a:ext cx="1794601" cy="777240"/>
          </a:xfrm>
          <a:prstGeom prst="rect">
            <a:avLst/>
          </a:prstGeom>
          <a:noFill/>
          <a:ln/>
        </p:spPr>
        <p:txBody>
          <a:bodyPr wrap="square" lIns="0" tIns="0" rIns="0" bIns="0" rtlCol="0" anchor="ctr"/>
          <a:lstStyle/>
          <a:p>
            <a:pPr marL="0" indent="0" algn="ctr">
              <a:buNone/>
            </a:pPr>
            <a:r>
              <a:rPr lang="en-US" sz="2100" b="1" dirty="0">
                <a:solidFill>
                  <a:srgbClr val="1C7293"/>
                </a:solidFill>
                <a:latin typeface="Cambria" pitchFamily="34" charset="0"/>
                <a:ea typeface="Cambria" pitchFamily="34" charset="-122"/>
                <a:cs typeface="Cambria" pitchFamily="34" charset="-120"/>
              </a:rPr>
              <a:t>248.96</a:t>
            </a:r>
            <a:endParaRPr lang="en-US" sz="2100" dirty="0"/>
          </a:p>
        </p:txBody>
      </p:sp>
      <p:sp>
        <p:nvSpPr>
          <p:cNvPr id="28" name="Shape 26"/>
          <p:cNvSpPr/>
          <p:nvPr/>
        </p:nvSpPr>
        <p:spPr>
          <a:xfrm>
            <a:off x="9903318" y="3474720"/>
            <a:ext cx="1465417" cy="0"/>
          </a:xfrm>
          <a:prstGeom prst="line">
            <a:avLst/>
          </a:prstGeom>
          <a:noFill/>
          <a:ln w="12700">
            <a:solidFill>
              <a:srgbClr val="D7E4EC"/>
            </a:solidFill>
            <a:prstDash val="solid"/>
          </a:ln>
        </p:spPr>
        <p:txBody>
          <a:bodyPr/>
          <a:lstStyle/>
          <a:p>
            <a:endParaRPr lang="en-US"/>
          </a:p>
        </p:txBody>
      </p:sp>
      <p:sp>
        <p:nvSpPr>
          <p:cNvPr id="29" name="Text 27"/>
          <p:cNvSpPr/>
          <p:nvPr/>
        </p:nvSpPr>
        <p:spPr>
          <a:xfrm>
            <a:off x="9766158" y="3657600"/>
            <a:ext cx="1739737" cy="777240"/>
          </a:xfrm>
          <a:prstGeom prst="rect">
            <a:avLst/>
          </a:prstGeom>
          <a:noFill/>
          <a:ln/>
        </p:spPr>
        <p:txBody>
          <a:bodyPr wrap="square" lIns="0" tIns="0" rIns="0" bIns="0" rtlCol="0" anchor="ctr"/>
          <a:lstStyle/>
          <a:p>
            <a:pPr marL="0" indent="0" algn="ctr">
              <a:lnSpc>
                <a:spcPts val="1400"/>
              </a:lnSpc>
              <a:buNone/>
            </a:pPr>
            <a:r>
              <a:rPr lang="en-US" sz="1150" b="1" dirty="0">
                <a:solidFill>
                  <a:srgbClr val="12283F"/>
                </a:solidFill>
                <a:latin typeface="Calibri" pitchFamily="34" charset="0"/>
                <a:ea typeface="Calibri" pitchFamily="34" charset="-122"/>
                <a:cs typeface="Calibri" pitchFamily="34" charset="-120"/>
              </a:rPr>
              <a:t>Average Triglycerides</a:t>
            </a:r>
            <a:endParaRPr lang="en-US" sz="1150" dirty="0"/>
          </a:p>
        </p:txBody>
      </p:sp>
      <p:sp>
        <p:nvSpPr>
          <p:cNvPr id="30" name="Text 28"/>
          <p:cNvSpPr/>
          <p:nvPr/>
        </p:nvSpPr>
        <p:spPr>
          <a:xfrm>
            <a:off x="9766158" y="4480560"/>
            <a:ext cx="1739737" cy="1280160"/>
          </a:xfrm>
          <a:prstGeom prst="rect">
            <a:avLst/>
          </a:prstGeom>
          <a:noFill/>
          <a:ln/>
        </p:spPr>
        <p:txBody>
          <a:bodyPr wrap="square" lIns="0" tIns="0" rIns="0" bIns="0" rtlCol="0" anchor="ctr"/>
          <a:lstStyle/>
          <a:p>
            <a:pPr marL="0" indent="0" algn="ctr">
              <a:lnSpc>
                <a:spcPts val="1300"/>
              </a:lnSpc>
              <a:buNone/>
            </a:pPr>
            <a:r>
              <a:rPr lang="en-US" sz="1000" i="1" dirty="0">
                <a:solidFill>
                  <a:srgbClr val="5B7284"/>
                </a:solidFill>
                <a:latin typeface="Calibri" pitchFamily="34" charset="0"/>
                <a:ea typeface="Calibri" pitchFamily="34" charset="-122"/>
                <a:cs typeface="Calibri" pitchFamily="34" charset="-120"/>
              </a:rPr>
              <a:t>Summarizes the average triglyceride level</a:t>
            </a:r>
            <a:endParaRPr lang="en-US" sz="1000" dirty="0"/>
          </a:p>
        </p:txBody>
      </p:sp>
      <p:sp>
        <p:nvSpPr>
          <p:cNvPr id="31" name="Text 2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Lifestyle &amp; Health Risk</a:t>
            </a:r>
            <a:endParaRPr lang="en-US" sz="900" dirty="0"/>
          </a:p>
        </p:txBody>
      </p:sp>
      <p:sp>
        <p:nvSpPr>
          <p:cNvPr id="32" name="Text 3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32 / 45</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5084064"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DASHBOARD 04 — POWER BI</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Reading the Charts</a:t>
            </a:r>
            <a:endParaRPr lang="en-US" sz="3000" dirty="0"/>
          </a:p>
        </p:txBody>
      </p:sp>
      <p:sp>
        <p:nvSpPr>
          <p:cNvPr id="5"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300" dirty="0">
                <a:solidFill>
                  <a:srgbClr val="5B7284"/>
                </a:solidFill>
                <a:latin typeface="Calibri" pitchFamily="34" charset="0"/>
                <a:ea typeface="Calibri" pitchFamily="34" charset="-122"/>
                <a:cs typeface="Calibri" pitchFamily="34" charset="-120"/>
              </a:rPr>
              <a:t>What each visual on this dashboard shows and why it's there.</a:t>
            </a:r>
            <a:endParaRPr lang="en-US" sz="1300" dirty="0"/>
          </a:p>
        </p:txBody>
      </p:sp>
      <p:sp>
        <p:nvSpPr>
          <p:cNvPr id="6" name="Shape 4"/>
          <p:cNvSpPr/>
          <p:nvPr/>
        </p:nvSpPr>
        <p:spPr>
          <a:xfrm>
            <a:off x="548640"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7" name="Shape 5"/>
          <p:cNvSpPr/>
          <p:nvPr/>
        </p:nvSpPr>
        <p:spPr>
          <a:xfrm>
            <a:off x="777240" y="2377440"/>
            <a:ext cx="365760" cy="365760"/>
          </a:xfrm>
          <a:prstGeom prst="ellipse">
            <a:avLst/>
          </a:prstGeom>
          <a:solidFill>
            <a:srgbClr val="12283F"/>
          </a:solidFill>
          <a:ln/>
        </p:spPr>
        <p:txBody>
          <a:bodyPr/>
          <a:lstStyle/>
          <a:p>
            <a:endParaRPr lang="en-US"/>
          </a:p>
        </p:txBody>
      </p:sp>
      <p:sp>
        <p:nvSpPr>
          <p:cNvPr id="8" name="Text 6"/>
          <p:cNvSpPr/>
          <p:nvPr/>
        </p:nvSpPr>
        <p:spPr>
          <a:xfrm>
            <a:off x="777240"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25880"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Smoking Status Split</a:t>
            </a:r>
            <a:endParaRPr lang="en-US" sz="1250" dirty="0"/>
          </a:p>
        </p:txBody>
      </p:sp>
      <p:sp>
        <p:nvSpPr>
          <p:cNvPr id="10" name="Text 8"/>
          <p:cNvSpPr/>
          <p:nvPr/>
        </p:nvSpPr>
        <p:spPr>
          <a:xfrm>
            <a:off x="777240"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showing non-smokers (70.3%) versus smokers (29.7%) in the population.</a:t>
            </a:r>
            <a:endParaRPr lang="en-US" sz="1050" dirty="0"/>
          </a:p>
        </p:txBody>
      </p:sp>
      <p:sp>
        <p:nvSpPr>
          <p:cNvPr id="11" name="Shape 9"/>
          <p:cNvSpPr/>
          <p:nvPr/>
        </p:nvSpPr>
        <p:spPr>
          <a:xfrm>
            <a:off x="4353458"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2" name="Shape 10"/>
          <p:cNvSpPr/>
          <p:nvPr/>
        </p:nvSpPr>
        <p:spPr>
          <a:xfrm>
            <a:off x="4582058" y="2377440"/>
            <a:ext cx="365760" cy="365760"/>
          </a:xfrm>
          <a:prstGeom prst="ellipse">
            <a:avLst/>
          </a:prstGeom>
          <a:solidFill>
            <a:srgbClr val="12283F"/>
          </a:solidFill>
          <a:ln/>
        </p:spPr>
        <p:txBody>
          <a:bodyPr/>
          <a:lstStyle/>
          <a:p>
            <a:endParaRPr lang="en-US"/>
          </a:p>
        </p:txBody>
      </p:sp>
      <p:sp>
        <p:nvSpPr>
          <p:cNvPr id="13" name="Text 11"/>
          <p:cNvSpPr/>
          <p:nvPr/>
        </p:nvSpPr>
        <p:spPr>
          <a:xfrm>
            <a:off x="4582058"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130698"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Physical Activity Level Split</a:t>
            </a:r>
            <a:endParaRPr lang="en-US" sz="1250" dirty="0"/>
          </a:p>
        </p:txBody>
      </p:sp>
      <p:sp>
        <p:nvSpPr>
          <p:cNvPr id="15" name="Text 13"/>
          <p:cNvSpPr/>
          <p:nvPr/>
        </p:nvSpPr>
        <p:spPr>
          <a:xfrm>
            <a:off x="4582058"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100% bar comparing headcount across Low, Moderate, and High activity levels.</a:t>
            </a:r>
            <a:endParaRPr lang="en-US" sz="1050" dirty="0"/>
          </a:p>
        </p:txBody>
      </p:sp>
      <p:sp>
        <p:nvSpPr>
          <p:cNvPr id="16" name="Shape 14"/>
          <p:cNvSpPr/>
          <p:nvPr/>
        </p:nvSpPr>
        <p:spPr>
          <a:xfrm>
            <a:off x="8158277" y="214884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17" name="Shape 15"/>
          <p:cNvSpPr/>
          <p:nvPr/>
        </p:nvSpPr>
        <p:spPr>
          <a:xfrm>
            <a:off x="8386877" y="2377440"/>
            <a:ext cx="365760" cy="365760"/>
          </a:xfrm>
          <a:prstGeom prst="ellipse">
            <a:avLst/>
          </a:prstGeom>
          <a:solidFill>
            <a:srgbClr val="12283F"/>
          </a:solidFill>
          <a:ln/>
        </p:spPr>
        <p:txBody>
          <a:bodyPr/>
          <a:lstStyle/>
          <a:p>
            <a:endParaRPr lang="en-US"/>
          </a:p>
        </p:txBody>
      </p:sp>
      <p:sp>
        <p:nvSpPr>
          <p:cNvPr id="18" name="Text 16"/>
          <p:cNvSpPr/>
          <p:nvPr/>
        </p:nvSpPr>
        <p:spPr>
          <a:xfrm>
            <a:off x="8386877" y="23774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935517" y="235000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BMI 25+ Split</a:t>
            </a:r>
            <a:endParaRPr lang="en-US" sz="1250" dirty="0"/>
          </a:p>
        </p:txBody>
      </p:sp>
      <p:sp>
        <p:nvSpPr>
          <p:cNvPr id="20" name="Text 18"/>
          <p:cNvSpPr/>
          <p:nvPr/>
        </p:nvSpPr>
        <p:spPr>
          <a:xfrm>
            <a:off x="8386877" y="292608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Donut isolating the 65.8% of people classified with BMI at or above 25.</a:t>
            </a:r>
            <a:endParaRPr lang="en-US" sz="1050" dirty="0"/>
          </a:p>
        </p:txBody>
      </p:sp>
      <p:sp>
        <p:nvSpPr>
          <p:cNvPr id="21" name="Shape 19"/>
          <p:cNvSpPr/>
          <p:nvPr/>
        </p:nvSpPr>
        <p:spPr>
          <a:xfrm>
            <a:off x="548640"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2" name="Shape 20"/>
          <p:cNvSpPr/>
          <p:nvPr/>
        </p:nvSpPr>
        <p:spPr>
          <a:xfrm>
            <a:off x="777240" y="4526280"/>
            <a:ext cx="365760" cy="365760"/>
          </a:xfrm>
          <a:prstGeom prst="ellipse">
            <a:avLst/>
          </a:prstGeom>
          <a:solidFill>
            <a:srgbClr val="12283F"/>
          </a:solidFill>
          <a:ln/>
        </p:spPr>
        <p:txBody>
          <a:bodyPr/>
          <a:lstStyle/>
          <a:p>
            <a:endParaRPr lang="en-US"/>
          </a:p>
        </p:txBody>
      </p:sp>
      <p:sp>
        <p:nvSpPr>
          <p:cNvPr id="23" name="Text 21"/>
          <p:cNvSpPr/>
          <p:nvPr/>
        </p:nvSpPr>
        <p:spPr>
          <a:xfrm>
            <a:off x="777240"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325880"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High LDL Count by Smoking Status</a:t>
            </a:r>
            <a:endParaRPr lang="en-US" sz="1250" dirty="0"/>
          </a:p>
        </p:txBody>
      </p:sp>
      <p:sp>
        <p:nvSpPr>
          <p:cNvPr id="25" name="Text 23"/>
          <p:cNvSpPr/>
          <p:nvPr/>
        </p:nvSpPr>
        <p:spPr>
          <a:xfrm>
            <a:off x="777240"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chart comparing high-LDL cases between non-smokers and smokers.</a:t>
            </a:r>
            <a:endParaRPr lang="en-US" sz="1050" dirty="0"/>
          </a:p>
        </p:txBody>
      </p:sp>
      <p:sp>
        <p:nvSpPr>
          <p:cNvPr id="26" name="Shape 24"/>
          <p:cNvSpPr/>
          <p:nvPr/>
        </p:nvSpPr>
        <p:spPr>
          <a:xfrm>
            <a:off x="4353458"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27" name="Shape 25"/>
          <p:cNvSpPr/>
          <p:nvPr/>
        </p:nvSpPr>
        <p:spPr>
          <a:xfrm>
            <a:off x="4582058" y="4526280"/>
            <a:ext cx="365760" cy="365760"/>
          </a:xfrm>
          <a:prstGeom prst="ellipse">
            <a:avLst/>
          </a:prstGeom>
          <a:solidFill>
            <a:srgbClr val="12283F"/>
          </a:solidFill>
          <a:ln/>
        </p:spPr>
        <p:txBody>
          <a:bodyPr/>
          <a:lstStyle/>
          <a:p>
            <a:endParaRPr lang="en-US"/>
          </a:p>
        </p:txBody>
      </p:sp>
      <p:sp>
        <p:nvSpPr>
          <p:cNvPr id="28" name="Text 26"/>
          <p:cNvSpPr/>
          <p:nvPr/>
        </p:nvSpPr>
        <p:spPr>
          <a:xfrm>
            <a:off x="4582058"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5130698"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Physical Activity by BMI Category</a:t>
            </a:r>
            <a:endParaRPr lang="en-US" sz="1250" dirty="0"/>
          </a:p>
        </p:txBody>
      </p:sp>
      <p:sp>
        <p:nvSpPr>
          <p:cNvPr id="30" name="Text 28"/>
          <p:cNvSpPr/>
          <p:nvPr/>
        </p:nvSpPr>
        <p:spPr>
          <a:xfrm>
            <a:off x="4582058"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100% stacked bar showing activity-level mix within Overweight, Normal, Obese, and Underweight groups.</a:t>
            </a:r>
            <a:endParaRPr lang="en-US" sz="1050" dirty="0"/>
          </a:p>
        </p:txBody>
      </p:sp>
      <p:sp>
        <p:nvSpPr>
          <p:cNvPr id="31" name="Shape 29"/>
          <p:cNvSpPr/>
          <p:nvPr/>
        </p:nvSpPr>
        <p:spPr>
          <a:xfrm>
            <a:off x="8158277" y="4297680"/>
            <a:ext cx="3484778" cy="1874520"/>
          </a:xfrm>
          <a:prstGeom prst="roundRect">
            <a:avLst>
              <a:gd name="adj" fmla="val 4878"/>
            </a:avLst>
          </a:prstGeom>
          <a:solidFill>
            <a:srgbClr val="FFFFFF"/>
          </a:solidFill>
          <a:ln/>
          <a:effectLst>
            <a:outerShdw blurRad="88900" dist="25400" dir="5400000" algn="bl" rotWithShape="0">
              <a:srgbClr val="12283F">
                <a:alpha val="10000"/>
              </a:srgbClr>
            </a:outerShdw>
          </a:effectLst>
        </p:spPr>
        <p:txBody>
          <a:bodyPr/>
          <a:lstStyle/>
          <a:p>
            <a:endParaRPr lang="en-US"/>
          </a:p>
        </p:txBody>
      </p:sp>
      <p:sp>
        <p:nvSpPr>
          <p:cNvPr id="32" name="Shape 30"/>
          <p:cNvSpPr/>
          <p:nvPr/>
        </p:nvSpPr>
        <p:spPr>
          <a:xfrm>
            <a:off x="8386877" y="4526280"/>
            <a:ext cx="365760" cy="365760"/>
          </a:xfrm>
          <a:prstGeom prst="ellipse">
            <a:avLst/>
          </a:prstGeom>
          <a:solidFill>
            <a:srgbClr val="12283F"/>
          </a:solidFill>
          <a:ln/>
        </p:spPr>
        <p:txBody>
          <a:bodyPr/>
          <a:lstStyle/>
          <a:p>
            <a:endParaRPr lang="en-US"/>
          </a:p>
        </p:txBody>
      </p:sp>
      <p:sp>
        <p:nvSpPr>
          <p:cNvPr id="33" name="Text 31"/>
          <p:cNvSpPr/>
          <p:nvPr/>
        </p:nvSpPr>
        <p:spPr>
          <a:xfrm>
            <a:off x="8386877"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8935517" y="4498848"/>
            <a:ext cx="2524658" cy="457200"/>
          </a:xfrm>
          <a:prstGeom prst="rect">
            <a:avLst/>
          </a:prstGeom>
          <a:noFill/>
          <a:ln/>
        </p:spPr>
        <p:txBody>
          <a:bodyPr wrap="square" lIns="0" tIns="0" rIns="0" bIns="0" rtlCol="0" anchor="ctr"/>
          <a:lstStyle/>
          <a:p>
            <a:pPr marL="0" indent="0">
              <a:lnSpc>
                <a:spcPts val="1400"/>
              </a:lnSpc>
              <a:buNone/>
            </a:pPr>
            <a:r>
              <a:rPr lang="en-US" sz="1250" b="1" dirty="0">
                <a:solidFill>
                  <a:srgbClr val="12283F"/>
                </a:solidFill>
                <a:latin typeface="Cambria" pitchFamily="34" charset="0"/>
                <a:ea typeface="Cambria" pitchFamily="34" charset="-122"/>
                <a:cs typeface="Cambria" pitchFamily="34" charset="-120"/>
              </a:rPr>
              <a:t>Triglycerides &amp; BMI Trend by Activity</a:t>
            </a:r>
            <a:endParaRPr lang="en-US" sz="1250" dirty="0"/>
          </a:p>
        </p:txBody>
      </p:sp>
      <p:sp>
        <p:nvSpPr>
          <p:cNvPr id="35" name="Text 33"/>
          <p:cNvSpPr/>
          <p:nvPr/>
        </p:nvSpPr>
        <p:spPr>
          <a:xfrm>
            <a:off x="8386877" y="5074920"/>
            <a:ext cx="3027578" cy="914400"/>
          </a:xfrm>
          <a:prstGeom prst="rect">
            <a:avLst/>
          </a:prstGeom>
          <a:noFill/>
          <a:ln/>
        </p:spPr>
        <p:txBody>
          <a:bodyPr wrap="square" lIns="0" tIns="0" rIns="0" bIns="0" rtlCol="0" anchor="ctr"/>
          <a:lstStyle/>
          <a:p>
            <a:pPr marL="0" indent="0">
              <a:lnSpc>
                <a:spcPts val="1400"/>
              </a:lnSpc>
              <a:buNone/>
            </a:pPr>
            <a:r>
              <a:rPr lang="en-US" sz="1050" dirty="0">
                <a:solidFill>
                  <a:srgbClr val="5B7284"/>
                </a:solidFill>
                <a:latin typeface="Calibri" pitchFamily="34" charset="0"/>
                <a:ea typeface="Calibri" pitchFamily="34" charset="-122"/>
                <a:cs typeface="Calibri" pitchFamily="34" charset="-120"/>
              </a:rPr>
              <a:t>Bar and line combo linking high-triglyceride counts and BMI 25+ share to activity level, both declining as activity rises.</a:t>
            </a:r>
            <a:endParaRPr lang="en-US" sz="1050" dirty="0"/>
          </a:p>
        </p:txBody>
      </p:sp>
      <p:sp>
        <p:nvSpPr>
          <p:cNvPr id="36" name="Text 3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Lifestyle &amp; Health Risk</a:t>
            </a:r>
            <a:endParaRPr lang="en-US" sz="900" dirty="0"/>
          </a:p>
        </p:txBody>
      </p:sp>
      <p:sp>
        <p:nvSpPr>
          <p:cNvPr id="37" name="Text 35"/>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33 / 45</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5084064"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5084064"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TECHNICAL DEMONSTRATION</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SQL Server &amp; Power BI Measures</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A quick look under the hood — shown live in SQL Server Management Studio and the Power BI Fields pane.</a:t>
            </a:r>
          </a:p>
        </p:txBody>
      </p:sp>
      <p:sp>
        <p:nvSpPr>
          <p:cNvPr id="6" name="Shape"/>
          <p:cNvSpPr/>
          <p:nvPr/>
        </p:nvSpPr>
        <p:spPr>
          <a:xfrm>
            <a:off x="548640" y="1950000"/>
            <a:ext cx="5107800" cy="4150000"/>
          </a:xfrm>
          <a:prstGeom prst="roundRect">
            <a:avLst>
              <a:gd name="adj" fmla="val 4000"/>
            </a:avLst>
          </a:prstGeom>
          <a:solidFill>
            <a:srgbClr val="EAF3F8"/>
          </a:solidFill>
          <a:ln w="12700">
            <a:solidFill>
              <a:srgbClr val="D7E4EC"/>
            </a:solidFill>
            <a:prstDash val="solid"/>
          </a:ln>
        </p:spPr>
        <p:txBody>
          <a:bodyPr/>
          <a:lstStyle/>
          <a:p>
            <a:endParaRPr lang="en-US"/>
          </a:p>
        </p:txBody>
      </p:sp>
      <p:sp>
        <p:nvSpPr>
          <p:cNvPr id="7" name="Shape"/>
          <p:cNvSpPr/>
          <p:nvPr/>
        </p:nvSpPr>
        <p:spPr>
          <a:xfrm>
            <a:off x="728640" y="2130000"/>
            <a:ext cx="1700000" cy="300000"/>
          </a:xfrm>
          <a:prstGeom prst="roundRect">
            <a:avLst>
              <a:gd name="adj" fmla="val 50000"/>
            </a:avLst>
          </a:prstGeom>
          <a:solidFill>
            <a:srgbClr val="22C3A6"/>
          </a:solidFill>
          <a:ln>
            <a:noFill/>
          </a:ln>
        </p:spPr>
        <p:txBody>
          <a:bodyPr/>
          <a:lstStyle/>
          <a:p>
            <a:endParaRPr lang="en-US"/>
          </a:p>
        </p:txBody>
      </p:sp>
      <p:sp>
        <p:nvSpPr>
          <p:cNvPr id="8" name="Text"/>
          <p:cNvSpPr/>
          <p:nvPr/>
        </p:nvSpPr>
        <p:spPr>
          <a:xfrm>
            <a:off x="728640" y="2130000"/>
            <a:ext cx="1700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SQL SERVER</a:t>
            </a:r>
          </a:p>
        </p:txBody>
      </p:sp>
      <p:sp>
        <p:nvSpPr>
          <p:cNvPr id="9" name="Text"/>
          <p:cNvSpPr/>
          <p:nvPr/>
        </p:nvSpPr>
        <p:spPr>
          <a:xfrm>
            <a:off x="728640" y="2510000"/>
            <a:ext cx="4747800" cy="700000"/>
          </a:xfrm>
          <a:prstGeom prst="rect">
            <a:avLst/>
          </a:prstGeom>
          <a:noFill/>
          <a:ln/>
        </p:spPr>
        <p:txBody>
          <a:bodyPr wrap="square" lIns="0" tIns="0" rIns="0" bIns="0" rtlCol="0" anchor="t"/>
          <a:lstStyle/>
          <a:p>
            <a:pPr marL="0" indent="0" algn="l">
              <a:lnSpc>
                <a:spcPts val="1300"/>
              </a:lnSpc>
              <a:buNone/>
            </a:pPr>
            <a:r>
              <a:rPr lang="en-US" sz="1000" dirty="0">
                <a:solidFill>
                  <a:srgbClr val="12283F"/>
                </a:solidFill>
                <a:latin typeface="Calibri" pitchFamily="34" charset="0"/>
                <a:ea typeface="Calibri" pitchFamily="34" charset="-122"/>
                <a:cs typeface="Calibri" pitchFamily="34" charset="-120"/>
              </a:rPr>
              <a:t>Every KPI and business question in this deck was answered directly against the cleaned_health_data table, one T-SQL script per dashboard (DASHBOARD1-4).</a:t>
            </a:r>
          </a:p>
        </p:txBody>
      </p:sp>
      <p:sp>
        <p:nvSpPr>
          <p:cNvPr id="10" name="Shape"/>
          <p:cNvSpPr/>
          <p:nvPr/>
        </p:nvSpPr>
        <p:spPr>
          <a:xfrm>
            <a:off x="728640" y="3300000"/>
            <a:ext cx="4747800" cy="1550000"/>
          </a:xfrm>
          <a:prstGeom prst="roundRect">
            <a:avLst>
              <a:gd name="adj" fmla="val 3000"/>
            </a:avLst>
          </a:prstGeom>
          <a:solidFill>
            <a:srgbClr val="1A2733"/>
          </a:solidFill>
          <a:ln>
            <a:noFill/>
          </a:ln>
        </p:spPr>
        <p:txBody>
          <a:bodyPr/>
          <a:lstStyle/>
          <a:p>
            <a:endParaRPr lang="en-US"/>
          </a:p>
        </p:txBody>
      </p:sp>
      <p:sp>
        <p:nvSpPr>
          <p:cNvPr id="11" name="Text"/>
          <p:cNvSpPr/>
          <p:nvPr/>
        </p:nvSpPr>
        <p:spPr>
          <a:xfrm>
            <a:off x="828640" y="3430000"/>
            <a:ext cx="4547800" cy="1300000"/>
          </a:xfrm>
          <a:prstGeom prst="rect">
            <a:avLst/>
          </a:prstGeom>
          <a:noFill/>
          <a:ln/>
        </p:spPr>
        <p:txBody>
          <a:bodyPr wrap="square" lIns="0" tIns="0" rIns="0" bIns="0" rtlCol="0" anchor="t"/>
          <a:lstStyle/>
          <a:p>
            <a:pPr marL="0" indent="0" algn="l">
              <a:spcAft>
                <a:spcPts val="250"/>
              </a:spcAft>
              <a:buNone/>
            </a:pPr>
            <a:r>
              <a:rPr lang="en-US" sz="950" dirty="0">
                <a:solidFill>
                  <a:srgbClr val="8FE3D3"/>
                </a:solidFill>
                <a:latin typeface="Consolas" pitchFamily="34" charset="0"/>
                <a:ea typeface="Consolas" pitchFamily="34" charset="-122"/>
                <a:cs typeface="Consolas" pitchFamily="34" charset="-120"/>
              </a:rPr>
              <a:t>-- KPI 1: Average Systolic Blood Pressure</a:t>
            </a:r>
          </a:p>
          <a:p>
            <a:pPr marL="0" indent="0" algn="l">
              <a:spcAft>
                <a:spcPts val="250"/>
              </a:spcAft>
              <a:buNone/>
            </a:pPr>
            <a:r>
              <a:rPr lang="en-US" sz="950" dirty="0">
                <a:solidFill>
                  <a:srgbClr val="FFFFFF"/>
                </a:solidFill>
                <a:latin typeface="Consolas" pitchFamily="34" charset="0"/>
                <a:ea typeface="Consolas" pitchFamily="34" charset="-122"/>
                <a:cs typeface="Consolas" pitchFamily="34" charset="-120"/>
              </a:rPr>
              <a:t>SELECT ROUND(AVG(Systolic_BP), 2)</a:t>
            </a:r>
          </a:p>
          <a:p>
            <a:pPr marL="0" indent="0" algn="l">
              <a:spcAft>
                <a:spcPts val="250"/>
              </a:spcAft>
              <a:buNone/>
            </a:pPr>
            <a:r>
              <a:rPr lang="en-US" sz="950" dirty="0">
                <a:solidFill>
                  <a:srgbClr val="FFFFFF"/>
                </a:solidFill>
                <a:latin typeface="Consolas" pitchFamily="34" charset="0"/>
                <a:ea typeface="Consolas" pitchFamily="34" charset="-122"/>
                <a:cs typeface="Consolas" pitchFamily="34" charset="-120"/>
              </a:rPr>
              <a:t>  AS Average_Systolic_BP</a:t>
            </a:r>
          </a:p>
          <a:p>
            <a:pPr marL="0" indent="0" algn="l">
              <a:spcAft>
                <a:spcPts val="250"/>
              </a:spcAft>
              <a:buNone/>
            </a:pPr>
            <a:r>
              <a:rPr lang="en-US" sz="950" dirty="0">
                <a:solidFill>
                  <a:srgbClr val="FFFFFF"/>
                </a:solidFill>
                <a:latin typeface="Consolas" pitchFamily="34" charset="0"/>
                <a:ea typeface="Consolas" pitchFamily="34" charset="-122"/>
                <a:cs typeface="Consolas" pitchFamily="34" charset="-120"/>
              </a:rPr>
              <a:t>FROM cleaned_health_data;</a:t>
            </a:r>
          </a:p>
        </p:txBody>
      </p:sp>
      <p:sp>
        <p:nvSpPr>
          <p:cNvPr id="12" name="Text"/>
          <p:cNvSpPr/>
          <p:nvPr/>
        </p:nvSpPr>
        <p:spPr>
          <a:xfrm>
            <a:off x="728640" y="4950000"/>
            <a:ext cx="4747800" cy="700000"/>
          </a:xfrm>
          <a:prstGeom prst="rect">
            <a:avLst/>
          </a:prstGeom>
          <a:noFill/>
          <a:ln/>
        </p:spPr>
        <p:txBody>
          <a:bodyPr wrap="square" lIns="0" tIns="0" rIns="0" bIns="0" rtlCol="0" anchor="t"/>
          <a:lstStyle/>
          <a:p>
            <a:pPr marL="0" indent="0" algn="l">
              <a:lnSpc>
                <a:spcPts val="1250"/>
              </a:lnSpc>
              <a:buNone/>
            </a:pPr>
            <a:r>
              <a:rPr lang="en-US" sz="950" i="1" dirty="0">
                <a:solidFill>
                  <a:srgbClr val="5B7284"/>
                </a:solidFill>
                <a:latin typeface="Calibri" pitchFamily="34" charset="0"/>
                <a:ea typeface="Calibri" pitchFamily="34" charset="-122"/>
                <a:cs typeface="Calibri" pitchFamily="34" charset="-120"/>
              </a:rPr>
              <a:t>The complete .sql files open directly in SQL Server Management Studio (no need to run) to show the full KPI + business-question set live.</a:t>
            </a:r>
          </a:p>
        </p:txBody>
      </p:sp>
      <p:sp>
        <p:nvSpPr>
          <p:cNvPr id="13" name="Shape"/>
          <p:cNvSpPr/>
          <p:nvPr/>
        </p:nvSpPr>
        <p:spPr>
          <a:xfrm>
            <a:off x="5956440" y="1950000"/>
            <a:ext cx="5107800" cy="4150000"/>
          </a:xfrm>
          <a:prstGeom prst="roundRect">
            <a:avLst>
              <a:gd name="adj" fmla="val 4000"/>
            </a:avLst>
          </a:prstGeom>
          <a:solidFill>
            <a:srgbClr val="EAF3F8"/>
          </a:solidFill>
          <a:ln w="12700">
            <a:solidFill>
              <a:srgbClr val="D7E4EC"/>
            </a:solidFill>
            <a:prstDash val="solid"/>
          </a:ln>
        </p:spPr>
        <p:txBody>
          <a:bodyPr/>
          <a:lstStyle/>
          <a:p>
            <a:endParaRPr lang="en-US"/>
          </a:p>
        </p:txBody>
      </p:sp>
      <p:sp>
        <p:nvSpPr>
          <p:cNvPr id="14" name="Shape"/>
          <p:cNvSpPr/>
          <p:nvPr/>
        </p:nvSpPr>
        <p:spPr>
          <a:xfrm>
            <a:off x="6136440" y="2130000"/>
            <a:ext cx="3108000" cy="300000"/>
          </a:xfrm>
          <a:prstGeom prst="roundRect">
            <a:avLst>
              <a:gd name="adj" fmla="val 50000"/>
            </a:avLst>
          </a:prstGeom>
          <a:solidFill>
            <a:srgbClr val="1C7293"/>
          </a:solidFill>
          <a:ln>
            <a:noFill/>
          </a:ln>
        </p:spPr>
        <p:txBody>
          <a:bodyPr/>
          <a:lstStyle/>
          <a:p>
            <a:endParaRPr lang="en-US"/>
          </a:p>
        </p:txBody>
      </p:sp>
      <p:sp>
        <p:nvSpPr>
          <p:cNvPr id="15" name="Text"/>
          <p:cNvSpPr/>
          <p:nvPr/>
        </p:nvSpPr>
        <p:spPr>
          <a:xfrm>
            <a:off x="6136440" y="2130000"/>
            <a:ext cx="3108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POWER BI DAX MEASURES</a:t>
            </a:r>
          </a:p>
        </p:txBody>
      </p:sp>
      <p:sp>
        <p:nvSpPr>
          <p:cNvPr id="16" name="Text"/>
          <p:cNvSpPr/>
          <p:nvPr/>
        </p:nvSpPr>
        <p:spPr>
          <a:xfrm>
            <a:off x="6136440" y="2510000"/>
            <a:ext cx="4747800" cy="620000"/>
          </a:xfrm>
          <a:prstGeom prst="rect">
            <a:avLst/>
          </a:prstGeom>
          <a:noFill/>
          <a:ln/>
        </p:spPr>
        <p:txBody>
          <a:bodyPr wrap="square" lIns="0" tIns="0" rIns="0" bIns="0" rtlCol="0" anchor="t"/>
          <a:lstStyle/>
          <a:p>
            <a:pPr marL="0" indent="0" algn="l">
              <a:lnSpc>
                <a:spcPts val="1300"/>
              </a:lnSpc>
              <a:buNone/>
            </a:pPr>
            <a:r>
              <a:rPr lang="en-US" sz="1000" dirty="0">
                <a:solidFill>
                  <a:srgbClr val="12283F"/>
                </a:solidFill>
                <a:latin typeface="Calibri" pitchFamily="34" charset="0"/>
                <a:ea typeface="Calibri" pitchFamily="34" charset="-122"/>
                <a:cs typeface="Calibri" pitchFamily="34" charset="-120"/>
              </a:rPr>
              <a:t>Every KPI card across the three Power BI dashboards is powered by its own DAX measure, kept separate in the Fields pane rather than computed inline.</a:t>
            </a:r>
          </a:p>
        </p:txBody>
      </p:sp>
      <p:sp>
        <p:nvSpPr>
          <p:cNvPr id="17" name="Text"/>
          <p:cNvSpPr/>
          <p:nvPr/>
        </p:nvSpPr>
        <p:spPr>
          <a:xfrm>
            <a:off x="6136440" y="3250000"/>
            <a:ext cx="4747800" cy="260000"/>
          </a:xfrm>
          <a:prstGeom prst="rect">
            <a:avLst/>
          </a:prstGeom>
          <a:noFill/>
          <a:ln/>
        </p:spPr>
        <p:txBody>
          <a:bodyPr wrap="square" lIns="0" tIns="0" rIns="0" bIns="0" rtlCol="0" anchor="t"/>
          <a:lstStyle/>
          <a:p>
            <a:pPr marL="0" indent="0" algn="l">
              <a:buNone/>
            </a:pPr>
            <a:r>
              <a:rPr lang="en-US" sz="1000" b="1" dirty="0">
                <a:solidFill>
                  <a:srgbClr val="1C7293"/>
                </a:solidFill>
                <a:latin typeface="Calibri" pitchFamily="34" charset="0"/>
                <a:ea typeface="Calibri" pitchFamily="34" charset="-122"/>
                <a:cs typeface="Calibri" pitchFamily="34" charset="-120"/>
              </a:rPr>
              <a:t>Blood Pressure</a:t>
            </a:r>
          </a:p>
        </p:txBody>
      </p:sp>
      <p:sp>
        <p:nvSpPr>
          <p:cNvPr id="18" name="Text"/>
          <p:cNvSpPr/>
          <p:nvPr/>
        </p:nvSpPr>
        <p:spPr>
          <a:xfrm>
            <a:off x="6136440" y="3510000"/>
            <a:ext cx="4747800" cy="560000"/>
          </a:xfrm>
          <a:prstGeom prst="rect">
            <a:avLst/>
          </a:prstGeom>
          <a:noFill/>
          <a:ln/>
        </p:spPr>
        <p:txBody>
          <a:bodyPr wrap="square" lIns="0" tIns="0" rIns="0" bIns="0" rtlCol="0" anchor="t"/>
          <a:lstStyle/>
          <a:p>
            <a:pPr marL="0" indent="0" algn="l">
              <a:lnSpc>
                <a:spcPts val="1200"/>
              </a:lnSpc>
              <a:buNone/>
            </a:pPr>
            <a:r>
              <a:rPr lang="en-US" sz="900" dirty="0">
                <a:solidFill>
                  <a:srgbClr val="5B7284"/>
                </a:solidFill>
                <a:latin typeface="Calibri" pitchFamily="34" charset="0"/>
                <a:ea typeface="Calibri" pitchFamily="34" charset="-122"/>
                <a:cs typeface="Calibri" pitchFamily="34" charset="-120"/>
              </a:rPr>
              <a:t>Average of Systolic_BP · Average of Diastolic_BP · Max of Systolic_BP · High_BP_Percentage</a:t>
            </a:r>
          </a:p>
        </p:txBody>
      </p:sp>
      <p:sp>
        <p:nvSpPr>
          <p:cNvPr id="19" name="Text"/>
          <p:cNvSpPr/>
          <p:nvPr/>
        </p:nvSpPr>
        <p:spPr>
          <a:xfrm>
            <a:off x="6136440" y="4150000"/>
            <a:ext cx="4747800" cy="260000"/>
          </a:xfrm>
          <a:prstGeom prst="rect">
            <a:avLst/>
          </a:prstGeom>
          <a:noFill/>
          <a:ln/>
        </p:spPr>
        <p:txBody>
          <a:bodyPr wrap="square" lIns="0" tIns="0" rIns="0" bIns="0" rtlCol="0" anchor="t"/>
          <a:lstStyle/>
          <a:p>
            <a:pPr marL="0" indent="0" algn="l">
              <a:buNone/>
            </a:pPr>
            <a:r>
              <a:rPr lang="en-US" sz="1000" b="1" dirty="0">
                <a:solidFill>
                  <a:srgbClr val="1C7293"/>
                </a:solidFill>
                <a:latin typeface="Calibri" pitchFamily="34" charset="0"/>
                <a:ea typeface="Calibri" pitchFamily="34" charset="-122"/>
                <a:cs typeface="Calibri" pitchFamily="34" charset="-120"/>
              </a:rPr>
              <a:t>Cholesterol</a:t>
            </a:r>
          </a:p>
        </p:txBody>
      </p:sp>
      <p:sp>
        <p:nvSpPr>
          <p:cNvPr id="20" name="Text"/>
          <p:cNvSpPr/>
          <p:nvPr/>
        </p:nvSpPr>
        <p:spPr>
          <a:xfrm>
            <a:off x="6136440" y="4410000"/>
            <a:ext cx="4747800" cy="560000"/>
          </a:xfrm>
          <a:prstGeom prst="rect">
            <a:avLst/>
          </a:prstGeom>
          <a:noFill/>
          <a:ln/>
        </p:spPr>
        <p:txBody>
          <a:bodyPr wrap="square" lIns="0" tIns="0" rIns="0" bIns="0" rtlCol="0" anchor="t"/>
          <a:lstStyle/>
          <a:p>
            <a:pPr marL="0" indent="0" algn="l">
              <a:lnSpc>
                <a:spcPts val="1200"/>
              </a:lnSpc>
              <a:buNone/>
            </a:pPr>
            <a:r>
              <a:rPr lang="en-US" sz="900" dirty="0">
                <a:solidFill>
                  <a:srgbClr val="5B7284"/>
                </a:solidFill>
                <a:latin typeface="Calibri" pitchFamily="34" charset="0"/>
                <a:ea typeface="Calibri" pitchFamily="34" charset="-122"/>
                <a:cs typeface="Calibri" pitchFamily="34" charset="-120"/>
              </a:rPr>
              <a:t>Average of Total_Cholesterol · Average of HDL_Cholesterol · Average of LDL_Cholesterol · High_LDL_Percentage</a:t>
            </a:r>
          </a:p>
        </p:txBody>
      </p:sp>
      <p:sp>
        <p:nvSpPr>
          <p:cNvPr id="21" name="Text"/>
          <p:cNvSpPr/>
          <p:nvPr/>
        </p:nvSpPr>
        <p:spPr>
          <a:xfrm>
            <a:off x="6136440" y="5050000"/>
            <a:ext cx="4747800" cy="260000"/>
          </a:xfrm>
          <a:prstGeom prst="rect">
            <a:avLst/>
          </a:prstGeom>
          <a:noFill/>
          <a:ln/>
        </p:spPr>
        <p:txBody>
          <a:bodyPr wrap="square" lIns="0" tIns="0" rIns="0" bIns="0" rtlCol="0" anchor="t"/>
          <a:lstStyle/>
          <a:p>
            <a:pPr marL="0" indent="0" algn="l">
              <a:buNone/>
            </a:pPr>
            <a:r>
              <a:rPr lang="en-US" sz="1000" b="1" dirty="0">
                <a:solidFill>
                  <a:srgbClr val="1C7293"/>
                </a:solidFill>
                <a:latin typeface="Calibri" pitchFamily="34" charset="0"/>
                <a:ea typeface="Calibri" pitchFamily="34" charset="-122"/>
                <a:cs typeface="Calibri" pitchFamily="34" charset="-120"/>
              </a:rPr>
              <a:t>Lifestyle</a:t>
            </a:r>
          </a:p>
        </p:txBody>
      </p:sp>
      <p:sp>
        <p:nvSpPr>
          <p:cNvPr id="22" name="Text"/>
          <p:cNvSpPr/>
          <p:nvPr/>
        </p:nvSpPr>
        <p:spPr>
          <a:xfrm>
            <a:off x="6136440" y="5310000"/>
            <a:ext cx="4747800" cy="560000"/>
          </a:xfrm>
          <a:prstGeom prst="rect">
            <a:avLst/>
          </a:prstGeom>
          <a:noFill/>
          <a:ln/>
        </p:spPr>
        <p:txBody>
          <a:bodyPr wrap="square" lIns="0" tIns="0" rIns="0" bIns="0" rtlCol="0" anchor="t"/>
          <a:lstStyle/>
          <a:p>
            <a:pPr marL="0" indent="0" algn="l">
              <a:lnSpc>
                <a:spcPts val="1200"/>
              </a:lnSpc>
              <a:buNone/>
            </a:pPr>
            <a:r>
              <a:rPr lang="en-US" sz="900" dirty="0">
                <a:solidFill>
                  <a:srgbClr val="5B7284"/>
                </a:solidFill>
                <a:latin typeface="Calibri" pitchFamily="34" charset="0"/>
                <a:ea typeface="Calibri" pitchFamily="34" charset="-122"/>
                <a:cs typeface="Calibri" pitchFamily="34" charset="-120"/>
              </a:rPr>
              <a:t>Smokers_Percentage · BMI_25_Plus_Percentage · Average of BMI</a:t>
            </a:r>
          </a:p>
        </p:txBody>
      </p:sp>
      <p:sp>
        <p:nvSpPr>
          <p:cNvPr id="23" name="Text"/>
          <p:cNvSpPr/>
          <p:nvPr/>
        </p:nvSpPr>
        <p:spPr>
          <a:xfrm>
            <a:off x="6136440" y="5600000"/>
            <a:ext cx="4747800" cy="400000"/>
          </a:xfrm>
          <a:prstGeom prst="rect">
            <a:avLst/>
          </a:prstGeom>
          <a:noFill/>
          <a:ln/>
        </p:spPr>
        <p:txBody>
          <a:bodyPr wrap="square" lIns="0" tIns="0" rIns="0" bIns="0" rtlCol="0" anchor="t"/>
          <a:lstStyle/>
          <a:p>
            <a:pPr marL="0" indent="0" algn="l">
              <a:lnSpc>
                <a:spcPts val="1150"/>
              </a:lnSpc>
              <a:buNone/>
            </a:pPr>
            <a:r>
              <a:rPr lang="en-US" sz="900" i="1" dirty="0">
                <a:solidFill>
                  <a:srgbClr val="5B7284"/>
                </a:solidFill>
                <a:latin typeface="Calibri" pitchFamily="34" charset="0"/>
                <a:ea typeface="Calibri" pitchFamily="34" charset="-122"/>
                <a:cs typeface="Calibri" pitchFamily="34" charset="-120"/>
              </a:rPr>
              <a:t>Measure names shown are the labels visible on each dashboard's KPI cards; formulas are opened live in the Measures pane.</a:t>
            </a:r>
          </a:p>
        </p:txBody>
      </p:sp>
      <p:sp>
        <p:nvSpPr>
          <p:cNvPr id="24"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SQL &amp; DAX</a:t>
            </a:r>
          </a:p>
        </p:txBody>
      </p:sp>
      <p:sp>
        <p:nvSpPr>
          <p:cNvPr id="25"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35 / 45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5285232"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5285232"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EXTENDED ANALYTICS LAYER</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Tableau &amp; Streamlit</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Two more lenses on the same population dataset — visual exploration and an interactive app.</a:t>
            </a:r>
          </a:p>
        </p:txBody>
      </p:sp>
      <p:sp>
        <p:nvSpPr>
          <p:cNvPr id="6" name="Shape"/>
          <p:cNvSpPr/>
          <p:nvPr/>
        </p:nvSpPr>
        <p:spPr>
          <a:xfrm>
            <a:off x="548640" y="1950000"/>
            <a:ext cx="5156000" cy="300000"/>
          </a:xfrm>
          <a:prstGeom prst="roundRect">
            <a:avLst>
              <a:gd name="adj" fmla="val 50000"/>
            </a:avLst>
          </a:prstGeom>
          <a:solidFill>
            <a:srgbClr val="E97627"/>
          </a:solidFill>
          <a:ln>
            <a:noFill/>
          </a:ln>
        </p:spPr>
        <p:txBody>
          <a:bodyPr/>
          <a:lstStyle/>
          <a:p>
            <a:endParaRPr lang="en-US"/>
          </a:p>
        </p:txBody>
      </p:sp>
      <p:sp>
        <p:nvSpPr>
          <p:cNvPr id="7" name="Text"/>
          <p:cNvSpPr/>
          <p:nvPr/>
        </p:nvSpPr>
        <p:spPr>
          <a:xfrm>
            <a:off x="548640" y="1950000"/>
            <a:ext cx="5156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TABLEAU — HEALTH &amp; LIFESTYLE OVERVIEW</a:t>
            </a:r>
          </a:p>
        </p:txBody>
      </p:sp>
      <p:pic>
        <p:nvPicPr>
          <p:cNvPr id="8" name="Tableau Dashboard"/>
          <p:cNvPicPr>
            <a:picLocks noChangeAspect="1"/>
          </p:cNvPicPr>
          <p:nvPr/>
        </p:nvPicPr>
        <p:blipFill>
          <a:blip r:embed="rId2"/>
          <a:stretch>
            <a:fillRect/>
          </a:stretch>
        </p:blipFill>
        <p:spPr>
          <a:xfrm>
            <a:off x="548640" y="2330000"/>
            <a:ext cx="5107800" cy="2624132"/>
          </a:xfrm>
          <a:prstGeom prst="rect">
            <a:avLst/>
          </a:prstGeom>
          <a:ln w="12700">
            <a:solidFill>
              <a:srgbClr val="D7E4EC"/>
            </a:solidFill>
          </a:ln>
        </p:spPr>
      </p:pic>
      <p:sp>
        <p:nvSpPr>
          <p:cNvPr id="9" name="Text"/>
          <p:cNvSpPr/>
          <p:nvPr/>
        </p:nvSpPr>
        <p:spPr>
          <a:xfrm>
            <a:off x="548640" y="5104132"/>
            <a:ext cx="5107800" cy="900000"/>
          </a:xfrm>
          <a:prstGeom prst="rect">
            <a:avLst/>
          </a:prstGeom>
          <a:noFill/>
          <a:ln/>
        </p:spPr>
        <p:txBody>
          <a:bodyPr wrap="square" lIns="0" tIns="0" rIns="0" bIns="0" rtlCol="0" anchor="t"/>
          <a:lstStyle/>
          <a:p>
            <a:pPr marL="0" indent="0" algn="l">
              <a:lnSpc>
                <a:spcPts val="1200"/>
              </a:lnSpc>
              <a:buNone/>
            </a:pPr>
            <a:r>
              <a:rPr lang="en-US" sz="900" dirty="0">
                <a:solidFill>
                  <a:srgbClr val="5B7284"/>
                </a:solidFill>
                <a:latin typeface="Calibri" pitchFamily="34" charset="0"/>
                <a:ea typeface="Calibri" pitchFamily="34" charset="-122"/>
                <a:cs typeface="Calibri" pitchFamily="34" charset="-120"/>
              </a:rPr>
              <a:t>Confirms the notebook exactly: 4,155 people · 1,235 smokers / 2,920 non-smokers (29.72%) · BMI mix 37.91% overweight + 27.87% obese = 65.78% — and gives a second, independent read on BP risk by age.</a:t>
            </a:r>
          </a:p>
        </p:txBody>
      </p:sp>
      <p:sp>
        <p:nvSpPr>
          <p:cNvPr id="10" name="Shape"/>
          <p:cNvSpPr/>
          <p:nvPr/>
        </p:nvSpPr>
        <p:spPr>
          <a:xfrm>
            <a:off x="5956440" y="1950000"/>
            <a:ext cx="5107800" cy="4200000"/>
          </a:xfrm>
          <a:prstGeom prst="roundRect">
            <a:avLst>
              <a:gd name="adj" fmla="val 4000"/>
            </a:avLst>
          </a:prstGeom>
          <a:solidFill>
            <a:srgbClr val="FFFFFF"/>
          </a:solidFill>
          <a:ln w="12700">
            <a:solidFill>
              <a:srgbClr val="D7E4EC"/>
            </a:solidFill>
            <a:prstDash val="solid"/>
          </a:ln>
        </p:spPr>
        <p:txBody>
          <a:bodyPr/>
          <a:lstStyle/>
          <a:p>
            <a:endParaRPr lang="en-US"/>
          </a:p>
        </p:txBody>
      </p:sp>
      <p:sp>
        <p:nvSpPr>
          <p:cNvPr id="11" name="Shape"/>
          <p:cNvSpPr/>
          <p:nvPr/>
        </p:nvSpPr>
        <p:spPr>
          <a:xfrm>
            <a:off x="6136440" y="2130000"/>
            <a:ext cx="2084000" cy="300000"/>
          </a:xfrm>
          <a:prstGeom prst="roundRect">
            <a:avLst>
              <a:gd name="adj" fmla="val 50000"/>
            </a:avLst>
          </a:prstGeom>
          <a:solidFill>
            <a:srgbClr val="FF4B4B"/>
          </a:solidFill>
          <a:ln>
            <a:noFill/>
          </a:ln>
        </p:spPr>
        <p:txBody>
          <a:bodyPr/>
          <a:lstStyle/>
          <a:p>
            <a:endParaRPr lang="en-US"/>
          </a:p>
        </p:txBody>
      </p:sp>
      <p:sp>
        <p:nvSpPr>
          <p:cNvPr id="12" name="Text"/>
          <p:cNvSpPr/>
          <p:nvPr/>
        </p:nvSpPr>
        <p:spPr>
          <a:xfrm>
            <a:off x="6136440" y="2130000"/>
            <a:ext cx="2084000" cy="300000"/>
          </a:xfrm>
          <a:prstGeom prst="rect">
            <a:avLst/>
          </a:prstGeom>
          <a:noFill/>
          <a:ln/>
        </p:spPr>
        <p:txBody>
          <a:bodyPr wrap="square" lIns="0" tIns="0" rIns="0" bIns="0" rtlCol="0" anchor="ctr"/>
          <a:lstStyle/>
          <a:p>
            <a:pPr marL="0" indent="0" algn="ctr">
              <a:buNone/>
            </a:pPr>
            <a:r>
              <a:rPr lang="en-US" sz="900" b="1" spc="40" dirty="0">
                <a:solidFill>
                  <a:srgbClr val="FFFFFF"/>
                </a:solidFill>
                <a:latin typeface="Calibri" pitchFamily="34" charset="0"/>
                <a:ea typeface="Calibri" pitchFamily="34" charset="-122"/>
                <a:cs typeface="Calibri" pitchFamily="34" charset="-120"/>
              </a:rPr>
              <a:t>STREAMLIT APP</a:t>
            </a:r>
          </a:p>
        </p:txBody>
      </p:sp>
      <p:sp>
        <p:nvSpPr>
          <p:cNvPr id="13" name="Text"/>
          <p:cNvSpPr/>
          <p:nvPr/>
        </p:nvSpPr>
        <p:spPr>
          <a:xfrm>
            <a:off x="6136440" y="2530000"/>
            <a:ext cx="4747800" cy="3420000"/>
          </a:xfrm>
          <a:prstGeom prst="rect">
            <a:avLst/>
          </a:prstGeom>
          <a:noFill/>
          <a:ln/>
        </p:spPr>
        <p:txBody>
          <a:bodyPr wrap="square" lIns="0" tIns="0" rIns="0" bIns="0" rtlCol="0" anchor="t"/>
          <a:lstStyle/>
          <a:p>
            <a:pPr marL="0" indent="0" algn="l">
              <a:spcAft>
                <a:spcPts val="150"/>
              </a:spcAft>
              <a:buNone/>
            </a:pPr>
            <a:r>
              <a:rPr lang="en-US" sz="1000" b="1" dirty="0">
                <a:solidFill>
                  <a:srgbClr val="12283F"/>
                </a:solidFill>
                <a:latin typeface="Calibri" pitchFamily="34" charset="0"/>
                <a:ea typeface="Calibri" pitchFamily="34" charset="-122"/>
                <a:cs typeface="Calibri" pitchFamily="34" charset="-120"/>
              </a:rPr>
              <a:t>5 pages, live at:</a:t>
            </a:r>
          </a:p>
          <a:p>
            <a:pPr marL="0" indent="0" algn="l">
              <a:spcAft>
                <a:spcPts val="450"/>
              </a:spcAft>
              <a:buNone/>
            </a:pPr>
            <a:r>
              <a:rPr lang="en-US" sz="950" b="1" dirty="0">
                <a:solidFill>
                  <a:srgbClr val="1C7293"/>
                </a:solidFill>
                <a:latin typeface="Calibri" pitchFamily="34" charset="0"/>
                <a:ea typeface="Calibri" pitchFamily="34" charset="-122"/>
                <a:cs typeface="Calibri" pitchFamily="34" charset="-120"/>
                <a:hlinkClick r:id="rId3"/>
              </a:rPr>
              <a:t>final-project-nti-efqn6ed7gmx68o3rxtczpj.streamlit.app</a:t>
            </a:r>
          </a:p>
          <a:p>
            <a:pPr marL="0" indent="0" algn="l">
              <a:spcAft>
                <a:spcPts val="280"/>
              </a:spcAft>
              <a:buNone/>
            </a:pPr>
            <a:r>
              <a:rPr lang="en-US" sz="950" b="1" dirty="0">
                <a:solidFill>
                  <a:srgbClr val="12283F"/>
                </a:solidFill>
                <a:latin typeface="Calibri" pitchFamily="34" charset="0"/>
                <a:ea typeface="Calibri" pitchFamily="34" charset="-122"/>
                <a:cs typeface="Calibri" pitchFamily="34" charset="-120"/>
              </a:rPr>
              <a:t>🏠 Overview — </a:t>
            </a:r>
            <a:r>
              <a:rPr lang="en-US" sz="950" dirty="0">
                <a:solidFill>
                  <a:srgbClr val="5B7284"/>
                </a:solidFill>
                <a:latin typeface="Calibri" pitchFamily="34" charset="0"/>
                <a:ea typeface="Calibri" pitchFamily="34" charset="-122"/>
                <a:cs typeface="Calibri" pitchFamily="34" charset="-120"/>
              </a:rPr>
              <a:t>headline KPIs + best-model callout</a:t>
            </a:r>
          </a:p>
          <a:p>
            <a:pPr marL="0" indent="0" algn="l">
              <a:spcAft>
                <a:spcPts val="280"/>
              </a:spcAft>
              <a:buNone/>
            </a:pPr>
            <a:r>
              <a:rPr lang="en-US" sz="950" b="1" dirty="0">
                <a:solidFill>
                  <a:srgbClr val="12283F"/>
                </a:solidFill>
                <a:latin typeface="Calibri" pitchFamily="34" charset="0"/>
                <a:ea typeface="Calibri" pitchFamily="34" charset="-122"/>
                <a:cs typeface="Calibri" pitchFamily="34" charset="-120"/>
              </a:rPr>
              <a:t>📊 Analytics Dashboard — </a:t>
            </a:r>
            <a:r>
              <a:rPr lang="en-US" sz="950" dirty="0">
                <a:solidFill>
                  <a:srgbClr val="5B7284"/>
                </a:solidFill>
                <a:latin typeface="Calibri" pitchFamily="34" charset="0"/>
                <a:ea typeface="Calibri" pitchFamily="34" charset="-122"/>
                <a:cs typeface="Calibri" pitchFamily="34" charset="-120"/>
              </a:rPr>
              <a:t>live filters, distributions, correlation heatmap, data explorer + CSV download</a:t>
            </a:r>
          </a:p>
          <a:p>
            <a:pPr marL="0" indent="0" algn="l">
              <a:spcAft>
                <a:spcPts val="280"/>
              </a:spcAft>
              <a:buNone/>
            </a:pPr>
            <a:r>
              <a:rPr lang="en-US" sz="950" b="1" dirty="0">
                <a:solidFill>
                  <a:srgbClr val="12283F"/>
                </a:solidFill>
                <a:latin typeface="Calibri" pitchFamily="34" charset="0"/>
                <a:ea typeface="Calibri" pitchFamily="34" charset="-122"/>
                <a:cs typeface="Calibri" pitchFamily="34" charset="-120"/>
              </a:rPr>
              <a:t>💡 Business Insights — </a:t>
            </a:r>
            <a:r>
              <a:rPr lang="en-US" sz="950" dirty="0">
                <a:solidFill>
                  <a:srgbClr val="5B7284"/>
                </a:solidFill>
                <a:latin typeface="Calibri" pitchFamily="34" charset="0"/>
                <a:ea typeface="Calibri" pitchFamily="34" charset="-122"/>
                <a:cs typeface="Calibri" pitchFamily="34" charset="-120"/>
              </a:rPr>
              <a:t>the 6 business questions, each with chart + answer + recommendation</a:t>
            </a:r>
          </a:p>
          <a:p>
            <a:pPr marL="0" indent="0" algn="l">
              <a:spcAft>
                <a:spcPts val="280"/>
              </a:spcAft>
              <a:buNone/>
            </a:pPr>
            <a:r>
              <a:rPr lang="en-US" sz="950" b="1" dirty="0">
                <a:solidFill>
                  <a:srgbClr val="12283F"/>
                </a:solidFill>
                <a:latin typeface="Calibri" pitchFamily="34" charset="0"/>
                <a:ea typeface="Calibri" pitchFamily="34" charset="-122"/>
                <a:cs typeface="Calibri" pitchFamily="34" charset="-120"/>
              </a:rPr>
              <a:t>🤖 Machine Learning — </a:t>
            </a:r>
            <a:r>
              <a:rPr lang="en-US" sz="950" dirty="0">
                <a:solidFill>
                  <a:srgbClr val="5B7284"/>
                </a:solidFill>
                <a:latin typeface="Calibri" pitchFamily="34" charset="0"/>
                <a:ea typeface="Calibri" pitchFamily="34" charset="-122"/>
                <a:cs typeface="Calibri" pitchFamily="34" charset="-120"/>
              </a:rPr>
              <a:t>model comparison table, best-model callout, feature importance</a:t>
            </a:r>
          </a:p>
          <a:p>
            <a:pPr marL="0" indent="0" algn="l">
              <a:spcAft>
                <a:spcPts val="350"/>
              </a:spcAft>
              <a:buNone/>
            </a:pPr>
            <a:r>
              <a:rPr lang="en-US" sz="950" b="1" dirty="0">
                <a:solidFill>
                  <a:srgbClr val="12283F"/>
                </a:solidFill>
                <a:latin typeface="Calibri" pitchFamily="34" charset="0"/>
                <a:ea typeface="Calibri" pitchFamily="34" charset="-122"/>
                <a:cs typeface="Calibri" pitchFamily="34" charset="-120"/>
              </a:rPr>
              <a:t>ℹ️ About — </a:t>
            </a:r>
            <a:r>
              <a:rPr lang="en-US" sz="950" dirty="0">
                <a:solidFill>
                  <a:srgbClr val="5B7284"/>
                </a:solidFill>
                <a:latin typeface="Calibri" pitchFamily="34" charset="0"/>
                <a:ea typeface="Calibri" pitchFamily="34" charset="-122"/>
                <a:cs typeface="Calibri" pitchFamily="34" charset="-120"/>
              </a:rPr>
              <a:t>project narrative, dataset summary, methodology, tech stack</a:t>
            </a:r>
          </a:p>
          <a:p>
            <a:pPr marL="0" indent="0" algn="l">
              <a:buNone/>
            </a:pPr>
            <a:r>
              <a:rPr lang="en-US" sz="900" dirty="0">
                <a:solidFill>
                  <a:srgbClr val="5B7284"/>
                </a:solidFill>
                <a:latin typeface="Calibri" pitchFamily="34" charset="0"/>
                <a:ea typeface="Calibri" pitchFamily="34" charset="-122"/>
                <a:cs typeface="Calibri" pitchFamily="34" charset="-120"/>
              </a:rPr>
              <a:t>Every number traces back to notebook_results.py or a live-uploaded CSV — nothing is invented.</a:t>
            </a:r>
          </a:p>
        </p:txBody>
      </p:sp>
      <p:sp>
        <p:nvSpPr>
          <p:cNvPr id="14"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Tableau &amp; Streamlit</a:t>
            </a:r>
          </a:p>
        </p:txBody>
      </p:sp>
      <p:sp>
        <p:nvSpPr>
          <p:cNvPr id="15"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36 / 45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4480560"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4480560"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ANALYTICS DASHBOARDS</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Who Is Each Tool For?</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Four lenses on one population, each suited to a different audience and use case.</a:t>
            </a:r>
          </a:p>
        </p:txBody>
      </p:sp>
      <p:sp>
        <p:nvSpPr>
          <p:cNvPr id="6" name="Shape"/>
          <p:cNvSpPr/>
          <p:nvPr/>
        </p:nvSpPr>
        <p:spPr>
          <a:xfrm>
            <a:off x="548640" y="2000000"/>
            <a:ext cx="10515600" cy="500000"/>
          </a:xfrm>
          <a:prstGeom prst="roundRect">
            <a:avLst>
              <a:gd name="adj" fmla="val 3000"/>
            </a:avLst>
          </a:prstGeom>
          <a:solidFill>
            <a:srgbClr val="12283F"/>
          </a:solidFill>
          <a:ln>
            <a:noFill/>
          </a:ln>
        </p:spPr>
        <p:txBody>
          <a:bodyPr/>
          <a:lstStyle/>
          <a:p>
            <a:endParaRPr lang="en-US"/>
          </a:p>
        </p:txBody>
      </p:sp>
      <p:sp>
        <p:nvSpPr>
          <p:cNvPr id="7" name="Text"/>
          <p:cNvSpPr/>
          <p:nvPr/>
        </p:nvSpPr>
        <p:spPr>
          <a:xfrm>
            <a:off x="698640" y="2000000"/>
            <a:ext cx="1750000" cy="500000"/>
          </a:xfrm>
          <a:prstGeom prst="rect">
            <a:avLst/>
          </a:prstGeom>
          <a:noFill/>
          <a:ln/>
        </p:spPr>
        <p:txBody>
          <a:bodyPr wrap="square" lIns="0" tIns="0" rIns="0" bIns="0" rtlCol="0" anchor="ctr"/>
          <a:lstStyle/>
          <a:p>
            <a:pPr marL="0" indent="0" algn="l">
              <a:buNone/>
            </a:pPr>
            <a:r>
              <a:rPr lang="en-US" sz="1000" b="1" spc="60" dirty="0">
                <a:solidFill>
                  <a:srgbClr val="FFFFFF"/>
                </a:solidFill>
                <a:latin typeface="Calibri" pitchFamily="34" charset="0"/>
                <a:ea typeface="Calibri" pitchFamily="34" charset="-122"/>
                <a:cs typeface="Calibri" pitchFamily="34" charset="-120"/>
              </a:rPr>
              <a:t>TOOL</a:t>
            </a:r>
          </a:p>
        </p:txBody>
      </p:sp>
      <p:sp>
        <p:nvSpPr>
          <p:cNvPr id="8" name="Text"/>
          <p:cNvSpPr/>
          <p:nvPr/>
        </p:nvSpPr>
        <p:spPr>
          <a:xfrm>
            <a:off x="2548640" y="2000000"/>
            <a:ext cx="3800000" cy="500000"/>
          </a:xfrm>
          <a:prstGeom prst="rect">
            <a:avLst/>
          </a:prstGeom>
          <a:noFill/>
          <a:ln/>
        </p:spPr>
        <p:txBody>
          <a:bodyPr wrap="square" lIns="0" tIns="0" rIns="0" bIns="0" rtlCol="0" anchor="ctr"/>
          <a:lstStyle/>
          <a:p>
            <a:pPr marL="0" indent="0" algn="l">
              <a:buNone/>
            </a:pPr>
            <a:r>
              <a:rPr lang="en-US" sz="1000" b="1" spc="60" dirty="0">
                <a:solidFill>
                  <a:srgbClr val="FFFFFF"/>
                </a:solidFill>
                <a:latin typeface="Calibri" pitchFamily="34" charset="0"/>
                <a:ea typeface="Calibri" pitchFamily="34" charset="-122"/>
                <a:cs typeface="Calibri" pitchFamily="34" charset="-120"/>
              </a:rPr>
              <a:t>TARGET AUDIENCE</a:t>
            </a:r>
          </a:p>
        </p:txBody>
      </p:sp>
      <p:sp>
        <p:nvSpPr>
          <p:cNvPr id="9" name="Text"/>
          <p:cNvSpPr/>
          <p:nvPr/>
        </p:nvSpPr>
        <p:spPr>
          <a:xfrm>
            <a:off x="6448640" y="2000000"/>
            <a:ext cx="4515600" cy="500000"/>
          </a:xfrm>
          <a:prstGeom prst="rect">
            <a:avLst/>
          </a:prstGeom>
          <a:noFill/>
          <a:ln/>
        </p:spPr>
        <p:txBody>
          <a:bodyPr wrap="square" lIns="0" tIns="0" rIns="0" bIns="0" rtlCol="0" anchor="ctr"/>
          <a:lstStyle/>
          <a:p>
            <a:pPr marL="0" indent="0" algn="l">
              <a:buNone/>
            </a:pPr>
            <a:r>
              <a:rPr lang="en-US" sz="1000" b="1" spc="60" dirty="0">
                <a:solidFill>
                  <a:srgbClr val="FFFFFF"/>
                </a:solidFill>
                <a:latin typeface="Calibri" pitchFamily="34" charset="0"/>
                <a:ea typeface="Calibri" pitchFamily="34" charset="-122"/>
                <a:cs typeface="Calibri" pitchFamily="34" charset="-120"/>
              </a:rPr>
              <a:t>PURPOSE</a:t>
            </a:r>
          </a:p>
        </p:txBody>
      </p:sp>
      <p:sp>
        <p:nvSpPr>
          <p:cNvPr id="10" name="Shape"/>
          <p:cNvSpPr/>
          <p:nvPr/>
        </p:nvSpPr>
        <p:spPr>
          <a:xfrm>
            <a:off x="548640" y="2500000"/>
            <a:ext cx="10515600" cy="850000"/>
          </a:xfrm>
          <a:prstGeom prst="rect">
            <a:avLst/>
          </a:prstGeom>
          <a:solidFill>
            <a:srgbClr val="EAF3F8"/>
          </a:solidFill>
          <a:ln w="6350">
            <a:solidFill>
              <a:srgbClr val="D7E4EC"/>
            </a:solidFill>
            <a:prstDash val="solid"/>
          </a:ln>
        </p:spPr>
        <p:txBody>
          <a:bodyPr/>
          <a:lstStyle/>
          <a:p>
            <a:endParaRPr lang="en-US"/>
          </a:p>
        </p:txBody>
      </p:sp>
      <p:sp>
        <p:nvSpPr>
          <p:cNvPr id="11" name="Text"/>
          <p:cNvSpPr/>
          <p:nvPr/>
        </p:nvSpPr>
        <p:spPr>
          <a:xfrm>
            <a:off x="698640" y="2500000"/>
            <a:ext cx="1750000" cy="85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Excel</a:t>
            </a:r>
          </a:p>
        </p:txBody>
      </p:sp>
      <p:sp>
        <p:nvSpPr>
          <p:cNvPr id="12" name="Text"/>
          <p:cNvSpPr/>
          <p:nvPr/>
        </p:nvSpPr>
        <p:spPr>
          <a:xfrm>
            <a:off x="2548640" y="2500000"/>
            <a:ext cx="3800000" cy="85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Analysts / Health Program Managers</a:t>
            </a:r>
          </a:p>
        </p:txBody>
      </p:sp>
      <p:sp>
        <p:nvSpPr>
          <p:cNvPr id="13" name="Text"/>
          <p:cNvSpPr/>
          <p:nvPr/>
        </p:nvSpPr>
        <p:spPr>
          <a:xfrm>
            <a:off x="6448640" y="2500000"/>
            <a:ext cx="4515600" cy="850000"/>
          </a:xfrm>
          <a:prstGeom prst="rect">
            <a:avLst/>
          </a:prstGeom>
          <a:noFill/>
          <a:ln/>
        </p:spPr>
        <p:txBody>
          <a:bodyPr wrap="square" lIns="0" tIns="0" rIns="0" bIns="0" rtlCol="0" anchor="ctr"/>
          <a:lstStyle/>
          <a:p>
            <a:pPr marL="0" indent="0" algn="l">
              <a:lnSpc>
                <a:spcPts val="1200"/>
              </a:lnSpc>
              <a:buNone/>
            </a:pPr>
            <a:r>
              <a:rPr lang="en-US" sz="1000" dirty="0">
                <a:solidFill>
                  <a:srgbClr val="5B7284"/>
                </a:solidFill>
                <a:latin typeface="Calibri" pitchFamily="34" charset="0"/>
                <a:ea typeface="Calibri" pitchFamily="34" charset="-122"/>
                <a:cs typeface="Calibri" pitchFamily="34" charset="-120"/>
              </a:rPr>
              <a:t>Quick, filterable health overview and pivot-based reporting</a:t>
            </a:r>
          </a:p>
        </p:txBody>
      </p:sp>
      <p:sp>
        <p:nvSpPr>
          <p:cNvPr id="14" name="Shape"/>
          <p:cNvSpPr/>
          <p:nvPr/>
        </p:nvSpPr>
        <p:spPr>
          <a:xfrm>
            <a:off x="548640" y="3350000"/>
            <a:ext cx="10515600" cy="850000"/>
          </a:xfrm>
          <a:prstGeom prst="rect">
            <a:avLst/>
          </a:prstGeom>
          <a:solidFill>
            <a:srgbClr val="FFFFFF"/>
          </a:solidFill>
          <a:ln w="6350">
            <a:solidFill>
              <a:srgbClr val="D7E4EC"/>
            </a:solidFill>
            <a:prstDash val="solid"/>
          </a:ln>
        </p:spPr>
        <p:txBody>
          <a:bodyPr/>
          <a:lstStyle/>
          <a:p>
            <a:endParaRPr lang="en-US"/>
          </a:p>
        </p:txBody>
      </p:sp>
      <p:sp>
        <p:nvSpPr>
          <p:cNvPr id="15" name="Text"/>
          <p:cNvSpPr/>
          <p:nvPr/>
        </p:nvSpPr>
        <p:spPr>
          <a:xfrm>
            <a:off x="698640" y="3350000"/>
            <a:ext cx="1750000" cy="85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Power BI</a:t>
            </a:r>
          </a:p>
        </p:txBody>
      </p:sp>
      <p:sp>
        <p:nvSpPr>
          <p:cNvPr id="16" name="Text"/>
          <p:cNvSpPr/>
          <p:nvPr/>
        </p:nvSpPr>
        <p:spPr>
          <a:xfrm>
            <a:off x="2548640" y="3350000"/>
            <a:ext cx="3800000" cy="85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BI teams / Clinical decision-makers</a:t>
            </a:r>
          </a:p>
        </p:txBody>
      </p:sp>
      <p:sp>
        <p:nvSpPr>
          <p:cNvPr id="17" name="Text"/>
          <p:cNvSpPr/>
          <p:nvPr/>
        </p:nvSpPr>
        <p:spPr>
          <a:xfrm>
            <a:off x="6448640" y="3350000"/>
            <a:ext cx="4515600" cy="850000"/>
          </a:xfrm>
          <a:prstGeom prst="rect">
            <a:avLst/>
          </a:prstGeom>
          <a:noFill/>
          <a:ln/>
        </p:spPr>
        <p:txBody>
          <a:bodyPr wrap="square" lIns="0" tIns="0" rIns="0" bIns="0" rtlCol="0" anchor="ctr"/>
          <a:lstStyle/>
          <a:p>
            <a:pPr marL="0" indent="0" algn="l">
              <a:lnSpc>
                <a:spcPts val="1200"/>
              </a:lnSpc>
              <a:buNone/>
            </a:pPr>
            <a:r>
              <a:rPr lang="en-US" sz="1000" dirty="0">
                <a:solidFill>
                  <a:srgbClr val="5B7284"/>
                </a:solidFill>
                <a:latin typeface="Calibri" pitchFamily="34" charset="0"/>
                <a:ea typeface="Calibri" pitchFamily="34" charset="-122"/>
                <a:cs typeface="Calibri" pitchFamily="34" charset="-120"/>
              </a:rPr>
              <a:t>KPI monitoring and interactive drill-down across 3 dashboards</a:t>
            </a:r>
          </a:p>
        </p:txBody>
      </p:sp>
      <p:sp>
        <p:nvSpPr>
          <p:cNvPr id="18" name="Shape"/>
          <p:cNvSpPr/>
          <p:nvPr/>
        </p:nvSpPr>
        <p:spPr>
          <a:xfrm>
            <a:off x="548640" y="4200000"/>
            <a:ext cx="10515600" cy="850000"/>
          </a:xfrm>
          <a:prstGeom prst="rect">
            <a:avLst/>
          </a:prstGeom>
          <a:solidFill>
            <a:srgbClr val="EAF3F8"/>
          </a:solidFill>
          <a:ln w="6350">
            <a:solidFill>
              <a:srgbClr val="D7E4EC"/>
            </a:solidFill>
            <a:prstDash val="solid"/>
          </a:ln>
        </p:spPr>
        <p:txBody>
          <a:bodyPr/>
          <a:lstStyle/>
          <a:p>
            <a:endParaRPr lang="en-US"/>
          </a:p>
        </p:txBody>
      </p:sp>
      <p:sp>
        <p:nvSpPr>
          <p:cNvPr id="19" name="Text"/>
          <p:cNvSpPr/>
          <p:nvPr/>
        </p:nvSpPr>
        <p:spPr>
          <a:xfrm>
            <a:off x="698640" y="4200000"/>
            <a:ext cx="1750000" cy="85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Tableau</a:t>
            </a:r>
          </a:p>
        </p:txBody>
      </p:sp>
      <p:sp>
        <p:nvSpPr>
          <p:cNvPr id="20" name="Text"/>
          <p:cNvSpPr/>
          <p:nvPr/>
        </p:nvSpPr>
        <p:spPr>
          <a:xfrm>
            <a:off x="2548640" y="4200000"/>
            <a:ext cx="3800000" cy="85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Analysts / Decision-makers</a:t>
            </a:r>
          </a:p>
        </p:txBody>
      </p:sp>
      <p:sp>
        <p:nvSpPr>
          <p:cNvPr id="21" name="Text"/>
          <p:cNvSpPr/>
          <p:nvPr/>
        </p:nvSpPr>
        <p:spPr>
          <a:xfrm>
            <a:off x="6448640" y="4200000"/>
            <a:ext cx="4515600" cy="850000"/>
          </a:xfrm>
          <a:prstGeom prst="rect">
            <a:avLst/>
          </a:prstGeom>
          <a:noFill/>
          <a:ln/>
        </p:spPr>
        <p:txBody>
          <a:bodyPr wrap="square" lIns="0" tIns="0" rIns="0" bIns="0" rtlCol="0" anchor="ctr"/>
          <a:lstStyle/>
          <a:p>
            <a:pPr marL="0" indent="0" algn="l">
              <a:lnSpc>
                <a:spcPts val="1200"/>
              </a:lnSpc>
              <a:buNone/>
            </a:pPr>
            <a:r>
              <a:rPr lang="en-US" sz="1000" dirty="0">
                <a:solidFill>
                  <a:srgbClr val="5B7284"/>
                </a:solidFill>
                <a:latin typeface="Calibri" pitchFamily="34" charset="0"/>
                <a:ea typeface="Calibri" pitchFamily="34" charset="-122"/>
                <a:cs typeface="Calibri" pitchFamily="34" charset="-120"/>
              </a:rPr>
              <a:t>Visual, exploration-first analysis of the same indicators</a:t>
            </a:r>
          </a:p>
        </p:txBody>
      </p:sp>
      <p:sp>
        <p:nvSpPr>
          <p:cNvPr id="22" name="Shape"/>
          <p:cNvSpPr/>
          <p:nvPr/>
        </p:nvSpPr>
        <p:spPr>
          <a:xfrm>
            <a:off x="548640" y="5050000"/>
            <a:ext cx="10515600" cy="850000"/>
          </a:xfrm>
          <a:prstGeom prst="rect">
            <a:avLst/>
          </a:prstGeom>
          <a:solidFill>
            <a:srgbClr val="FFFFFF"/>
          </a:solidFill>
          <a:ln w="6350">
            <a:solidFill>
              <a:srgbClr val="D7E4EC"/>
            </a:solidFill>
            <a:prstDash val="solid"/>
          </a:ln>
        </p:spPr>
        <p:txBody>
          <a:bodyPr/>
          <a:lstStyle/>
          <a:p>
            <a:endParaRPr lang="en-US"/>
          </a:p>
        </p:txBody>
      </p:sp>
      <p:sp>
        <p:nvSpPr>
          <p:cNvPr id="23" name="Text"/>
          <p:cNvSpPr/>
          <p:nvPr/>
        </p:nvSpPr>
        <p:spPr>
          <a:xfrm>
            <a:off x="698640" y="5050000"/>
            <a:ext cx="1750000" cy="85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Streamlit</a:t>
            </a:r>
          </a:p>
        </p:txBody>
      </p:sp>
      <p:sp>
        <p:nvSpPr>
          <p:cNvPr id="24" name="Text"/>
          <p:cNvSpPr/>
          <p:nvPr/>
        </p:nvSpPr>
        <p:spPr>
          <a:xfrm>
            <a:off x="2548640" y="5050000"/>
            <a:ext cx="3800000" cy="85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End users / Reviewers</a:t>
            </a:r>
          </a:p>
        </p:txBody>
      </p:sp>
      <p:sp>
        <p:nvSpPr>
          <p:cNvPr id="25" name="Text"/>
          <p:cNvSpPr/>
          <p:nvPr/>
        </p:nvSpPr>
        <p:spPr>
          <a:xfrm>
            <a:off x="6448640" y="5050000"/>
            <a:ext cx="4515600" cy="850000"/>
          </a:xfrm>
          <a:prstGeom prst="rect">
            <a:avLst/>
          </a:prstGeom>
          <a:noFill/>
          <a:ln/>
        </p:spPr>
        <p:txBody>
          <a:bodyPr wrap="square" lIns="0" tIns="0" rIns="0" bIns="0" rtlCol="0" anchor="ctr"/>
          <a:lstStyle/>
          <a:p>
            <a:pPr marL="0" indent="0" algn="l">
              <a:lnSpc>
                <a:spcPts val="1200"/>
              </a:lnSpc>
              <a:buNone/>
            </a:pPr>
            <a:r>
              <a:rPr lang="en-US" sz="1000" dirty="0">
                <a:solidFill>
                  <a:srgbClr val="5B7284"/>
                </a:solidFill>
                <a:latin typeface="Calibri" pitchFamily="34" charset="0"/>
                <a:ea typeface="Calibri" pitchFamily="34" charset="-122"/>
                <a:cs typeface="Calibri" pitchFamily="34" charset="-120"/>
              </a:rPr>
              <a:t>No-install, browser-based access to the analysis</a:t>
            </a:r>
          </a:p>
        </p:txBody>
      </p:sp>
      <p:sp>
        <p:nvSpPr>
          <p:cNvPr id="26" name="Text"/>
          <p:cNvSpPr/>
          <p:nvPr/>
        </p:nvSpPr>
        <p:spPr>
          <a:xfrm>
            <a:off x="548640" y="6100000"/>
            <a:ext cx="10515600" cy="500000"/>
          </a:xfrm>
          <a:prstGeom prst="rect">
            <a:avLst/>
          </a:prstGeom>
          <a:noFill/>
          <a:ln/>
        </p:spPr>
        <p:txBody>
          <a:bodyPr wrap="square" lIns="0" tIns="0" rIns="0" bIns="0" rtlCol="0" anchor="t"/>
          <a:lstStyle/>
          <a:p>
            <a:pPr marL="0" indent="0" algn="l">
              <a:lnSpc>
                <a:spcPts val="1250"/>
              </a:lnSpc>
              <a:buNone/>
            </a:pPr>
            <a:r>
              <a:rPr lang="en-US" sz="1000" i="1" dirty="0">
                <a:solidFill>
                  <a:srgbClr val="5B7284"/>
                </a:solidFill>
                <a:latin typeface="Calibri" pitchFamily="34" charset="0"/>
                <a:ea typeface="Calibri" pitchFamily="34" charset="-122"/>
                <a:cs typeface="Calibri" pitchFamily="34" charset="-120"/>
              </a:rPr>
              <a:t>Each dashboard was scoped to the questions its audience actually asks — executives get a summary, analysts get drill-down, and end users get a browser-based app.</a:t>
            </a:r>
          </a:p>
        </p:txBody>
      </p:sp>
      <p:sp>
        <p:nvSpPr>
          <p:cNvPr id="27"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Dashboard Audience</a:t>
            </a:r>
          </a:p>
        </p:txBody>
      </p:sp>
      <p:sp>
        <p:nvSpPr>
          <p:cNvPr id="28"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37 / 45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287121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287121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KEY FINDINGS</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What the Data Actually Tells Us</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Six evidence-based patterns, corrected and confirmed against the executed notebook.</a:t>
            </a:r>
          </a:p>
        </p:txBody>
      </p:sp>
      <p:sp>
        <p:nvSpPr>
          <p:cNvPr id="6" name="Shape"/>
          <p:cNvSpPr/>
          <p:nvPr/>
        </p:nvSpPr>
        <p:spPr>
          <a:xfrm>
            <a:off x="548640" y="1980000"/>
            <a:ext cx="5107800" cy="133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7" name="Oval"/>
          <p:cNvSpPr/>
          <p:nvPr/>
        </p:nvSpPr>
        <p:spPr>
          <a:xfrm>
            <a:off x="728640" y="2140000"/>
            <a:ext cx="320000" cy="320000"/>
          </a:xfrm>
          <a:prstGeom prst="ellipse">
            <a:avLst/>
          </a:prstGeom>
          <a:solidFill>
            <a:srgbClr val="22C3A6"/>
          </a:solidFill>
          <a:ln>
            <a:noFill/>
          </a:ln>
        </p:spPr>
        <p:txBody>
          <a:bodyPr/>
          <a:lstStyle/>
          <a:p>
            <a:endParaRPr lang="en-US"/>
          </a:p>
        </p:txBody>
      </p:sp>
      <p:sp>
        <p:nvSpPr>
          <p:cNvPr id="8" name="Text"/>
          <p:cNvSpPr/>
          <p:nvPr/>
        </p:nvSpPr>
        <p:spPr>
          <a:xfrm>
            <a:off x="728640" y="2140000"/>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p>
        </p:txBody>
      </p:sp>
      <p:sp>
        <p:nvSpPr>
          <p:cNvPr id="9" name="Text"/>
          <p:cNvSpPr/>
          <p:nvPr/>
        </p:nvSpPr>
        <p:spPr>
          <a:xfrm>
            <a:off x="1168640" y="2120000"/>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Overweight/obesity affects two-thirds of the population</a:t>
            </a:r>
          </a:p>
        </p:txBody>
      </p:sp>
      <p:sp>
        <p:nvSpPr>
          <p:cNvPr id="10" name="Text"/>
          <p:cNvSpPr/>
          <p:nvPr/>
        </p:nvSpPr>
        <p:spPr>
          <a:xfrm>
            <a:off x="728640" y="2540000"/>
            <a:ext cx="4747800" cy="713333"/>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65.78% of the population has BMI ≥ 25 (37.91% overweight + 27.87% obese); average BMI is 27.03 — above the healthy range.</a:t>
            </a:r>
          </a:p>
        </p:txBody>
      </p:sp>
      <p:sp>
        <p:nvSpPr>
          <p:cNvPr id="11" name="Shape"/>
          <p:cNvSpPr/>
          <p:nvPr/>
        </p:nvSpPr>
        <p:spPr>
          <a:xfrm>
            <a:off x="548640" y="3473333"/>
            <a:ext cx="5107800" cy="133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12" name="Oval"/>
          <p:cNvSpPr/>
          <p:nvPr/>
        </p:nvSpPr>
        <p:spPr>
          <a:xfrm>
            <a:off x="728640" y="3633333"/>
            <a:ext cx="320000" cy="320000"/>
          </a:xfrm>
          <a:prstGeom prst="ellipse">
            <a:avLst/>
          </a:prstGeom>
          <a:solidFill>
            <a:srgbClr val="22C3A6"/>
          </a:solidFill>
          <a:ln>
            <a:noFill/>
          </a:ln>
        </p:spPr>
        <p:txBody>
          <a:bodyPr/>
          <a:lstStyle/>
          <a:p>
            <a:endParaRPr lang="en-US"/>
          </a:p>
        </p:txBody>
      </p:sp>
      <p:sp>
        <p:nvSpPr>
          <p:cNvPr id="13" name="Text"/>
          <p:cNvSpPr/>
          <p:nvPr/>
        </p:nvSpPr>
        <p:spPr>
          <a:xfrm>
            <a:off x="728640" y="3633333"/>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p>
        </p:txBody>
      </p:sp>
      <p:sp>
        <p:nvSpPr>
          <p:cNvPr id="14" name="Text"/>
          <p:cNvSpPr/>
          <p:nvPr/>
        </p:nvSpPr>
        <p:spPr>
          <a:xfrm>
            <a:off x="1168640" y="3613333"/>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Smoking status is NOT a strong risk differentiator here</a:t>
            </a:r>
          </a:p>
        </p:txBody>
      </p:sp>
      <p:sp>
        <p:nvSpPr>
          <p:cNvPr id="15" name="Text"/>
          <p:cNvSpPr/>
          <p:nvPr/>
        </p:nvSpPr>
        <p:spPr>
          <a:xfrm>
            <a:off x="728640" y="4033333"/>
            <a:ext cx="4747800" cy="713333"/>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Smokers and non-smokers show nearly identical avg. BMI (26.94 vs 27.06) and elevated-BP-risk rates (58.4% vs 60.4%) — smoking alone doesn't flag this population's BP or weight risk.</a:t>
            </a:r>
          </a:p>
        </p:txBody>
      </p:sp>
      <p:sp>
        <p:nvSpPr>
          <p:cNvPr id="16" name="Shape"/>
          <p:cNvSpPr/>
          <p:nvPr/>
        </p:nvSpPr>
        <p:spPr>
          <a:xfrm>
            <a:off x="548640" y="4966666"/>
            <a:ext cx="5107800" cy="133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17" name="Oval"/>
          <p:cNvSpPr/>
          <p:nvPr/>
        </p:nvSpPr>
        <p:spPr>
          <a:xfrm>
            <a:off x="728640" y="5126666"/>
            <a:ext cx="320000" cy="320000"/>
          </a:xfrm>
          <a:prstGeom prst="ellipse">
            <a:avLst/>
          </a:prstGeom>
          <a:solidFill>
            <a:srgbClr val="22C3A6"/>
          </a:solidFill>
          <a:ln>
            <a:noFill/>
          </a:ln>
        </p:spPr>
        <p:txBody>
          <a:bodyPr/>
          <a:lstStyle/>
          <a:p>
            <a:endParaRPr lang="en-US"/>
          </a:p>
        </p:txBody>
      </p:sp>
      <p:sp>
        <p:nvSpPr>
          <p:cNvPr id="18" name="Text"/>
          <p:cNvSpPr/>
          <p:nvPr/>
        </p:nvSpPr>
        <p:spPr>
          <a:xfrm>
            <a:off x="728640" y="5126666"/>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p>
        </p:txBody>
      </p:sp>
      <p:sp>
        <p:nvSpPr>
          <p:cNvPr id="19" name="Text"/>
          <p:cNvSpPr/>
          <p:nvPr/>
        </p:nvSpPr>
        <p:spPr>
          <a:xfrm>
            <a:off x="1168640" y="5106666"/>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BMI is the sharpest gradient for blood-pressure risk</a:t>
            </a:r>
          </a:p>
        </p:txBody>
      </p:sp>
      <p:sp>
        <p:nvSpPr>
          <p:cNvPr id="20" name="Text"/>
          <p:cNvSpPr/>
          <p:nvPr/>
        </p:nvSpPr>
        <p:spPr>
          <a:xfrm>
            <a:off x="728640" y="5526666"/>
            <a:ext cx="4747800" cy="713333"/>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Elevated BP risk rises steadily from 33.9% (Underweight) to 72.5% (Obese) — a 38-point spread, far larger than any smoking-based split.</a:t>
            </a:r>
          </a:p>
        </p:txBody>
      </p:sp>
      <p:sp>
        <p:nvSpPr>
          <p:cNvPr id="21" name="Shape"/>
          <p:cNvSpPr/>
          <p:nvPr/>
        </p:nvSpPr>
        <p:spPr>
          <a:xfrm>
            <a:off x="5956440" y="1980000"/>
            <a:ext cx="5107800" cy="133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22" name="Oval"/>
          <p:cNvSpPr/>
          <p:nvPr/>
        </p:nvSpPr>
        <p:spPr>
          <a:xfrm>
            <a:off x="6136440" y="2140000"/>
            <a:ext cx="320000" cy="320000"/>
          </a:xfrm>
          <a:prstGeom prst="ellipse">
            <a:avLst/>
          </a:prstGeom>
          <a:solidFill>
            <a:srgbClr val="22C3A6"/>
          </a:solidFill>
          <a:ln>
            <a:noFill/>
          </a:ln>
        </p:spPr>
        <p:txBody>
          <a:bodyPr/>
          <a:lstStyle/>
          <a:p>
            <a:endParaRPr lang="en-US"/>
          </a:p>
        </p:txBody>
      </p:sp>
      <p:sp>
        <p:nvSpPr>
          <p:cNvPr id="23" name="Text"/>
          <p:cNvSpPr/>
          <p:nvPr/>
        </p:nvSpPr>
        <p:spPr>
          <a:xfrm>
            <a:off x="6136440" y="2140000"/>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p>
        </p:txBody>
      </p:sp>
      <p:sp>
        <p:nvSpPr>
          <p:cNvPr id="24" name="Text"/>
          <p:cNvSpPr/>
          <p:nvPr/>
        </p:nvSpPr>
        <p:spPr>
          <a:xfrm>
            <a:off x="6576440" y="2120000"/>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Physical activity shows little relationship with BMI</a:t>
            </a:r>
          </a:p>
        </p:txBody>
      </p:sp>
      <p:sp>
        <p:nvSpPr>
          <p:cNvPr id="25" name="Text"/>
          <p:cNvSpPr/>
          <p:nvPr/>
        </p:nvSpPr>
        <p:spPr>
          <a:xfrm>
            <a:off x="6136440" y="2540000"/>
            <a:ext cx="4747800" cy="713333"/>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Median BMI is nearly flat across activity levels (low 27.00, moderate 27.03, high 27.03) — activity should be tracked as its own indicator, not a weight proxy.</a:t>
            </a:r>
          </a:p>
        </p:txBody>
      </p:sp>
      <p:sp>
        <p:nvSpPr>
          <p:cNvPr id="26" name="Shape"/>
          <p:cNvSpPr/>
          <p:nvPr/>
        </p:nvSpPr>
        <p:spPr>
          <a:xfrm>
            <a:off x="5956440" y="3473333"/>
            <a:ext cx="5107800" cy="133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27" name="Oval"/>
          <p:cNvSpPr/>
          <p:nvPr/>
        </p:nvSpPr>
        <p:spPr>
          <a:xfrm>
            <a:off x="6136440" y="3633333"/>
            <a:ext cx="320000" cy="320000"/>
          </a:xfrm>
          <a:prstGeom prst="ellipse">
            <a:avLst/>
          </a:prstGeom>
          <a:solidFill>
            <a:srgbClr val="22C3A6"/>
          </a:solidFill>
          <a:ln>
            <a:noFill/>
          </a:ln>
        </p:spPr>
        <p:txBody>
          <a:bodyPr/>
          <a:lstStyle/>
          <a:p>
            <a:endParaRPr lang="en-US"/>
          </a:p>
        </p:txBody>
      </p:sp>
      <p:sp>
        <p:nvSpPr>
          <p:cNvPr id="28" name="Text"/>
          <p:cNvSpPr/>
          <p:nvPr/>
        </p:nvSpPr>
        <p:spPr>
          <a:xfrm>
            <a:off x="6136440" y="3633333"/>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p>
        </p:txBody>
      </p:sp>
      <p:sp>
        <p:nvSpPr>
          <p:cNvPr id="29" name="Text"/>
          <p:cNvSpPr/>
          <p:nvPr/>
        </p:nvSpPr>
        <p:spPr>
          <a:xfrm>
            <a:off x="6576440" y="3613333"/>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Age correlates modestly with BP, more clearly with cholesterol</a:t>
            </a:r>
          </a:p>
        </p:txBody>
      </p:sp>
      <p:sp>
        <p:nvSpPr>
          <p:cNvPr id="30" name="Text"/>
          <p:cNvSpPr/>
          <p:nvPr/>
        </p:nvSpPr>
        <p:spPr>
          <a:xfrm>
            <a:off x="6136440" y="4033333"/>
            <a:ext cx="4747800" cy="713333"/>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Age vs Systolic BP: r = 0.18 (modest). Average total cholesterol rises steadily by age group, from 187.66 (18–29) to 198.66 (70+).</a:t>
            </a:r>
          </a:p>
        </p:txBody>
      </p:sp>
      <p:sp>
        <p:nvSpPr>
          <p:cNvPr id="31" name="Shape"/>
          <p:cNvSpPr/>
          <p:nvPr/>
        </p:nvSpPr>
        <p:spPr>
          <a:xfrm>
            <a:off x="5956440" y="4966666"/>
            <a:ext cx="5107800" cy="1333333"/>
          </a:xfrm>
          <a:prstGeom prst="roundRect">
            <a:avLst>
              <a:gd name="adj" fmla="val 6000"/>
            </a:avLst>
          </a:prstGeom>
          <a:solidFill>
            <a:srgbClr val="FFFFFF"/>
          </a:solidFill>
          <a:ln w="12700">
            <a:solidFill>
              <a:srgbClr val="D7E4EC"/>
            </a:solidFill>
            <a:prstDash val="solid"/>
          </a:ln>
        </p:spPr>
        <p:txBody>
          <a:bodyPr/>
          <a:lstStyle/>
          <a:p>
            <a:endParaRPr lang="en-US"/>
          </a:p>
        </p:txBody>
      </p:sp>
      <p:sp>
        <p:nvSpPr>
          <p:cNvPr id="32" name="Oval"/>
          <p:cNvSpPr/>
          <p:nvPr/>
        </p:nvSpPr>
        <p:spPr>
          <a:xfrm>
            <a:off x="6136440" y="5126666"/>
            <a:ext cx="320000" cy="320000"/>
          </a:xfrm>
          <a:prstGeom prst="ellipse">
            <a:avLst/>
          </a:prstGeom>
          <a:solidFill>
            <a:srgbClr val="22C3A6"/>
          </a:solidFill>
          <a:ln>
            <a:noFill/>
          </a:ln>
        </p:spPr>
        <p:txBody>
          <a:bodyPr/>
          <a:lstStyle/>
          <a:p>
            <a:endParaRPr lang="en-US"/>
          </a:p>
        </p:txBody>
      </p:sp>
      <p:sp>
        <p:nvSpPr>
          <p:cNvPr id="33" name="Text"/>
          <p:cNvSpPr/>
          <p:nvPr/>
        </p:nvSpPr>
        <p:spPr>
          <a:xfrm>
            <a:off x="6136440" y="5126666"/>
            <a:ext cx="320000" cy="32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p>
        </p:txBody>
      </p:sp>
      <p:sp>
        <p:nvSpPr>
          <p:cNvPr id="34" name="Text"/>
          <p:cNvSpPr/>
          <p:nvPr/>
        </p:nvSpPr>
        <p:spPr>
          <a:xfrm>
            <a:off x="6576440" y="5106666"/>
            <a:ext cx="4337800" cy="360000"/>
          </a:xfrm>
          <a:prstGeom prst="rect">
            <a:avLst/>
          </a:prstGeom>
          <a:noFill/>
          <a:ln/>
        </p:spPr>
        <p:txBody>
          <a:bodyPr wrap="square" lIns="0" tIns="0" rIns="0" bIns="0" rtlCol="0" anchor="t"/>
          <a:lstStyle/>
          <a:p>
            <a:pPr marL="0" indent="0" algn="l">
              <a:buNone/>
            </a:pPr>
            <a:r>
              <a:rPr lang="en-US" sz="1150" b="1" dirty="0">
                <a:solidFill>
                  <a:srgbClr val="12283F"/>
                </a:solidFill>
                <a:latin typeface="Calibri" pitchFamily="34" charset="0"/>
                <a:ea typeface="Calibri" pitchFamily="34" charset="-122"/>
                <a:cs typeface="Calibri" pitchFamily="34" charset="-120"/>
              </a:rPr>
              <a:t>Cholesterol fields move together; BMI drives the ML model</a:t>
            </a:r>
          </a:p>
        </p:txBody>
      </p:sp>
      <p:sp>
        <p:nvSpPr>
          <p:cNvPr id="35" name="Text"/>
          <p:cNvSpPr/>
          <p:nvPr/>
        </p:nvSpPr>
        <p:spPr>
          <a:xfrm>
            <a:off x="6136440" y="5526666"/>
            <a:ext cx="4747800" cy="713333"/>
          </a:xfrm>
          <a:prstGeom prst="rect">
            <a:avLst/>
          </a:prstGeom>
          <a:noFill/>
          <a:ln/>
        </p:spPr>
        <p:txBody>
          <a:bodyPr wrap="square" lIns="0" tIns="0" rIns="0" bIns="0" rtlCol="0" anchor="t"/>
          <a:lstStyle/>
          <a:p>
            <a:pPr marL="0" indent="0" algn="l">
              <a:lnSpc>
                <a:spcPts val="1250"/>
              </a:lnSpc>
              <a:buNone/>
            </a:pPr>
            <a:r>
              <a:rPr lang="en-US" sz="1000" dirty="0">
                <a:solidFill>
                  <a:srgbClr val="5B7284"/>
                </a:solidFill>
                <a:latin typeface="Calibri" pitchFamily="34" charset="0"/>
                <a:ea typeface="Calibri" pitchFamily="34" charset="-122"/>
                <a:cs typeface="Calibri" pitchFamily="34" charset="-120"/>
              </a:rPr>
              <a:t>Total and LDL Cholesterol are the dataset's strongest correlation (r = 0.69). In the trained model, BMI is the top predictor of elevated BP risk, ahead of age and lipids.</a:t>
            </a:r>
          </a:p>
        </p:txBody>
      </p:sp>
      <p:sp>
        <p:nvSpPr>
          <p:cNvPr id="36"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Key Findings</a:t>
            </a:r>
          </a:p>
        </p:txBody>
      </p:sp>
      <p:sp>
        <p:nvSpPr>
          <p:cNvPr id="37"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38 / 45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4882896"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4882896"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FROM INSIGHT TO ACTION</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Insight → Recommendation Map</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Every recommendation on the next slide traces back to a specific, notebook-verified pattern.</a:t>
            </a:r>
          </a:p>
        </p:txBody>
      </p:sp>
      <p:sp>
        <p:nvSpPr>
          <p:cNvPr id="6" name="Shape"/>
          <p:cNvSpPr/>
          <p:nvPr/>
        </p:nvSpPr>
        <p:spPr>
          <a:xfrm>
            <a:off x="548640" y="2000000"/>
            <a:ext cx="10515600" cy="500000"/>
          </a:xfrm>
          <a:prstGeom prst="roundRect">
            <a:avLst>
              <a:gd name="adj" fmla="val 3000"/>
            </a:avLst>
          </a:prstGeom>
          <a:solidFill>
            <a:srgbClr val="12283F"/>
          </a:solidFill>
          <a:ln>
            <a:noFill/>
          </a:ln>
        </p:spPr>
        <p:txBody>
          <a:bodyPr/>
          <a:lstStyle/>
          <a:p>
            <a:endParaRPr lang="en-US"/>
          </a:p>
        </p:txBody>
      </p:sp>
      <p:sp>
        <p:nvSpPr>
          <p:cNvPr id="7" name="Text"/>
          <p:cNvSpPr/>
          <p:nvPr/>
        </p:nvSpPr>
        <p:spPr>
          <a:xfrm>
            <a:off x="698640" y="2000000"/>
            <a:ext cx="5750000" cy="500000"/>
          </a:xfrm>
          <a:prstGeom prst="rect">
            <a:avLst/>
          </a:prstGeom>
          <a:noFill/>
          <a:ln/>
        </p:spPr>
        <p:txBody>
          <a:bodyPr wrap="square" lIns="0" tIns="0" rIns="0" bIns="0" rtlCol="0" anchor="ctr"/>
          <a:lstStyle/>
          <a:p>
            <a:pPr marL="0" indent="0" algn="l">
              <a:buNone/>
            </a:pPr>
            <a:r>
              <a:rPr lang="en-US" sz="1000" b="1" spc="60" dirty="0">
                <a:solidFill>
                  <a:srgbClr val="FFFFFF"/>
                </a:solidFill>
                <a:latin typeface="Calibri" pitchFamily="34" charset="0"/>
                <a:ea typeface="Calibri" pitchFamily="34" charset="-122"/>
                <a:cs typeface="Calibri" pitchFamily="34" charset="-120"/>
              </a:rPr>
              <a:t>INSIGHT (VERIFIED)</a:t>
            </a:r>
          </a:p>
        </p:txBody>
      </p:sp>
      <p:sp>
        <p:nvSpPr>
          <p:cNvPr id="8" name="Text"/>
          <p:cNvSpPr/>
          <p:nvPr/>
        </p:nvSpPr>
        <p:spPr>
          <a:xfrm>
            <a:off x="6548640" y="2000000"/>
            <a:ext cx="4415600" cy="500000"/>
          </a:xfrm>
          <a:prstGeom prst="rect">
            <a:avLst/>
          </a:prstGeom>
          <a:noFill/>
          <a:ln/>
        </p:spPr>
        <p:txBody>
          <a:bodyPr wrap="square" lIns="0" tIns="0" rIns="0" bIns="0" rtlCol="0" anchor="ctr"/>
          <a:lstStyle/>
          <a:p>
            <a:pPr marL="0" indent="0" algn="l">
              <a:buNone/>
            </a:pPr>
            <a:r>
              <a:rPr lang="en-US" sz="1000" b="1" spc="60" dirty="0">
                <a:solidFill>
                  <a:srgbClr val="FFFFFF"/>
                </a:solidFill>
                <a:latin typeface="Calibri" pitchFamily="34" charset="0"/>
                <a:ea typeface="Calibri" pitchFamily="34" charset="-122"/>
                <a:cs typeface="Calibri" pitchFamily="34" charset="-120"/>
              </a:rPr>
              <a:t>RECOMMENDATION</a:t>
            </a:r>
          </a:p>
        </p:txBody>
      </p:sp>
      <p:sp>
        <p:nvSpPr>
          <p:cNvPr id="9" name="Shape"/>
          <p:cNvSpPr/>
          <p:nvPr/>
        </p:nvSpPr>
        <p:spPr>
          <a:xfrm>
            <a:off x="548640" y="2500000"/>
            <a:ext cx="10515600" cy="620000"/>
          </a:xfrm>
          <a:prstGeom prst="rect">
            <a:avLst/>
          </a:prstGeom>
          <a:solidFill>
            <a:srgbClr val="EAF3F8"/>
          </a:solidFill>
          <a:ln w="6350">
            <a:solidFill>
              <a:srgbClr val="D7E4EC"/>
            </a:solidFill>
            <a:prstDash val="solid"/>
          </a:ln>
        </p:spPr>
        <p:txBody>
          <a:bodyPr/>
          <a:lstStyle/>
          <a:p>
            <a:endParaRPr lang="en-US"/>
          </a:p>
        </p:txBody>
      </p:sp>
      <p:sp>
        <p:nvSpPr>
          <p:cNvPr id="10" name="Text"/>
          <p:cNvSpPr/>
          <p:nvPr/>
        </p:nvSpPr>
        <p:spPr>
          <a:xfrm>
            <a:off x="698640" y="2500000"/>
            <a:ext cx="5650000" cy="62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BMI ≥ 25 covers 65.78% of the population</a:t>
            </a:r>
          </a:p>
        </p:txBody>
      </p:sp>
      <p:sp>
        <p:nvSpPr>
          <p:cNvPr id="11" name="Text"/>
          <p:cNvSpPr/>
          <p:nvPr/>
        </p:nvSpPr>
        <p:spPr>
          <a:xfrm>
            <a:off x="6548640" y="2500000"/>
            <a:ext cx="4365600" cy="620000"/>
          </a:xfrm>
          <a:prstGeom prst="rect">
            <a:avLst/>
          </a:prstGeom>
          <a:noFill/>
          <a:ln/>
        </p:spPr>
        <p:txBody>
          <a:bodyPr wrap="square" lIns="0" tIns="0" rIns="0" bIns="0" rtlCol="0" anchor="ctr"/>
          <a:lstStyle/>
          <a:p>
            <a:pPr marL="0" indent="0" algn="l">
              <a:lnSpc>
                <a:spcPts val="1200"/>
              </a:lnSpc>
              <a:buNone/>
            </a:pPr>
            <a:r>
              <a:rPr lang="en-US" sz="1000" b="1" dirty="0">
                <a:solidFill>
                  <a:srgbClr val="1C7293"/>
                </a:solidFill>
                <a:latin typeface="Calibri" pitchFamily="34" charset="0"/>
                <a:ea typeface="Calibri" pitchFamily="34" charset="-122"/>
                <a:cs typeface="Calibri" pitchFamily="34" charset="-120"/>
              </a:rPr>
              <a:t>Strengthen weight &amp; lifestyle monitoring</a:t>
            </a:r>
          </a:p>
        </p:txBody>
      </p:sp>
      <p:sp>
        <p:nvSpPr>
          <p:cNvPr id="12" name="Shape"/>
          <p:cNvSpPr/>
          <p:nvPr/>
        </p:nvSpPr>
        <p:spPr>
          <a:xfrm>
            <a:off x="548640" y="3120000"/>
            <a:ext cx="10515600" cy="620000"/>
          </a:xfrm>
          <a:prstGeom prst="rect">
            <a:avLst/>
          </a:prstGeom>
          <a:solidFill>
            <a:srgbClr val="FFFFFF"/>
          </a:solidFill>
          <a:ln w="6350">
            <a:solidFill>
              <a:srgbClr val="D7E4EC"/>
            </a:solidFill>
            <a:prstDash val="solid"/>
          </a:ln>
        </p:spPr>
        <p:txBody>
          <a:bodyPr/>
          <a:lstStyle/>
          <a:p>
            <a:endParaRPr lang="en-US"/>
          </a:p>
        </p:txBody>
      </p:sp>
      <p:sp>
        <p:nvSpPr>
          <p:cNvPr id="13" name="Text"/>
          <p:cNvSpPr/>
          <p:nvPr/>
        </p:nvSpPr>
        <p:spPr>
          <a:xfrm>
            <a:off x="698640" y="3120000"/>
            <a:ext cx="5650000" cy="62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BP risk rises from 33.9% (Underweight) to 72.5% (Obese)</a:t>
            </a:r>
          </a:p>
        </p:txBody>
      </p:sp>
      <p:sp>
        <p:nvSpPr>
          <p:cNvPr id="14" name="Text"/>
          <p:cNvSpPr/>
          <p:nvPr/>
        </p:nvSpPr>
        <p:spPr>
          <a:xfrm>
            <a:off x="6548640" y="3120000"/>
            <a:ext cx="4365600" cy="620000"/>
          </a:xfrm>
          <a:prstGeom prst="rect">
            <a:avLst/>
          </a:prstGeom>
          <a:noFill/>
          <a:ln/>
        </p:spPr>
        <p:txBody>
          <a:bodyPr wrap="square" lIns="0" tIns="0" rIns="0" bIns="0" rtlCol="0" anchor="ctr"/>
          <a:lstStyle/>
          <a:p>
            <a:pPr marL="0" indent="0" algn="l">
              <a:lnSpc>
                <a:spcPts val="1200"/>
              </a:lnSpc>
              <a:buNone/>
            </a:pPr>
            <a:r>
              <a:rPr lang="en-US" sz="1000" b="1" dirty="0">
                <a:solidFill>
                  <a:srgbClr val="1C7293"/>
                </a:solidFill>
                <a:latin typeface="Calibri" pitchFamily="34" charset="0"/>
                <a:ea typeface="Calibri" pitchFamily="34" charset="-122"/>
                <a:cs typeface="Calibri" pitchFamily="34" charset="-120"/>
              </a:rPr>
              <a:t>Prioritize BMI-tiered BP screening</a:t>
            </a:r>
          </a:p>
        </p:txBody>
      </p:sp>
      <p:sp>
        <p:nvSpPr>
          <p:cNvPr id="15" name="Shape"/>
          <p:cNvSpPr/>
          <p:nvPr/>
        </p:nvSpPr>
        <p:spPr>
          <a:xfrm>
            <a:off x="548640" y="3740000"/>
            <a:ext cx="10515600" cy="620000"/>
          </a:xfrm>
          <a:prstGeom prst="rect">
            <a:avLst/>
          </a:prstGeom>
          <a:solidFill>
            <a:srgbClr val="EAF3F8"/>
          </a:solidFill>
          <a:ln w="6350">
            <a:solidFill>
              <a:srgbClr val="D7E4EC"/>
            </a:solidFill>
            <a:prstDash val="solid"/>
          </a:ln>
        </p:spPr>
        <p:txBody>
          <a:bodyPr/>
          <a:lstStyle/>
          <a:p>
            <a:endParaRPr lang="en-US"/>
          </a:p>
        </p:txBody>
      </p:sp>
      <p:sp>
        <p:nvSpPr>
          <p:cNvPr id="16" name="Text"/>
          <p:cNvSpPr/>
          <p:nvPr/>
        </p:nvSpPr>
        <p:spPr>
          <a:xfrm>
            <a:off x="698640" y="3740000"/>
            <a:ext cx="5650000" cy="62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Smoking shows no meaningful BP/BMI gap (58.4% vs 60.4%)</a:t>
            </a:r>
          </a:p>
        </p:txBody>
      </p:sp>
      <p:sp>
        <p:nvSpPr>
          <p:cNvPr id="17" name="Text"/>
          <p:cNvSpPr/>
          <p:nvPr/>
        </p:nvSpPr>
        <p:spPr>
          <a:xfrm>
            <a:off x="6548640" y="3740000"/>
            <a:ext cx="4365600" cy="620000"/>
          </a:xfrm>
          <a:prstGeom prst="rect">
            <a:avLst/>
          </a:prstGeom>
          <a:noFill/>
          <a:ln/>
        </p:spPr>
        <p:txBody>
          <a:bodyPr wrap="square" lIns="0" tIns="0" rIns="0" bIns="0" rtlCol="0" anchor="ctr"/>
          <a:lstStyle/>
          <a:p>
            <a:pPr marL="0" indent="0" algn="l">
              <a:lnSpc>
                <a:spcPts val="1200"/>
              </a:lnSpc>
              <a:buNone/>
            </a:pPr>
            <a:r>
              <a:rPr lang="en-US" sz="1000" b="1" dirty="0">
                <a:solidFill>
                  <a:srgbClr val="1C7293"/>
                </a:solidFill>
                <a:latin typeface="Calibri" pitchFamily="34" charset="0"/>
                <a:ea typeface="Calibri" pitchFamily="34" charset="-122"/>
                <a:cs typeface="Calibri" pitchFamily="34" charset="-120"/>
              </a:rPr>
              <a:t>Screen for BP broadly, not by smoking status</a:t>
            </a:r>
          </a:p>
        </p:txBody>
      </p:sp>
      <p:sp>
        <p:nvSpPr>
          <p:cNvPr id="18" name="Shape"/>
          <p:cNvSpPr/>
          <p:nvPr/>
        </p:nvSpPr>
        <p:spPr>
          <a:xfrm>
            <a:off x="548640" y="4360000"/>
            <a:ext cx="10515600" cy="620000"/>
          </a:xfrm>
          <a:prstGeom prst="rect">
            <a:avLst/>
          </a:prstGeom>
          <a:solidFill>
            <a:srgbClr val="FFFFFF"/>
          </a:solidFill>
          <a:ln w="6350">
            <a:solidFill>
              <a:srgbClr val="D7E4EC"/>
            </a:solidFill>
            <a:prstDash val="solid"/>
          </a:ln>
        </p:spPr>
        <p:txBody>
          <a:bodyPr/>
          <a:lstStyle/>
          <a:p>
            <a:endParaRPr lang="en-US"/>
          </a:p>
        </p:txBody>
      </p:sp>
      <p:sp>
        <p:nvSpPr>
          <p:cNvPr id="19" name="Text"/>
          <p:cNvSpPr/>
          <p:nvPr/>
        </p:nvSpPr>
        <p:spPr>
          <a:xfrm>
            <a:off x="698640" y="4360000"/>
            <a:ext cx="5650000" cy="62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Activity level shows almost no BMI relationship (~27 flat)</a:t>
            </a:r>
          </a:p>
        </p:txBody>
      </p:sp>
      <p:sp>
        <p:nvSpPr>
          <p:cNvPr id="20" name="Text"/>
          <p:cNvSpPr/>
          <p:nvPr/>
        </p:nvSpPr>
        <p:spPr>
          <a:xfrm>
            <a:off x="6548640" y="4360000"/>
            <a:ext cx="4365600" cy="620000"/>
          </a:xfrm>
          <a:prstGeom prst="rect">
            <a:avLst/>
          </a:prstGeom>
          <a:noFill/>
          <a:ln/>
        </p:spPr>
        <p:txBody>
          <a:bodyPr wrap="square" lIns="0" tIns="0" rIns="0" bIns="0" rtlCol="0" anchor="ctr"/>
          <a:lstStyle/>
          <a:p>
            <a:pPr marL="0" indent="0" algn="l">
              <a:lnSpc>
                <a:spcPts val="1200"/>
              </a:lnSpc>
              <a:buNone/>
            </a:pPr>
            <a:r>
              <a:rPr lang="en-US" sz="1000" b="1" dirty="0">
                <a:solidFill>
                  <a:srgbClr val="1C7293"/>
                </a:solidFill>
                <a:latin typeface="Calibri" pitchFamily="34" charset="0"/>
                <a:ea typeface="Calibri" pitchFamily="34" charset="-122"/>
                <a:cs typeface="Calibri" pitchFamily="34" charset="-120"/>
              </a:rPr>
              <a:t>Track activity and BMI as separate indicators</a:t>
            </a:r>
          </a:p>
        </p:txBody>
      </p:sp>
      <p:sp>
        <p:nvSpPr>
          <p:cNvPr id="21" name="Shape"/>
          <p:cNvSpPr/>
          <p:nvPr/>
        </p:nvSpPr>
        <p:spPr>
          <a:xfrm>
            <a:off x="548640" y="4980000"/>
            <a:ext cx="10515600" cy="620000"/>
          </a:xfrm>
          <a:prstGeom prst="rect">
            <a:avLst/>
          </a:prstGeom>
          <a:solidFill>
            <a:srgbClr val="EAF3F8"/>
          </a:solidFill>
          <a:ln w="6350">
            <a:solidFill>
              <a:srgbClr val="D7E4EC"/>
            </a:solidFill>
            <a:prstDash val="solid"/>
          </a:ln>
        </p:spPr>
        <p:txBody>
          <a:bodyPr/>
          <a:lstStyle/>
          <a:p>
            <a:endParaRPr lang="en-US"/>
          </a:p>
        </p:txBody>
      </p:sp>
      <p:sp>
        <p:nvSpPr>
          <p:cNvPr id="22" name="Text"/>
          <p:cNvSpPr/>
          <p:nvPr/>
        </p:nvSpPr>
        <p:spPr>
          <a:xfrm>
            <a:off x="698640" y="4980000"/>
            <a:ext cx="5650000" cy="62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Avg. cholesterol rises steadily with age (187.7 → 198.7)</a:t>
            </a:r>
          </a:p>
        </p:txBody>
      </p:sp>
      <p:sp>
        <p:nvSpPr>
          <p:cNvPr id="23" name="Text"/>
          <p:cNvSpPr/>
          <p:nvPr/>
        </p:nvSpPr>
        <p:spPr>
          <a:xfrm>
            <a:off x="6548640" y="4980000"/>
            <a:ext cx="4365600" cy="620000"/>
          </a:xfrm>
          <a:prstGeom prst="rect">
            <a:avLst/>
          </a:prstGeom>
          <a:noFill/>
          <a:ln/>
        </p:spPr>
        <p:txBody>
          <a:bodyPr wrap="square" lIns="0" tIns="0" rIns="0" bIns="0" rtlCol="0" anchor="ctr"/>
          <a:lstStyle/>
          <a:p>
            <a:pPr marL="0" indent="0" algn="l">
              <a:lnSpc>
                <a:spcPts val="1200"/>
              </a:lnSpc>
              <a:buNone/>
            </a:pPr>
            <a:r>
              <a:rPr lang="en-US" sz="1000" b="1" dirty="0">
                <a:solidFill>
                  <a:srgbClr val="1C7293"/>
                </a:solidFill>
                <a:latin typeface="Calibri" pitchFamily="34" charset="0"/>
                <a:ea typeface="Calibri" pitchFamily="34" charset="-122"/>
                <a:cs typeface="Calibri" pitchFamily="34" charset="-120"/>
              </a:rPr>
              <a:t>Weight lipid screening toward older age groups</a:t>
            </a:r>
          </a:p>
        </p:txBody>
      </p:sp>
      <p:sp>
        <p:nvSpPr>
          <p:cNvPr id="24" name="Shape"/>
          <p:cNvSpPr/>
          <p:nvPr/>
        </p:nvSpPr>
        <p:spPr>
          <a:xfrm>
            <a:off x="548640" y="5600000"/>
            <a:ext cx="10515600" cy="620000"/>
          </a:xfrm>
          <a:prstGeom prst="rect">
            <a:avLst/>
          </a:prstGeom>
          <a:solidFill>
            <a:srgbClr val="FFFFFF"/>
          </a:solidFill>
          <a:ln w="6350">
            <a:solidFill>
              <a:srgbClr val="D7E4EC"/>
            </a:solidFill>
            <a:prstDash val="solid"/>
          </a:ln>
        </p:spPr>
        <p:txBody>
          <a:bodyPr/>
          <a:lstStyle/>
          <a:p>
            <a:endParaRPr lang="en-US"/>
          </a:p>
        </p:txBody>
      </p:sp>
      <p:sp>
        <p:nvSpPr>
          <p:cNvPr id="25" name="Text"/>
          <p:cNvSpPr/>
          <p:nvPr/>
        </p:nvSpPr>
        <p:spPr>
          <a:xfrm>
            <a:off x="698640" y="5600000"/>
            <a:ext cx="5650000" cy="620000"/>
          </a:xfrm>
          <a:prstGeom prst="rect">
            <a:avLst/>
          </a:prstGeom>
          <a:noFill/>
          <a:ln/>
        </p:spPr>
        <p:txBody>
          <a:bodyPr wrap="square" lIns="0" tIns="0" rIns="0" bIns="0" rtlCol="0" anchor="ctr"/>
          <a:lstStyle/>
          <a:p>
            <a:pPr marL="0" indent="0" algn="l">
              <a:lnSpc>
                <a:spcPts val="1200"/>
              </a:lnSpc>
              <a:buNone/>
            </a:pPr>
            <a:r>
              <a:rPr lang="en-US" sz="1000" dirty="0">
                <a:solidFill>
                  <a:srgbClr val="12283F"/>
                </a:solidFill>
                <a:latin typeface="Calibri" pitchFamily="34" charset="0"/>
                <a:ea typeface="Calibri" pitchFamily="34" charset="-122"/>
                <a:cs typeface="Calibri" pitchFamily="34" charset="-120"/>
              </a:rPr>
              <a:t>Logistic Regression: BMI is the top predictor of BP risk</a:t>
            </a:r>
          </a:p>
        </p:txBody>
      </p:sp>
      <p:sp>
        <p:nvSpPr>
          <p:cNvPr id="26" name="Text"/>
          <p:cNvSpPr/>
          <p:nvPr/>
        </p:nvSpPr>
        <p:spPr>
          <a:xfrm>
            <a:off x="6548640" y="5600000"/>
            <a:ext cx="4365600" cy="620000"/>
          </a:xfrm>
          <a:prstGeom prst="rect">
            <a:avLst/>
          </a:prstGeom>
          <a:noFill/>
          <a:ln/>
        </p:spPr>
        <p:txBody>
          <a:bodyPr wrap="square" lIns="0" tIns="0" rIns="0" bIns="0" rtlCol="0" anchor="ctr"/>
          <a:lstStyle/>
          <a:p>
            <a:pPr marL="0" indent="0" algn="l">
              <a:lnSpc>
                <a:spcPts val="1200"/>
              </a:lnSpc>
              <a:buNone/>
            </a:pPr>
            <a:r>
              <a:rPr lang="en-US" sz="1000" b="1" dirty="0">
                <a:solidFill>
                  <a:srgbClr val="1C7293"/>
                </a:solidFill>
                <a:latin typeface="Calibri" pitchFamily="34" charset="0"/>
                <a:ea typeface="Calibri" pitchFamily="34" charset="-122"/>
                <a:cs typeface="Calibri" pitchFamily="34" charset="-120"/>
              </a:rPr>
              <a:t>Use the model as a supporting screening signal</a:t>
            </a:r>
          </a:p>
        </p:txBody>
      </p:sp>
      <p:sp>
        <p:nvSpPr>
          <p:cNvPr id="27"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Insight to Action</a:t>
            </a:r>
          </a:p>
        </p:txBody>
      </p:sp>
      <p:sp>
        <p:nvSpPr>
          <p:cNvPr id="28"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39 / 45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p:bg>
      <p:bgPr>
        <a:solidFill>
          <a:srgbClr val="EAF3F8"/>
        </a:solidFill>
        <a:effectLst/>
      </p:bgPr>
    </p:bg>
    <p:spTree>
      <p:nvGrpSpPr>
        <p:cNvPr id="1" name=""/>
        <p:cNvGrpSpPr/>
        <p:nvPr/>
      </p:nvGrpSpPr>
      <p:grpSpPr>
        <a:xfrm>
          <a:off x="0" y="0"/>
          <a:ext cx="0" cy="0"/>
          <a:chOff x="0" y="0"/>
          <a:chExt cx="0" cy="0"/>
        </a:xfrm>
      </p:grpSpPr>
      <p:sp>
        <p:nvSpPr>
          <p:cNvPr id="2" name="Shape"/>
          <p:cNvSpPr/>
          <p:nvPr/>
        </p:nvSpPr>
        <p:spPr>
          <a:xfrm>
            <a:off x="548640" y="457200"/>
            <a:ext cx="3474720"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3474720"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RECOMMENDATIONS</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Turning Insights Into Action</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Population-health monitoring recommendations grounded in the notebook's real results.</a:t>
            </a:r>
          </a:p>
        </p:txBody>
      </p:sp>
      <p:sp>
        <p:nvSpPr>
          <p:cNvPr id="6" name="Shape"/>
          <p:cNvSpPr/>
          <p:nvPr/>
        </p:nvSpPr>
        <p:spPr>
          <a:xfrm>
            <a:off x="548640" y="19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7" name="Oval"/>
          <p:cNvSpPr/>
          <p:nvPr/>
        </p:nvSpPr>
        <p:spPr>
          <a:xfrm>
            <a:off x="708640" y="2110000"/>
            <a:ext cx="340000" cy="340000"/>
          </a:xfrm>
          <a:prstGeom prst="ellipse">
            <a:avLst/>
          </a:prstGeom>
          <a:solidFill>
            <a:srgbClr val="22C3A6"/>
          </a:solidFill>
          <a:ln>
            <a:noFill/>
          </a:ln>
        </p:spPr>
        <p:txBody>
          <a:bodyPr/>
          <a:lstStyle/>
          <a:p>
            <a:endParaRPr lang="en-US"/>
          </a:p>
        </p:txBody>
      </p:sp>
      <p:sp>
        <p:nvSpPr>
          <p:cNvPr id="8" name="Text"/>
          <p:cNvSpPr/>
          <p:nvPr/>
        </p:nvSpPr>
        <p:spPr>
          <a:xfrm>
            <a:off x="708640" y="21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p>
        </p:txBody>
      </p:sp>
      <p:sp>
        <p:nvSpPr>
          <p:cNvPr id="9" name="Text"/>
          <p:cNvSpPr/>
          <p:nvPr/>
        </p:nvSpPr>
        <p:spPr>
          <a:xfrm>
            <a:off x="708640" y="25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BMI-Tiered BP Screening</a:t>
            </a:r>
          </a:p>
        </p:txBody>
      </p:sp>
      <p:sp>
        <p:nvSpPr>
          <p:cNvPr id="10" name="Text"/>
          <p:cNvSpPr/>
          <p:nvPr/>
        </p:nvSpPr>
        <p:spPr>
          <a:xfrm>
            <a:off x="708640" y="31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Prioritize BP screening by BMI category — risk rises from 33.9% (Underweight) to 72.5% (Obese).</a:t>
            </a:r>
          </a:p>
        </p:txBody>
      </p:sp>
      <p:sp>
        <p:nvSpPr>
          <p:cNvPr id="11" name="Shape"/>
          <p:cNvSpPr/>
          <p:nvPr/>
        </p:nvSpPr>
        <p:spPr>
          <a:xfrm>
            <a:off x="3222540" y="19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2" name="Oval"/>
          <p:cNvSpPr/>
          <p:nvPr/>
        </p:nvSpPr>
        <p:spPr>
          <a:xfrm>
            <a:off x="3382540" y="2110000"/>
            <a:ext cx="340000" cy="340000"/>
          </a:xfrm>
          <a:prstGeom prst="ellipse">
            <a:avLst/>
          </a:prstGeom>
          <a:solidFill>
            <a:srgbClr val="22C3A6"/>
          </a:solidFill>
          <a:ln>
            <a:noFill/>
          </a:ln>
        </p:spPr>
        <p:txBody>
          <a:bodyPr/>
          <a:lstStyle/>
          <a:p>
            <a:endParaRPr lang="en-US"/>
          </a:p>
        </p:txBody>
      </p:sp>
      <p:sp>
        <p:nvSpPr>
          <p:cNvPr id="13" name="Text"/>
          <p:cNvSpPr/>
          <p:nvPr/>
        </p:nvSpPr>
        <p:spPr>
          <a:xfrm>
            <a:off x="3382540" y="21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p>
        </p:txBody>
      </p:sp>
      <p:sp>
        <p:nvSpPr>
          <p:cNvPr id="14" name="Text"/>
          <p:cNvSpPr/>
          <p:nvPr/>
        </p:nvSpPr>
        <p:spPr>
          <a:xfrm>
            <a:off x="3382540" y="25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Broaden Smoking-Based Screening</a:t>
            </a:r>
          </a:p>
        </p:txBody>
      </p:sp>
      <p:sp>
        <p:nvSpPr>
          <p:cNvPr id="15" name="Text"/>
          <p:cNvSpPr/>
          <p:nvPr/>
        </p:nvSpPr>
        <p:spPr>
          <a:xfrm>
            <a:off x="3382540" y="31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Don't gate BP/BMI screening on smoking status; the notebook shows no meaningful gap between groups.</a:t>
            </a:r>
          </a:p>
        </p:txBody>
      </p:sp>
      <p:sp>
        <p:nvSpPr>
          <p:cNvPr id="16" name="Shape"/>
          <p:cNvSpPr/>
          <p:nvPr/>
        </p:nvSpPr>
        <p:spPr>
          <a:xfrm>
            <a:off x="5896440" y="19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17" name="Oval"/>
          <p:cNvSpPr/>
          <p:nvPr/>
        </p:nvSpPr>
        <p:spPr>
          <a:xfrm>
            <a:off x="6056440" y="2110000"/>
            <a:ext cx="340000" cy="340000"/>
          </a:xfrm>
          <a:prstGeom prst="ellipse">
            <a:avLst/>
          </a:prstGeom>
          <a:solidFill>
            <a:srgbClr val="22C3A6"/>
          </a:solidFill>
          <a:ln>
            <a:noFill/>
          </a:ln>
        </p:spPr>
        <p:txBody>
          <a:bodyPr/>
          <a:lstStyle/>
          <a:p>
            <a:endParaRPr lang="en-US"/>
          </a:p>
        </p:txBody>
      </p:sp>
      <p:sp>
        <p:nvSpPr>
          <p:cNvPr id="18" name="Text"/>
          <p:cNvSpPr/>
          <p:nvPr/>
        </p:nvSpPr>
        <p:spPr>
          <a:xfrm>
            <a:off x="6056440" y="21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p>
        </p:txBody>
      </p:sp>
      <p:sp>
        <p:nvSpPr>
          <p:cNvPr id="19" name="Text"/>
          <p:cNvSpPr/>
          <p:nvPr/>
        </p:nvSpPr>
        <p:spPr>
          <a:xfrm>
            <a:off x="6056440" y="25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Treat Activity as a Separate Metric</a:t>
            </a:r>
          </a:p>
        </p:txBody>
      </p:sp>
      <p:sp>
        <p:nvSpPr>
          <p:cNvPr id="20" name="Text"/>
          <p:cNvSpPr/>
          <p:nvPr/>
        </p:nvSpPr>
        <p:spPr>
          <a:xfrm>
            <a:off x="6056440" y="31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Track physical activity independently of BMI — the two show almost no relationship in this data.</a:t>
            </a:r>
          </a:p>
        </p:txBody>
      </p:sp>
      <p:sp>
        <p:nvSpPr>
          <p:cNvPr id="21" name="Shape"/>
          <p:cNvSpPr/>
          <p:nvPr/>
        </p:nvSpPr>
        <p:spPr>
          <a:xfrm>
            <a:off x="8570340" y="19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2" name="Oval"/>
          <p:cNvSpPr/>
          <p:nvPr/>
        </p:nvSpPr>
        <p:spPr>
          <a:xfrm>
            <a:off x="8730340" y="2110000"/>
            <a:ext cx="340000" cy="340000"/>
          </a:xfrm>
          <a:prstGeom prst="ellipse">
            <a:avLst/>
          </a:prstGeom>
          <a:solidFill>
            <a:srgbClr val="22C3A6"/>
          </a:solidFill>
          <a:ln>
            <a:noFill/>
          </a:ln>
        </p:spPr>
        <p:txBody>
          <a:bodyPr/>
          <a:lstStyle/>
          <a:p>
            <a:endParaRPr lang="en-US"/>
          </a:p>
        </p:txBody>
      </p:sp>
      <p:sp>
        <p:nvSpPr>
          <p:cNvPr id="23" name="Text"/>
          <p:cNvSpPr/>
          <p:nvPr/>
        </p:nvSpPr>
        <p:spPr>
          <a:xfrm>
            <a:off x="8730340" y="21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p>
        </p:txBody>
      </p:sp>
      <p:sp>
        <p:nvSpPr>
          <p:cNvPr id="24" name="Text"/>
          <p:cNvSpPr/>
          <p:nvPr/>
        </p:nvSpPr>
        <p:spPr>
          <a:xfrm>
            <a:off x="8730340" y="25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Age-Weighted Lipid Screening</a:t>
            </a:r>
          </a:p>
        </p:txBody>
      </p:sp>
      <p:sp>
        <p:nvSpPr>
          <p:cNvPr id="25" name="Text"/>
          <p:cNvSpPr/>
          <p:nvPr/>
        </p:nvSpPr>
        <p:spPr>
          <a:xfrm>
            <a:off x="8730340" y="31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Allocate more cholesterol-screening resources to older age groups, without excluding younger ones.</a:t>
            </a:r>
          </a:p>
        </p:txBody>
      </p:sp>
      <p:sp>
        <p:nvSpPr>
          <p:cNvPr id="26" name="Shape"/>
          <p:cNvSpPr/>
          <p:nvPr/>
        </p:nvSpPr>
        <p:spPr>
          <a:xfrm>
            <a:off x="548640" y="41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27" name="Oval"/>
          <p:cNvSpPr/>
          <p:nvPr/>
        </p:nvSpPr>
        <p:spPr>
          <a:xfrm>
            <a:off x="708640" y="4310000"/>
            <a:ext cx="340000" cy="340000"/>
          </a:xfrm>
          <a:prstGeom prst="ellipse">
            <a:avLst/>
          </a:prstGeom>
          <a:solidFill>
            <a:srgbClr val="22C3A6"/>
          </a:solidFill>
          <a:ln>
            <a:noFill/>
          </a:ln>
        </p:spPr>
        <p:txBody>
          <a:bodyPr/>
          <a:lstStyle/>
          <a:p>
            <a:endParaRPr lang="en-US"/>
          </a:p>
        </p:txBody>
      </p:sp>
      <p:sp>
        <p:nvSpPr>
          <p:cNvPr id="28" name="Text"/>
          <p:cNvSpPr/>
          <p:nvPr/>
        </p:nvSpPr>
        <p:spPr>
          <a:xfrm>
            <a:off x="708640" y="43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p>
        </p:txBody>
      </p:sp>
      <p:sp>
        <p:nvSpPr>
          <p:cNvPr id="29" name="Text"/>
          <p:cNvSpPr/>
          <p:nvPr/>
        </p:nvSpPr>
        <p:spPr>
          <a:xfrm>
            <a:off x="708640" y="47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Cholesterol-Ratio Monitoring</a:t>
            </a:r>
          </a:p>
        </p:txBody>
      </p:sp>
      <p:sp>
        <p:nvSpPr>
          <p:cNvPr id="30" name="Text"/>
          <p:cNvSpPr/>
          <p:nvPr/>
        </p:nvSpPr>
        <p:spPr>
          <a:xfrm>
            <a:off x="708640" y="53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59.81% of the population has an elevated Total:HDL ratio (&gt;5) — track this alongside LDL alone.</a:t>
            </a:r>
          </a:p>
        </p:txBody>
      </p:sp>
      <p:sp>
        <p:nvSpPr>
          <p:cNvPr id="31" name="Shape"/>
          <p:cNvSpPr/>
          <p:nvPr/>
        </p:nvSpPr>
        <p:spPr>
          <a:xfrm>
            <a:off x="3222540" y="41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2" name="Oval"/>
          <p:cNvSpPr/>
          <p:nvPr/>
        </p:nvSpPr>
        <p:spPr>
          <a:xfrm>
            <a:off x="3382540" y="4310000"/>
            <a:ext cx="340000" cy="340000"/>
          </a:xfrm>
          <a:prstGeom prst="ellipse">
            <a:avLst/>
          </a:prstGeom>
          <a:solidFill>
            <a:srgbClr val="22C3A6"/>
          </a:solidFill>
          <a:ln>
            <a:noFill/>
          </a:ln>
        </p:spPr>
        <p:txBody>
          <a:bodyPr/>
          <a:lstStyle/>
          <a:p>
            <a:endParaRPr lang="en-US"/>
          </a:p>
        </p:txBody>
      </p:sp>
      <p:sp>
        <p:nvSpPr>
          <p:cNvPr id="33" name="Text"/>
          <p:cNvSpPr/>
          <p:nvPr/>
        </p:nvSpPr>
        <p:spPr>
          <a:xfrm>
            <a:off x="3382540" y="43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p>
        </p:txBody>
      </p:sp>
      <p:sp>
        <p:nvSpPr>
          <p:cNvPr id="34" name="Text"/>
          <p:cNvSpPr/>
          <p:nvPr/>
        </p:nvSpPr>
        <p:spPr>
          <a:xfrm>
            <a:off x="3382540" y="47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Combined Risk Segmentation</a:t>
            </a:r>
          </a:p>
        </p:txBody>
      </p:sp>
      <p:sp>
        <p:nvSpPr>
          <p:cNvPr id="35" name="Text"/>
          <p:cNvSpPr/>
          <p:nvPr/>
        </p:nvSpPr>
        <p:spPr>
          <a:xfrm>
            <a:off x="3382540" y="53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Combine BMI + Age + Cholesterol + BP into unified risk tiers rather than single-factor rules.</a:t>
            </a:r>
          </a:p>
        </p:txBody>
      </p:sp>
      <p:sp>
        <p:nvSpPr>
          <p:cNvPr id="36" name="Shape"/>
          <p:cNvSpPr/>
          <p:nvPr/>
        </p:nvSpPr>
        <p:spPr>
          <a:xfrm>
            <a:off x="5896440" y="41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37" name="Oval"/>
          <p:cNvSpPr/>
          <p:nvPr/>
        </p:nvSpPr>
        <p:spPr>
          <a:xfrm>
            <a:off x="6056440" y="4310000"/>
            <a:ext cx="340000" cy="340000"/>
          </a:xfrm>
          <a:prstGeom prst="ellipse">
            <a:avLst/>
          </a:prstGeom>
          <a:solidFill>
            <a:srgbClr val="22C3A6"/>
          </a:solidFill>
          <a:ln>
            <a:noFill/>
          </a:ln>
        </p:spPr>
        <p:txBody>
          <a:bodyPr/>
          <a:lstStyle/>
          <a:p>
            <a:endParaRPr lang="en-US"/>
          </a:p>
        </p:txBody>
      </p:sp>
      <p:sp>
        <p:nvSpPr>
          <p:cNvPr id="38" name="Text"/>
          <p:cNvSpPr/>
          <p:nvPr/>
        </p:nvSpPr>
        <p:spPr>
          <a:xfrm>
            <a:off x="6056440" y="43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p>
        </p:txBody>
      </p:sp>
      <p:sp>
        <p:nvSpPr>
          <p:cNvPr id="39" name="Text"/>
          <p:cNvSpPr/>
          <p:nvPr/>
        </p:nvSpPr>
        <p:spPr>
          <a:xfrm>
            <a:off x="6056440" y="47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Dashboard-Based Monitoring</a:t>
            </a:r>
          </a:p>
        </p:txBody>
      </p:sp>
      <p:sp>
        <p:nvSpPr>
          <p:cNvPr id="40" name="Text"/>
          <p:cNvSpPr/>
          <p:nvPr/>
        </p:nvSpPr>
        <p:spPr>
          <a:xfrm>
            <a:off x="6056440" y="53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Use the Excel, Power BI, and Tableau dashboards for ongoing KPI tracking across the population.</a:t>
            </a:r>
          </a:p>
        </p:txBody>
      </p:sp>
      <p:sp>
        <p:nvSpPr>
          <p:cNvPr id="41" name="Shape"/>
          <p:cNvSpPr/>
          <p:nvPr/>
        </p:nvSpPr>
        <p:spPr>
          <a:xfrm>
            <a:off x="8570340" y="4150000"/>
            <a:ext cx="2493900" cy="2000000"/>
          </a:xfrm>
          <a:prstGeom prst="roundRect">
            <a:avLst>
              <a:gd name="adj" fmla="val 6000"/>
            </a:avLst>
          </a:prstGeom>
          <a:solidFill>
            <a:srgbClr val="EAF3F8"/>
          </a:solidFill>
          <a:ln w="12700">
            <a:solidFill>
              <a:srgbClr val="D7E4EC"/>
            </a:solidFill>
            <a:prstDash val="solid"/>
          </a:ln>
        </p:spPr>
        <p:txBody>
          <a:bodyPr/>
          <a:lstStyle/>
          <a:p>
            <a:endParaRPr lang="en-US"/>
          </a:p>
        </p:txBody>
      </p:sp>
      <p:sp>
        <p:nvSpPr>
          <p:cNvPr id="42" name="Oval"/>
          <p:cNvSpPr/>
          <p:nvPr/>
        </p:nvSpPr>
        <p:spPr>
          <a:xfrm>
            <a:off x="8730340" y="4310000"/>
            <a:ext cx="340000" cy="340000"/>
          </a:xfrm>
          <a:prstGeom prst="ellipse">
            <a:avLst/>
          </a:prstGeom>
          <a:solidFill>
            <a:srgbClr val="22C3A6"/>
          </a:solidFill>
          <a:ln>
            <a:noFill/>
          </a:ln>
        </p:spPr>
        <p:txBody>
          <a:bodyPr/>
          <a:lstStyle/>
          <a:p>
            <a:endParaRPr lang="en-US"/>
          </a:p>
        </p:txBody>
      </p:sp>
      <p:sp>
        <p:nvSpPr>
          <p:cNvPr id="43" name="Text"/>
          <p:cNvSpPr/>
          <p:nvPr/>
        </p:nvSpPr>
        <p:spPr>
          <a:xfrm>
            <a:off x="8730340" y="4310000"/>
            <a:ext cx="340000" cy="340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p>
        </p:txBody>
      </p:sp>
      <p:sp>
        <p:nvSpPr>
          <p:cNvPr id="44" name="Text"/>
          <p:cNvSpPr/>
          <p:nvPr/>
        </p:nvSpPr>
        <p:spPr>
          <a:xfrm>
            <a:off x="8730340" y="4750000"/>
            <a:ext cx="2173900" cy="560000"/>
          </a:xfrm>
          <a:prstGeom prst="rect">
            <a:avLst/>
          </a:prstGeom>
          <a:noFill/>
          <a:ln/>
        </p:spPr>
        <p:txBody>
          <a:bodyPr wrap="square" lIns="0" tIns="0" rIns="0" bIns="0" rtlCol="0" anchor="t"/>
          <a:lstStyle/>
          <a:p>
            <a:pPr marL="0" indent="0" algn="l">
              <a:lnSpc>
                <a:spcPts val="1150"/>
              </a:lnSpc>
              <a:buNone/>
            </a:pPr>
            <a:r>
              <a:rPr lang="en-US" sz="950" b="1" dirty="0">
                <a:solidFill>
                  <a:srgbClr val="12283F"/>
                </a:solidFill>
                <a:latin typeface="Calibri" pitchFamily="34" charset="0"/>
                <a:ea typeface="Calibri" pitchFamily="34" charset="-122"/>
                <a:cs typeface="Calibri" pitchFamily="34" charset="-120"/>
              </a:rPr>
              <a:t>Predictive Analytics Support</a:t>
            </a:r>
          </a:p>
        </p:txBody>
      </p:sp>
      <p:sp>
        <p:nvSpPr>
          <p:cNvPr id="45" name="Text"/>
          <p:cNvSpPr/>
          <p:nvPr/>
        </p:nvSpPr>
        <p:spPr>
          <a:xfrm>
            <a:off x="8730340" y="5300000"/>
            <a:ext cx="2173900" cy="750000"/>
          </a:xfrm>
          <a:prstGeom prst="rect">
            <a:avLst/>
          </a:prstGeom>
          <a:noFill/>
          <a:ln/>
        </p:spPr>
        <p:txBody>
          <a:bodyPr wrap="square" lIns="0" tIns="0" rIns="0" bIns="0" rtlCol="0" anchor="t"/>
          <a:lstStyle/>
          <a:p>
            <a:pPr marL="0" indent="0" algn="l">
              <a:lnSpc>
                <a:spcPts val="1100"/>
              </a:lnSpc>
              <a:buNone/>
            </a:pPr>
            <a:r>
              <a:rPr lang="en-US" sz="850" dirty="0">
                <a:solidFill>
                  <a:srgbClr val="5B7284"/>
                </a:solidFill>
                <a:latin typeface="Calibri" pitchFamily="34" charset="0"/>
                <a:ea typeface="Calibri" pitchFamily="34" charset="-122"/>
                <a:cs typeface="Calibri" pitchFamily="34" charset="-120"/>
              </a:rPr>
              <a:t>Use the Logistic Regression model (63.5% accuracy, beats the 59.8% baseline) as a supporting signal, not a diagnosis.</a:t>
            </a:r>
          </a:p>
        </p:txBody>
      </p:sp>
      <p:sp>
        <p:nvSpPr>
          <p:cNvPr id="46" name="Text"/>
          <p:cNvSpPr/>
          <p:nvPr/>
        </p:nvSpPr>
        <p:spPr>
          <a:xfrm>
            <a:off x="548640" y="6270000"/>
            <a:ext cx="10515600" cy="350000"/>
          </a:xfrm>
          <a:prstGeom prst="rect">
            <a:avLst/>
          </a:prstGeom>
          <a:noFill/>
          <a:ln/>
        </p:spPr>
        <p:txBody>
          <a:bodyPr wrap="square" lIns="0" tIns="0" rIns="0" bIns="0" rtlCol="0" anchor="ctr"/>
          <a:lstStyle/>
          <a:p>
            <a:pPr marL="0" indent="0" algn="l">
              <a:buNone/>
            </a:pPr>
            <a:r>
              <a:rPr lang="en-US" sz="950" i="1" dirty="0">
                <a:solidFill>
                  <a:srgbClr val="5B7284"/>
                </a:solidFill>
                <a:latin typeface="Calibri" pitchFamily="34" charset="0"/>
                <a:ea typeface="Calibri" pitchFamily="34" charset="-122"/>
                <a:cs typeface="Calibri" pitchFamily="34" charset="-120"/>
              </a:rPr>
              <a:t>These are population-health monitoring recommendations — not individual medical advice.</a:t>
            </a:r>
          </a:p>
        </p:txBody>
      </p:sp>
      <p:sp>
        <p:nvSpPr>
          <p:cNvPr id="47"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Recommendations</a:t>
            </a:r>
          </a:p>
        </p:txBody>
      </p:sp>
      <p:sp>
        <p:nvSpPr>
          <p:cNvPr id="48"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40 / 45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3072384"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3072384"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PROJECT VALUE</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An End-to-End Analytics Solution</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Five layers of value, from describing what happened to letting people act on it.</a:t>
            </a:r>
          </a:p>
        </p:txBody>
      </p:sp>
      <p:sp>
        <p:nvSpPr>
          <p:cNvPr id="6" name="Shape"/>
          <p:cNvSpPr/>
          <p:nvPr/>
        </p:nvSpPr>
        <p:spPr>
          <a:xfrm>
            <a:off x="548640" y="1950000"/>
            <a:ext cx="10515600" cy="780000"/>
          </a:xfrm>
          <a:prstGeom prst="roundRect">
            <a:avLst>
              <a:gd name="adj" fmla="val 3000"/>
            </a:avLst>
          </a:prstGeom>
          <a:solidFill>
            <a:srgbClr val="FFFFFF"/>
          </a:solidFill>
          <a:ln w="6350">
            <a:solidFill>
              <a:srgbClr val="D7E4EC"/>
            </a:solidFill>
            <a:prstDash val="solid"/>
          </a:ln>
        </p:spPr>
        <p:txBody>
          <a:bodyPr/>
          <a:lstStyle/>
          <a:p>
            <a:endParaRPr lang="en-US"/>
          </a:p>
        </p:txBody>
      </p:sp>
      <p:sp>
        <p:nvSpPr>
          <p:cNvPr id="7" name="Text"/>
          <p:cNvSpPr/>
          <p:nvPr/>
        </p:nvSpPr>
        <p:spPr>
          <a:xfrm>
            <a:off x="728640" y="1950000"/>
            <a:ext cx="3200000" cy="78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Descriptive Analytics</a:t>
            </a:r>
          </a:p>
        </p:txBody>
      </p:sp>
      <p:sp>
        <p:nvSpPr>
          <p:cNvPr id="8" name="Text"/>
          <p:cNvSpPr/>
          <p:nvPr/>
        </p:nvSpPr>
        <p:spPr>
          <a:xfrm>
            <a:off x="4048640" y="1950000"/>
            <a:ext cx="2600000" cy="780000"/>
          </a:xfrm>
          <a:prstGeom prst="rect">
            <a:avLst/>
          </a:prstGeom>
          <a:noFill/>
          <a:ln/>
        </p:spPr>
        <p:txBody>
          <a:bodyPr wrap="square" lIns="0" tIns="0" rIns="0" bIns="0" rtlCol="0" anchor="ctr"/>
          <a:lstStyle/>
          <a:p>
            <a:pPr marL="0" indent="0" algn="l">
              <a:buNone/>
            </a:pPr>
            <a:r>
              <a:rPr lang="en-US" sz="1000" i="1" dirty="0">
                <a:solidFill>
                  <a:srgbClr val="12283F"/>
                </a:solidFill>
                <a:latin typeface="Calibri" pitchFamily="34" charset="0"/>
                <a:ea typeface="Calibri" pitchFamily="34" charset="-122"/>
                <a:cs typeface="Calibri" pitchFamily="34" charset="-120"/>
              </a:rPr>
              <a:t>What is happening?</a:t>
            </a:r>
          </a:p>
        </p:txBody>
      </p:sp>
      <p:sp>
        <p:nvSpPr>
          <p:cNvPr id="9" name="Text"/>
          <p:cNvSpPr/>
          <p:nvPr/>
        </p:nvSpPr>
        <p:spPr>
          <a:xfrm>
            <a:off x="6798640" y="1950000"/>
            <a:ext cx="4115600" cy="780000"/>
          </a:xfrm>
          <a:prstGeom prst="rect">
            <a:avLst/>
          </a:prstGeom>
          <a:noFill/>
          <a:ln/>
        </p:spPr>
        <p:txBody>
          <a:bodyPr wrap="square" lIns="0" tIns="0" rIns="0" bIns="0" rtlCol="0" anchor="ctr"/>
          <a:lstStyle/>
          <a:p>
            <a:pPr marL="0" indent="0" algn="l">
              <a:lnSpc>
                <a:spcPts val="1200"/>
              </a:lnSpc>
              <a:buNone/>
            </a:pPr>
            <a:r>
              <a:rPr lang="en-US" sz="950" dirty="0">
                <a:solidFill>
                  <a:srgbClr val="5B7284"/>
                </a:solidFill>
                <a:latin typeface="Calibri" pitchFamily="34" charset="0"/>
                <a:ea typeface="Calibri" pitchFamily="34" charset="-122"/>
                <a:cs typeface="Calibri" pitchFamily="34" charset="-120"/>
              </a:rPr>
              <a:t>Excel, Power BI, and Tableau dashboards summarize the population's health profile.</a:t>
            </a:r>
          </a:p>
        </p:txBody>
      </p:sp>
      <p:sp>
        <p:nvSpPr>
          <p:cNvPr id="10" name="Shape"/>
          <p:cNvSpPr/>
          <p:nvPr/>
        </p:nvSpPr>
        <p:spPr>
          <a:xfrm>
            <a:off x="548640" y="2790000"/>
            <a:ext cx="10515600" cy="780000"/>
          </a:xfrm>
          <a:prstGeom prst="roundRect">
            <a:avLst>
              <a:gd name="adj" fmla="val 3000"/>
            </a:avLst>
          </a:prstGeom>
          <a:solidFill>
            <a:srgbClr val="EAF3F8"/>
          </a:solidFill>
          <a:ln w="6350">
            <a:solidFill>
              <a:srgbClr val="D7E4EC"/>
            </a:solidFill>
            <a:prstDash val="solid"/>
          </a:ln>
        </p:spPr>
        <p:txBody>
          <a:bodyPr/>
          <a:lstStyle/>
          <a:p>
            <a:endParaRPr lang="en-US"/>
          </a:p>
        </p:txBody>
      </p:sp>
      <p:sp>
        <p:nvSpPr>
          <p:cNvPr id="11" name="Text"/>
          <p:cNvSpPr/>
          <p:nvPr/>
        </p:nvSpPr>
        <p:spPr>
          <a:xfrm>
            <a:off x="728640" y="2790000"/>
            <a:ext cx="3200000" cy="78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Diagnostic / Comparative Analysis</a:t>
            </a:r>
          </a:p>
        </p:txBody>
      </p:sp>
      <p:sp>
        <p:nvSpPr>
          <p:cNvPr id="12" name="Text"/>
          <p:cNvSpPr/>
          <p:nvPr/>
        </p:nvSpPr>
        <p:spPr>
          <a:xfrm>
            <a:off x="4048640" y="2790000"/>
            <a:ext cx="2600000" cy="780000"/>
          </a:xfrm>
          <a:prstGeom prst="rect">
            <a:avLst/>
          </a:prstGeom>
          <a:noFill/>
          <a:ln/>
        </p:spPr>
        <p:txBody>
          <a:bodyPr wrap="square" lIns="0" tIns="0" rIns="0" bIns="0" rtlCol="0" anchor="ctr"/>
          <a:lstStyle/>
          <a:p>
            <a:pPr marL="0" indent="0" algn="l">
              <a:buNone/>
            </a:pPr>
            <a:r>
              <a:rPr lang="en-US" sz="1000" i="1" dirty="0">
                <a:solidFill>
                  <a:srgbClr val="12283F"/>
                </a:solidFill>
                <a:latin typeface="Calibri" pitchFamily="34" charset="0"/>
                <a:ea typeface="Calibri" pitchFamily="34" charset="-122"/>
                <a:cs typeface="Calibri" pitchFamily="34" charset="-120"/>
              </a:rPr>
              <a:t>Where are the differences?</a:t>
            </a:r>
          </a:p>
        </p:txBody>
      </p:sp>
      <p:sp>
        <p:nvSpPr>
          <p:cNvPr id="13" name="Text"/>
          <p:cNvSpPr/>
          <p:nvPr/>
        </p:nvSpPr>
        <p:spPr>
          <a:xfrm>
            <a:off x="6798640" y="2790000"/>
            <a:ext cx="4115600" cy="780000"/>
          </a:xfrm>
          <a:prstGeom prst="rect">
            <a:avLst/>
          </a:prstGeom>
          <a:noFill/>
          <a:ln/>
        </p:spPr>
        <p:txBody>
          <a:bodyPr wrap="square" lIns="0" tIns="0" rIns="0" bIns="0" rtlCol="0" anchor="ctr"/>
          <a:lstStyle/>
          <a:p>
            <a:pPr marL="0" indent="0" algn="l">
              <a:lnSpc>
                <a:spcPts val="1200"/>
              </a:lnSpc>
              <a:buNone/>
            </a:pPr>
            <a:r>
              <a:rPr lang="en-US" sz="950" dirty="0">
                <a:solidFill>
                  <a:srgbClr val="5B7284"/>
                </a:solidFill>
                <a:latin typeface="Calibri" pitchFamily="34" charset="0"/>
                <a:ea typeface="Calibri" pitchFamily="34" charset="-122"/>
                <a:cs typeface="Calibri" pitchFamily="34" charset="-120"/>
              </a:rPr>
              <a:t>SQL business questions and chart breakdowns compare groups by age, smoking, and activity.</a:t>
            </a:r>
          </a:p>
        </p:txBody>
      </p:sp>
      <p:sp>
        <p:nvSpPr>
          <p:cNvPr id="14" name="Shape"/>
          <p:cNvSpPr/>
          <p:nvPr/>
        </p:nvSpPr>
        <p:spPr>
          <a:xfrm>
            <a:off x="548640" y="3630000"/>
            <a:ext cx="10515600" cy="780000"/>
          </a:xfrm>
          <a:prstGeom prst="roundRect">
            <a:avLst>
              <a:gd name="adj" fmla="val 3000"/>
            </a:avLst>
          </a:prstGeom>
          <a:solidFill>
            <a:srgbClr val="FFFFFF"/>
          </a:solidFill>
          <a:ln w="6350">
            <a:solidFill>
              <a:srgbClr val="D7E4EC"/>
            </a:solidFill>
            <a:prstDash val="solid"/>
          </a:ln>
        </p:spPr>
        <p:txBody>
          <a:bodyPr/>
          <a:lstStyle/>
          <a:p>
            <a:endParaRPr lang="en-US"/>
          </a:p>
        </p:txBody>
      </p:sp>
      <p:sp>
        <p:nvSpPr>
          <p:cNvPr id="15" name="Text"/>
          <p:cNvSpPr/>
          <p:nvPr/>
        </p:nvSpPr>
        <p:spPr>
          <a:xfrm>
            <a:off x="728640" y="3630000"/>
            <a:ext cx="3200000" cy="78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Predictive Analytics</a:t>
            </a:r>
          </a:p>
        </p:txBody>
      </p:sp>
      <p:sp>
        <p:nvSpPr>
          <p:cNvPr id="16" name="Text"/>
          <p:cNvSpPr/>
          <p:nvPr/>
        </p:nvSpPr>
        <p:spPr>
          <a:xfrm>
            <a:off x="4048640" y="3630000"/>
            <a:ext cx="2600000" cy="780000"/>
          </a:xfrm>
          <a:prstGeom prst="rect">
            <a:avLst/>
          </a:prstGeom>
          <a:noFill/>
          <a:ln/>
        </p:spPr>
        <p:txBody>
          <a:bodyPr wrap="square" lIns="0" tIns="0" rIns="0" bIns="0" rtlCol="0" anchor="ctr"/>
          <a:lstStyle/>
          <a:p>
            <a:pPr marL="0" indent="0" algn="l">
              <a:buNone/>
            </a:pPr>
            <a:r>
              <a:rPr lang="en-US" sz="1000" i="1" dirty="0">
                <a:solidFill>
                  <a:srgbClr val="12283F"/>
                </a:solidFill>
                <a:latin typeface="Calibri" pitchFamily="34" charset="0"/>
                <a:ea typeface="Calibri" pitchFamily="34" charset="-122"/>
                <a:cs typeface="Calibri" pitchFamily="34" charset="-120"/>
              </a:rPr>
              <a:t>Can risk be predicted?</a:t>
            </a:r>
          </a:p>
        </p:txBody>
      </p:sp>
      <p:sp>
        <p:nvSpPr>
          <p:cNvPr id="17" name="Text"/>
          <p:cNvSpPr/>
          <p:nvPr/>
        </p:nvSpPr>
        <p:spPr>
          <a:xfrm>
            <a:off x="6798640" y="3630000"/>
            <a:ext cx="4115600" cy="780000"/>
          </a:xfrm>
          <a:prstGeom prst="rect">
            <a:avLst/>
          </a:prstGeom>
          <a:noFill/>
          <a:ln/>
        </p:spPr>
        <p:txBody>
          <a:bodyPr wrap="square" lIns="0" tIns="0" rIns="0" bIns="0" rtlCol="0" anchor="ctr"/>
          <a:lstStyle/>
          <a:p>
            <a:pPr marL="0" indent="0" algn="l">
              <a:lnSpc>
                <a:spcPts val="1200"/>
              </a:lnSpc>
              <a:buNone/>
            </a:pPr>
            <a:r>
              <a:rPr lang="en-US" sz="950" dirty="0">
                <a:solidFill>
                  <a:srgbClr val="5B7284"/>
                </a:solidFill>
                <a:latin typeface="Calibri" pitchFamily="34" charset="0"/>
                <a:ea typeface="Calibri" pitchFamily="34" charset="-122"/>
                <a:cs typeface="Calibri" pitchFamily="34" charset="-120"/>
              </a:rPr>
              <a:t>Python classification models flag higher-risk profiles from the engineered features.</a:t>
            </a:r>
          </a:p>
        </p:txBody>
      </p:sp>
      <p:sp>
        <p:nvSpPr>
          <p:cNvPr id="18" name="Shape"/>
          <p:cNvSpPr/>
          <p:nvPr/>
        </p:nvSpPr>
        <p:spPr>
          <a:xfrm>
            <a:off x="548640" y="4470000"/>
            <a:ext cx="10515600" cy="780000"/>
          </a:xfrm>
          <a:prstGeom prst="roundRect">
            <a:avLst>
              <a:gd name="adj" fmla="val 3000"/>
            </a:avLst>
          </a:prstGeom>
          <a:solidFill>
            <a:srgbClr val="EAF3F8"/>
          </a:solidFill>
          <a:ln w="6350">
            <a:solidFill>
              <a:srgbClr val="D7E4EC"/>
            </a:solidFill>
            <a:prstDash val="solid"/>
          </a:ln>
        </p:spPr>
        <p:txBody>
          <a:bodyPr/>
          <a:lstStyle/>
          <a:p>
            <a:endParaRPr lang="en-US"/>
          </a:p>
        </p:txBody>
      </p:sp>
      <p:sp>
        <p:nvSpPr>
          <p:cNvPr id="19" name="Text"/>
          <p:cNvSpPr/>
          <p:nvPr/>
        </p:nvSpPr>
        <p:spPr>
          <a:xfrm>
            <a:off x="728640" y="4470000"/>
            <a:ext cx="3200000" cy="78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Business Intelligence</a:t>
            </a:r>
          </a:p>
        </p:txBody>
      </p:sp>
      <p:sp>
        <p:nvSpPr>
          <p:cNvPr id="20" name="Text"/>
          <p:cNvSpPr/>
          <p:nvPr/>
        </p:nvSpPr>
        <p:spPr>
          <a:xfrm>
            <a:off x="4048640" y="4470000"/>
            <a:ext cx="2600000" cy="780000"/>
          </a:xfrm>
          <a:prstGeom prst="rect">
            <a:avLst/>
          </a:prstGeom>
          <a:noFill/>
          <a:ln/>
        </p:spPr>
        <p:txBody>
          <a:bodyPr wrap="square" lIns="0" tIns="0" rIns="0" bIns="0" rtlCol="0" anchor="ctr"/>
          <a:lstStyle/>
          <a:p>
            <a:pPr marL="0" indent="0" algn="l">
              <a:buNone/>
            </a:pPr>
            <a:r>
              <a:rPr lang="en-US" sz="1000" i="1" dirty="0">
                <a:solidFill>
                  <a:srgbClr val="12283F"/>
                </a:solidFill>
                <a:latin typeface="Calibri" pitchFamily="34" charset="0"/>
                <a:ea typeface="Calibri" pitchFamily="34" charset="-122"/>
                <a:cs typeface="Calibri" pitchFamily="34" charset="-120"/>
              </a:rPr>
              <a:t>Can decision-makers explore the results?</a:t>
            </a:r>
          </a:p>
        </p:txBody>
      </p:sp>
      <p:sp>
        <p:nvSpPr>
          <p:cNvPr id="21" name="Text"/>
          <p:cNvSpPr/>
          <p:nvPr/>
        </p:nvSpPr>
        <p:spPr>
          <a:xfrm>
            <a:off x="6798640" y="4470000"/>
            <a:ext cx="4115600" cy="780000"/>
          </a:xfrm>
          <a:prstGeom prst="rect">
            <a:avLst/>
          </a:prstGeom>
          <a:noFill/>
          <a:ln/>
        </p:spPr>
        <p:txBody>
          <a:bodyPr wrap="square" lIns="0" tIns="0" rIns="0" bIns="0" rtlCol="0" anchor="ctr"/>
          <a:lstStyle/>
          <a:p>
            <a:pPr marL="0" indent="0" algn="l">
              <a:lnSpc>
                <a:spcPts val="1200"/>
              </a:lnSpc>
              <a:buNone/>
            </a:pPr>
            <a:r>
              <a:rPr lang="en-US" sz="950" dirty="0">
                <a:solidFill>
                  <a:srgbClr val="5B7284"/>
                </a:solidFill>
                <a:latin typeface="Calibri" pitchFamily="34" charset="0"/>
                <a:ea typeface="Calibri" pitchFamily="34" charset="-122"/>
                <a:cs typeface="Calibri" pitchFamily="34" charset="-120"/>
              </a:rPr>
              <a:t>Interactive Power BI and Tableau filtering supports self-service exploration.</a:t>
            </a:r>
          </a:p>
        </p:txBody>
      </p:sp>
      <p:sp>
        <p:nvSpPr>
          <p:cNvPr id="22" name="Shape"/>
          <p:cNvSpPr/>
          <p:nvPr/>
        </p:nvSpPr>
        <p:spPr>
          <a:xfrm>
            <a:off x="548640" y="5310000"/>
            <a:ext cx="10515600" cy="780000"/>
          </a:xfrm>
          <a:prstGeom prst="roundRect">
            <a:avLst>
              <a:gd name="adj" fmla="val 3000"/>
            </a:avLst>
          </a:prstGeom>
          <a:solidFill>
            <a:srgbClr val="FFFFFF"/>
          </a:solidFill>
          <a:ln w="6350">
            <a:solidFill>
              <a:srgbClr val="D7E4EC"/>
            </a:solidFill>
            <a:prstDash val="solid"/>
          </a:ln>
        </p:spPr>
        <p:txBody>
          <a:bodyPr/>
          <a:lstStyle/>
          <a:p>
            <a:endParaRPr lang="en-US"/>
          </a:p>
        </p:txBody>
      </p:sp>
      <p:sp>
        <p:nvSpPr>
          <p:cNvPr id="23" name="Text"/>
          <p:cNvSpPr/>
          <p:nvPr/>
        </p:nvSpPr>
        <p:spPr>
          <a:xfrm>
            <a:off x="728640" y="5310000"/>
            <a:ext cx="3200000" cy="780000"/>
          </a:xfrm>
          <a:prstGeom prst="rect">
            <a:avLst/>
          </a:prstGeom>
          <a:noFill/>
          <a:ln/>
        </p:spPr>
        <p:txBody>
          <a:bodyPr wrap="square" lIns="0" tIns="0" rIns="0" bIns="0" rtlCol="0" anchor="ctr"/>
          <a:lstStyle/>
          <a:p>
            <a:pPr marL="0" indent="0" algn="l">
              <a:buNone/>
            </a:pPr>
            <a:r>
              <a:rPr lang="en-US" sz="1150" b="1" dirty="0">
                <a:solidFill>
                  <a:srgbClr val="1C7293"/>
                </a:solidFill>
                <a:latin typeface="Cambria" pitchFamily="34" charset="0"/>
                <a:ea typeface="Cambria" pitchFamily="34" charset="-122"/>
                <a:cs typeface="Cambria" pitchFamily="34" charset="-120"/>
              </a:rPr>
              <a:t>Application</a:t>
            </a:r>
          </a:p>
        </p:txBody>
      </p:sp>
      <p:sp>
        <p:nvSpPr>
          <p:cNvPr id="24" name="Text"/>
          <p:cNvSpPr/>
          <p:nvPr/>
        </p:nvSpPr>
        <p:spPr>
          <a:xfrm>
            <a:off x="4048640" y="5310000"/>
            <a:ext cx="2600000" cy="780000"/>
          </a:xfrm>
          <a:prstGeom prst="rect">
            <a:avLst/>
          </a:prstGeom>
          <a:noFill/>
          <a:ln/>
        </p:spPr>
        <p:txBody>
          <a:bodyPr wrap="square" lIns="0" tIns="0" rIns="0" bIns="0" rtlCol="0" anchor="ctr"/>
          <a:lstStyle/>
          <a:p>
            <a:pPr marL="0" indent="0" algn="l">
              <a:buNone/>
            </a:pPr>
            <a:r>
              <a:rPr lang="en-US" sz="1000" i="1" dirty="0">
                <a:solidFill>
                  <a:srgbClr val="12283F"/>
                </a:solidFill>
                <a:latin typeface="Calibri" pitchFamily="34" charset="0"/>
                <a:ea typeface="Calibri" pitchFamily="34" charset="-122"/>
                <a:cs typeface="Calibri" pitchFamily="34" charset="-120"/>
              </a:rPr>
              <a:t>Can users interact with it directly?</a:t>
            </a:r>
          </a:p>
        </p:txBody>
      </p:sp>
      <p:sp>
        <p:nvSpPr>
          <p:cNvPr id="25" name="Text"/>
          <p:cNvSpPr/>
          <p:nvPr/>
        </p:nvSpPr>
        <p:spPr>
          <a:xfrm>
            <a:off x="6798640" y="5310000"/>
            <a:ext cx="4115600" cy="780000"/>
          </a:xfrm>
          <a:prstGeom prst="rect">
            <a:avLst/>
          </a:prstGeom>
          <a:noFill/>
          <a:ln/>
        </p:spPr>
        <p:txBody>
          <a:bodyPr wrap="square" lIns="0" tIns="0" rIns="0" bIns="0" rtlCol="0" anchor="ctr"/>
          <a:lstStyle/>
          <a:p>
            <a:pPr marL="0" indent="0" algn="l">
              <a:lnSpc>
                <a:spcPts val="1200"/>
              </a:lnSpc>
              <a:buNone/>
            </a:pPr>
            <a:r>
              <a:rPr lang="en-US" sz="950" dirty="0">
                <a:solidFill>
                  <a:srgbClr val="5B7284"/>
                </a:solidFill>
                <a:latin typeface="Calibri" pitchFamily="34" charset="0"/>
                <a:ea typeface="Calibri" pitchFamily="34" charset="-122"/>
                <a:cs typeface="Calibri" pitchFamily="34" charset="-120"/>
              </a:rPr>
              <a:t>The Streamlit app puts the analysis in a browser — no BI license required.</a:t>
            </a:r>
          </a:p>
        </p:txBody>
      </p:sp>
      <p:sp>
        <p:nvSpPr>
          <p:cNvPr id="26"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Project Value</a:t>
            </a:r>
          </a:p>
        </p:txBody>
      </p:sp>
      <p:sp>
        <p:nvSpPr>
          <p:cNvPr id="27"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41 / 45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2468880"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2468880"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TECH STACK</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Tools Behind the Analysis</a:t>
            </a:r>
          </a:p>
        </p:txBody>
      </p:sp>
      <p:sp>
        <p:nvSpPr>
          <p:cNvPr id="5" name="Text"/>
          <p:cNvSpPr/>
          <p:nvPr/>
        </p:nvSpPr>
        <p:spPr>
          <a:xfrm>
            <a:off x="548640" y="1371600"/>
            <a:ext cx="10515600" cy="365760"/>
          </a:xfrm>
          <a:prstGeom prst="rect">
            <a:avLst/>
          </a:prstGeom>
          <a:noFill/>
          <a:ln/>
        </p:spPr>
        <p:txBody>
          <a:bodyPr wrap="square" lIns="0" tIns="0" rIns="0" bIns="0" rtlCol="0" anchor="ctr"/>
          <a:lstStyle/>
          <a:p>
            <a:pPr marL="0" indent="0" algn="l">
              <a:buNone/>
            </a:pPr>
            <a:r>
              <a:rPr lang="en-US" sz="1300" dirty="0">
                <a:solidFill>
                  <a:srgbClr val="5B7284"/>
                </a:solidFill>
                <a:latin typeface="Calibri" pitchFamily="34" charset="0"/>
                <a:ea typeface="Calibri" pitchFamily="34" charset="-122"/>
                <a:cs typeface="Calibri" pitchFamily="34" charset="-120"/>
              </a:rPr>
              <a:t>Six tools, one continuous pipeline from raw data to an interactive app.</a:t>
            </a:r>
          </a:p>
        </p:txBody>
      </p:sp>
      <p:sp>
        <p:nvSpPr>
          <p:cNvPr id="6" name="Shape"/>
          <p:cNvSpPr/>
          <p:nvPr/>
        </p:nvSpPr>
        <p:spPr>
          <a:xfrm>
            <a:off x="548640" y="2050000"/>
            <a:ext cx="3358533" cy="1900000"/>
          </a:xfrm>
          <a:prstGeom prst="roundRect">
            <a:avLst>
              <a:gd name="adj" fmla="val 6000"/>
            </a:avLst>
          </a:prstGeom>
          <a:solidFill>
            <a:srgbClr val="12283F"/>
          </a:solidFill>
          <a:ln>
            <a:noFill/>
          </a:ln>
        </p:spPr>
        <p:txBody>
          <a:bodyPr/>
          <a:lstStyle/>
          <a:p>
            <a:endParaRPr lang="en-US"/>
          </a:p>
        </p:txBody>
      </p:sp>
      <p:sp>
        <p:nvSpPr>
          <p:cNvPr id="7" name="Text"/>
          <p:cNvSpPr/>
          <p:nvPr/>
        </p:nvSpPr>
        <p:spPr>
          <a:xfrm>
            <a:off x="698640" y="2270000"/>
            <a:ext cx="3058533" cy="50000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Python</a:t>
            </a:r>
          </a:p>
        </p:txBody>
      </p:sp>
      <p:sp>
        <p:nvSpPr>
          <p:cNvPr id="8" name="Line"/>
          <p:cNvSpPr/>
          <p:nvPr/>
        </p:nvSpPr>
        <p:spPr>
          <a:xfrm>
            <a:off x="698640" y="2900000"/>
            <a:ext cx="3058533" cy="0"/>
          </a:xfrm>
          <a:prstGeom prst="line">
            <a:avLst/>
          </a:prstGeom>
          <a:noFill/>
          <a:ln w="12700">
            <a:solidFill>
              <a:srgbClr val="2C4A66"/>
            </a:solidFill>
            <a:prstDash val="solid"/>
          </a:ln>
        </p:spPr>
        <p:txBody>
          <a:bodyPr/>
          <a:lstStyle/>
          <a:p>
            <a:endParaRPr lang="en-US"/>
          </a:p>
        </p:txBody>
      </p:sp>
      <p:sp>
        <p:nvSpPr>
          <p:cNvPr id="9" name="Text"/>
          <p:cNvSpPr/>
          <p:nvPr/>
        </p:nvSpPr>
        <p:spPr>
          <a:xfrm>
            <a:off x="698640" y="3030000"/>
            <a:ext cx="3058533" cy="800000"/>
          </a:xfrm>
          <a:prstGeom prst="rect">
            <a:avLst/>
          </a:prstGeom>
          <a:noFill/>
          <a:ln/>
        </p:spPr>
        <p:txBody>
          <a:bodyPr wrap="square" lIns="0" tIns="0" rIns="0" bIns="0" rtlCol="0" anchor="t"/>
          <a:lstStyle/>
          <a:p>
            <a:pPr marL="0" indent="0" algn="l">
              <a:lnSpc>
                <a:spcPts val="1300"/>
              </a:lnSpc>
              <a:buNone/>
            </a:pPr>
            <a:r>
              <a:rPr lang="en-US" sz="1000" dirty="0">
                <a:solidFill>
                  <a:srgbClr val="C7D6E2"/>
                </a:solidFill>
                <a:latin typeface="Calibri" pitchFamily="34" charset="0"/>
                <a:ea typeface="Calibri" pitchFamily="34" charset="-122"/>
                <a:cs typeface="Calibri" pitchFamily="34" charset="-120"/>
              </a:rPr>
              <a:t>Data cleaning, preprocessing, and machine learning</a:t>
            </a:r>
          </a:p>
        </p:txBody>
      </p:sp>
      <p:sp>
        <p:nvSpPr>
          <p:cNvPr id="10" name="Shape"/>
          <p:cNvSpPr/>
          <p:nvPr/>
        </p:nvSpPr>
        <p:spPr>
          <a:xfrm>
            <a:off x="4127173" y="2050000"/>
            <a:ext cx="3358533" cy="1900000"/>
          </a:xfrm>
          <a:prstGeom prst="roundRect">
            <a:avLst>
              <a:gd name="adj" fmla="val 6000"/>
            </a:avLst>
          </a:prstGeom>
          <a:solidFill>
            <a:srgbClr val="12283F"/>
          </a:solidFill>
          <a:ln>
            <a:noFill/>
          </a:ln>
        </p:spPr>
        <p:txBody>
          <a:bodyPr/>
          <a:lstStyle/>
          <a:p>
            <a:endParaRPr lang="en-US"/>
          </a:p>
        </p:txBody>
      </p:sp>
      <p:sp>
        <p:nvSpPr>
          <p:cNvPr id="11" name="Text"/>
          <p:cNvSpPr/>
          <p:nvPr/>
        </p:nvSpPr>
        <p:spPr>
          <a:xfrm>
            <a:off x="4277173" y="2270000"/>
            <a:ext cx="3058533" cy="50000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SQL Server</a:t>
            </a:r>
          </a:p>
        </p:txBody>
      </p:sp>
      <p:sp>
        <p:nvSpPr>
          <p:cNvPr id="12" name="Line"/>
          <p:cNvSpPr/>
          <p:nvPr/>
        </p:nvSpPr>
        <p:spPr>
          <a:xfrm>
            <a:off x="4277173" y="2900000"/>
            <a:ext cx="3058533" cy="0"/>
          </a:xfrm>
          <a:prstGeom prst="line">
            <a:avLst/>
          </a:prstGeom>
          <a:noFill/>
          <a:ln w="12700">
            <a:solidFill>
              <a:srgbClr val="2C4A66"/>
            </a:solidFill>
            <a:prstDash val="solid"/>
          </a:ln>
        </p:spPr>
        <p:txBody>
          <a:bodyPr/>
          <a:lstStyle/>
          <a:p>
            <a:endParaRPr lang="en-US"/>
          </a:p>
        </p:txBody>
      </p:sp>
      <p:sp>
        <p:nvSpPr>
          <p:cNvPr id="13" name="Text"/>
          <p:cNvSpPr/>
          <p:nvPr/>
        </p:nvSpPr>
        <p:spPr>
          <a:xfrm>
            <a:off x="4277173" y="3030000"/>
            <a:ext cx="3058533" cy="800000"/>
          </a:xfrm>
          <a:prstGeom prst="rect">
            <a:avLst/>
          </a:prstGeom>
          <a:noFill/>
          <a:ln/>
        </p:spPr>
        <p:txBody>
          <a:bodyPr wrap="square" lIns="0" tIns="0" rIns="0" bIns="0" rtlCol="0" anchor="t"/>
          <a:lstStyle/>
          <a:p>
            <a:pPr marL="0" indent="0" algn="l">
              <a:lnSpc>
                <a:spcPts val="1300"/>
              </a:lnSpc>
              <a:buNone/>
            </a:pPr>
            <a:r>
              <a:rPr lang="en-US" sz="1000" dirty="0">
                <a:solidFill>
                  <a:srgbClr val="C7D6E2"/>
                </a:solidFill>
                <a:latin typeface="Calibri" pitchFamily="34" charset="0"/>
                <a:ea typeface="Calibri" pitchFamily="34" charset="-122"/>
                <a:cs typeface="Calibri" pitchFamily="34" charset="-120"/>
              </a:rPr>
              <a:t>Structured querying to answer business questions</a:t>
            </a:r>
          </a:p>
        </p:txBody>
      </p:sp>
      <p:sp>
        <p:nvSpPr>
          <p:cNvPr id="14" name="Shape"/>
          <p:cNvSpPr/>
          <p:nvPr/>
        </p:nvSpPr>
        <p:spPr>
          <a:xfrm>
            <a:off x="7705706" y="2050000"/>
            <a:ext cx="3358533" cy="1900000"/>
          </a:xfrm>
          <a:prstGeom prst="roundRect">
            <a:avLst>
              <a:gd name="adj" fmla="val 6000"/>
            </a:avLst>
          </a:prstGeom>
          <a:solidFill>
            <a:srgbClr val="12283F"/>
          </a:solidFill>
          <a:ln>
            <a:noFill/>
          </a:ln>
        </p:spPr>
        <p:txBody>
          <a:bodyPr/>
          <a:lstStyle/>
          <a:p>
            <a:endParaRPr lang="en-US"/>
          </a:p>
        </p:txBody>
      </p:sp>
      <p:sp>
        <p:nvSpPr>
          <p:cNvPr id="15" name="Text"/>
          <p:cNvSpPr/>
          <p:nvPr/>
        </p:nvSpPr>
        <p:spPr>
          <a:xfrm>
            <a:off x="7855706" y="2270000"/>
            <a:ext cx="3058533" cy="50000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Excel</a:t>
            </a:r>
          </a:p>
        </p:txBody>
      </p:sp>
      <p:sp>
        <p:nvSpPr>
          <p:cNvPr id="16" name="Line"/>
          <p:cNvSpPr/>
          <p:nvPr/>
        </p:nvSpPr>
        <p:spPr>
          <a:xfrm>
            <a:off x="7855706" y="2900000"/>
            <a:ext cx="3058533" cy="0"/>
          </a:xfrm>
          <a:prstGeom prst="line">
            <a:avLst/>
          </a:prstGeom>
          <a:noFill/>
          <a:ln w="12700">
            <a:solidFill>
              <a:srgbClr val="2C4A66"/>
            </a:solidFill>
            <a:prstDash val="solid"/>
          </a:ln>
        </p:spPr>
        <p:txBody>
          <a:bodyPr/>
          <a:lstStyle/>
          <a:p>
            <a:endParaRPr lang="en-US"/>
          </a:p>
        </p:txBody>
      </p:sp>
      <p:sp>
        <p:nvSpPr>
          <p:cNvPr id="17" name="Text"/>
          <p:cNvSpPr/>
          <p:nvPr/>
        </p:nvSpPr>
        <p:spPr>
          <a:xfrm>
            <a:off x="7855706" y="3030000"/>
            <a:ext cx="3058533" cy="800000"/>
          </a:xfrm>
          <a:prstGeom prst="rect">
            <a:avLst/>
          </a:prstGeom>
          <a:noFill/>
          <a:ln/>
        </p:spPr>
        <p:txBody>
          <a:bodyPr wrap="square" lIns="0" tIns="0" rIns="0" bIns="0" rtlCol="0" anchor="t"/>
          <a:lstStyle/>
          <a:p>
            <a:pPr marL="0" indent="0" algn="l">
              <a:lnSpc>
                <a:spcPts val="1300"/>
              </a:lnSpc>
              <a:buNone/>
            </a:pPr>
            <a:r>
              <a:rPr lang="en-US" sz="1000" dirty="0">
                <a:solidFill>
                  <a:srgbClr val="C7D6E2"/>
                </a:solidFill>
                <a:latin typeface="Calibri" pitchFamily="34" charset="0"/>
                <a:ea typeface="Calibri" pitchFamily="34" charset="-122"/>
                <a:cs typeface="Calibri" pitchFamily="34" charset="-120"/>
              </a:rPr>
              <a:t>Health Overview dashboard and pivot-based analysis</a:t>
            </a:r>
          </a:p>
        </p:txBody>
      </p:sp>
      <p:sp>
        <p:nvSpPr>
          <p:cNvPr id="18" name="Shape"/>
          <p:cNvSpPr/>
          <p:nvPr/>
        </p:nvSpPr>
        <p:spPr>
          <a:xfrm>
            <a:off x="548640" y="4200000"/>
            <a:ext cx="3358533" cy="1900000"/>
          </a:xfrm>
          <a:prstGeom prst="roundRect">
            <a:avLst>
              <a:gd name="adj" fmla="val 6000"/>
            </a:avLst>
          </a:prstGeom>
          <a:solidFill>
            <a:srgbClr val="12283F"/>
          </a:solidFill>
          <a:ln>
            <a:noFill/>
          </a:ln>
        </p:spPr>
        <p:txBody>
          <a:bodyPr/>
          <a:lstStyle/>
          <a:p>
            <a:endParaRPr lang="en-US"/>
          </a:p>
        </p:txBody>
      </p:sp>
      <p:sp>
        <p:nvSpPr>
          <p:cNvPr id="19" name="Text"/>
          <p:cNvSpPr/>
          <p:nvPr/>
        </p:nvSpPr>
        <p:spPr>
          <a:xfrm>
            <a:off x="698640" y="4420000"/>
            <a:ext cx="3058533" cy="50000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Power BI</a:t>
            </a:r>
          </a:p>
        </p:txBody>
      </p:sp>
      <p:sp>
        <p:nvSpPr>
          <p:cNvPr id="20" name="Line"/>
          <p:cNvSpPr/>
          <p:nvPr/>
        </p:nvSpPr>
        <p:spPr>
          <a:xfrm>
            <a:off x="698640" y="5050000"/>
            <a:ext cx="3058533" cy="0"/>
          </a:xfrm>
          <a:prstGeom prst="line">
            <a:avLst/>
          </a:prstGeom>
          <a:noFill/>
          <a:ln w="12700">
            <a:solidFill>
              <a:srgbClr val="2C4A66"/>
            </a:solidFill>
            <a:prstDash val="solid"/>
          </a:ln>
        </p:spPr>
        <p:txBody>
          <a:bodyPr/>
          <a:lstStyle/>
          <a:p>
            <a:endParaRPr lang="en-US"/>
          </a:p>
        </p:txBody>
      </p:sp>
      <p:sp>
        <p:nvSpPr>
          <p:cNvPr id="21" name="Text"/>
          <p:cNvSpPr/>
          <p:nvPr/>
        </p:nvSpPr>
        <p:spPr>
          <a:xfrm>
            <a:off x="698640" y="5180000"/>
            <a:ext cx="3058533" cy="800000"/>
          </a:xfrm>
          <a:prstGeom prst="rect">
            <a:avLst/>
          </a:prstGeom>
          <a:noFill/>
          <a:ln/>
        </p:spPr>
        <p:txBody>
          <a:bodyPr wrap="square" lIns="0" tIns="0" rIns="0" bIns="0" rtlCol="0" anchor="t"/>
          <a:lstStyle/>
          <a:p>
            <a:pPr marL="0" indent="0" algn="l">
              <a:lnSpc>
                <a:spcPts val="1300"/>
              </a:lnSpc>
              <a:buNone/>
            </a:pPr>
            <a:r>
              <a:rPr lang="en-US" sz="1000" dirty="0">
                <a:solidFill>
                  <a:srgbClr val="C7D6E2"/>
                </a:solidFill>
                <a:latin typeface="Calibri" pitchFamily="34" charset="0"/>
                <a:ea typeface="Calibri" pitchFamily="34" charset="-122"/>
                <a:cs typeface="Calibri" pitchFamily="34" charset="-120"/>
              </a:rPr>
              <a:t>Interactive Cardiometabolic, Cholesterol, and Lifestyle dashboards</a:t>
            </a:r>
          </a:p>
        </p:txBody>
      </p:sp>
      <p:sp>
        <p:nvSpPr>
          <p:cNvPr id="22" name="Shape"/>
          <p:cNvSpPr/>
          <p:nvPr/>
        </p:nvSpPr>
        <p:spPr>
          <a:xfrm>
            <a:off x="4127173" y="4200000"/>
            <a:ext cx="3358533" cy="1900000"/>
          </a:xfrm>
          <a:prstGeom prst="roundRect">
            <a:avLst>
              <a:gd name="adj" fmla="val 6000"/>
            </a:avLst>
          </a:prstGeom>
          <a:solidFill>
            <a:srgbClr val="12283F"/>
          </a:solidFill>
          <a:ln>
            <a:noFill/>
          </a:ln>
        </p:spPr>
        <p:txBody>
          <a:bodyPr/>
          <a:lstStyle/>
          <a:p>
            <a:endParaRPr lang="en-US"/>
          </a:p>
        </p:txBody>
      </p:sp>
      <p:sp>
        <p:nvSpPr>
          <p:cNvPr id="23" name="Text"/>
          <p:cNvSpPr/>
          <p:nvPr/>
        </p:nvSpPr>
        <p:spPr>
          <a:xfrm>
            <a:off x="4277173" y="4420000"/>
            <a:ext cx="3058533" cy="50000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Tableau</a:t>
            </a:r>
          </a:p>
        </p:txBody>
      </p:sp>
      <p:sp>
        <p:nvSpPr>
          <p:cNvPr id="24" name="Line"/>
          <p:cNvSpPr/>
          <p:nvPr/>
        </p:nvSpPr>
        <p:spPr>
          <a:xfrm>
            <a:off x="4277173" y="5050000"/>
            <a:ext cx="3058533" cy="0"/>
          </a:xfrm>
          <a:prstGeom prst="line">
            <a:avLst/>
          </a:prstGeom>
          <a:noFill/>
          <a:ln w="12700">
            <a:solidFill>
              <a:srgbClr val="2C4A66"/>
            </a:solidFill>
            <a:prstDash val="solid"/>
          </a:ln>
        </p:spPr>
        <p:txBody>
          <a:bodyPr/>
          <a:lstStyle/>
          <a:p>
            <a:endParaRPr lang="en-US"/>
          </a:p>
        </p:txBody>
      </p:sp>
      <p:sp>
        <p:nvSpPr>
          <p:cNvPr id="25" name="Text"/>
          <p:cNvSpPr/>
          <p:nvPr/>
        </p:nvSpPr>
        <p:spPr>
          <a:xfrm>
            <a:off x="4277173" y="5180000"/>
            <a:ext cx="3058533" cy="800000"/>
          </a:xfrm>
          <a:prstGeom prst="rect">
            <a:avLst/>
          </a:prstGeom>
          <a:noFill/>
          <a:ln/>
        </p:spPr>
        <p:txBody>
          <a:bodyPr wrap="square" lIns="0" tIns="0" rIns="0" bIns="0" rtlCol="0" anchor="t"/>
          <a:lstStyle/>
          <a:p>
            <a:pPr marL="0" indent="0" algn="l">
              <a:lnSpc>
                <a:spcPts val="1300"/>
              </a:lnSpc>
              <a:buNone/>
            </a:pPr>
            <a:r>
              <a:rPr lang="en-US" sz="1000" dirty="0">
                <a:solidFill>
                  <a:srgbClr val="C7D6E2"/>
                </a:solidFill>
                <a:latin typeface="Calibri" pitchFamily="34" charset="0"/>
                <a:ea typeface="Calibri" pitchFamily="34" charset="-122"/>
                <a:cs typeface="Calibri" pitchFamily="34" charset="-120"/>
              </a:rPr>
              <a:t>Visual, exploration-first drill-down into the same indicators</a:t>
            </a:r>
          </a:p>
        </p:txBody>
      </p:sp>
      <p:sp>
        <p:nvSpPr>
          <p:cNvPr id="26" name="Shape"/>
          <p:cNvSpPr/>
          <p:nvPr/>
        </p:nvSpPr>
        <p:spPr>
          <a:xfrm>
            <a:off x="7705706" y="4200000"/>
            <a:ext cx="3358533" cy="1900000"/>
          </a:xfrm>
          <a:prstGeom prst="roundRect">
            <a:avLst>
              <a:gd name="adj" fmla="val 6000"/>
            </a:avLst>
          </a:prstGeom>
          <a:solidFill>
            <a:srgbClr val="12283F"/>
          </a:solidFill>
          <a:ln>
            <a:noFill/>
          </a:ln>
        </p:spPr>
        <p:txBody>
          <a:bodyPr/>
          <a:lstStyle/>
          <a:p>
            <a:endParaRPr lang="en-US"/>
          </a:p>
        </p:txBody>
      </p:sp>
      <p:sp>
        <p:nvSpPr>
          <p:cNvPr id="27" name="Text"/>
          <p:cNvSpPr/>
          <p:nvPr/>
        </p:nvSpPr>
        <p:spPr>
          <a:xfrm>
            <a:off x="7855706" y="4420000"/>
            <a:ext cx="3058533" cy="500000"/>
          </a:xfrm>
          <a:prstGeom prst="rect">
            <a:avLst/>
          </a:prstGeom>
          <a:noFill/>
          <a:ln/>
        </p:spPr>
        <p:txBody>
          <a:bodyPr wrap="square" lIns="0" tIns="0" rIns="0" bIns="0"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Streamlit</a:t>
            </a:r>
          </a:p>
        </p:txBody>
      </p:sp>
      <p:sp>
        <p:nvSpPr>
          <p:cNvPr id="28" name="Line"/>
          <p:cNvSpPr/>
          <p:nvPr/>
        </p:nvSpPr>
        <p:spPr>
          <a:xfrm>
            <a:off x="7855706" y="5050000"/>
            <a:ext cx="3058533" cy="0"/>
          </a:xfrm>
          <a:prstGeom prst="line">
            <a:avLst/>
          </a:prstGeom>
          <a:noFill/>
          <a:ln w="12700">
            <a:solidFill>
              <a:srgbClr val="2C4A66"/>
            </a:solidFill>
            <a:prstDash val="solid"/>
          </a:ln>
        </p:spPr>
        <p:txBody>
          <a:bodyPr/>
          <a:lstStyle/>
          <a:p>
            <a:endParaRPr lang="en-US"/>
          </a:p>
        </p:txBody>
      </p:sp>
      <p:sp>
        <p:nvSpPr>
          <p:cNvPr id="29" name="Text"/>
          <p:cNvSpPr/>
          <p:nvPr/>
        </p:nvSpPr>
        <p:spPr>
          <a:xfrm>
            <a:off x="7855706" y="5180000"/>
            <a:ext cx="3058533" cy="800000"/>
          </a:xfrm>
          <a:prstGeom prst="rect">
            <a:avLst/>
          </a:prstGeom>
          <a:noFill/>
          <a:ln/>
        </p:spPr>
        <p:txBody>
          <a:bodyPr wrap="square" lIns="0" tIns="0" rIns="0" bIns="0" rtlCol="0" anchor="t"/>
          <a:lstStyle/>
          <a:p>
            <a:pPr marL="0" indent="0" algn="l">
              <a:lnSpc>
                <a:spcPts val="1300"/>
              </a:lnSpc>
              <a:buNone/>
            </a:pPr>
            <a:r>
              <a:rPr lang="en-US" sz="1000" dirty="0">
                <a:solidFill>
                  <a:srgbClr val="C7D6E2"/>
                </a:solidFill>
                <a:latin typeface="Calibri" pitchFamily="34" charset="0"/>
                <a:ea typeface="Calibri" pitchFamily="34" charset="-122"/>
                <a:cs typeface="Calibri" pitchFamily="34" charset="-120"/>
              </a:rPr>
              <a:t>Browser-based interactive app for end users and reviewers</a:t>
            </a:r>
          </a:p>
        </p:txBody>
      </p:sp>
      <p:sp>
        <p:nvSpPr>
          <p:cNvPr id="30"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Tech Stack</a:t>
            </a:r>
          </a:p>
        </p:txBody>
      </p:sp>
      <p:sp>
        <p:nvSpPr>
          <p:cNvPr id="31"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42 / 45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8">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548640" y="457200"/>
            <a:ext cx="1865376" cy="310896"/>
          </a:xfrm>
          <a:prstGeom prst="roundRect">
            <a:avLst>
              <a:gd name="adj" fmla="val 50000"/>
            </a:avLst>
          </a:prstGeom>
          <a:solidFill>
            <a:srgbClr val="1C7293"/>
          </a:solidFill>
          <a:ln/>
        </p:spPr>
        <p:txBody>
          <a:bodyPr/>
          <a:lstStyle/>
          <a:p>
            <a:endParaRPr lang="en-US"/>
          </a:p>
        </p:txBody>
      </p:sp>
      <p:sp>
        <p:nvSpPr>
          <p:cNvPr id="3" name="Text 1"/>
          <p:cNvSpPr/>
          <p:nvPr/>
        </p:nvSpPr>
        <p:spPr>
          <a:xfrm>
            <a:off x="548640" y="457200"/>
            <a:ext cx="1865376" cy="310896"/>
          </a:xfrm>
          <a:prstGeom prst="rect">
            <a:avLst/>
          </a:prstGeom>
          <a:noFill/>
          <a:ln/>
        </p:spPr>
        <p:txBody>
          <a:bodyPr wrap="square" lIns="0" tIns="0" rIns="0" bIns="0" rtlCol="0" anchor="ctr"/>
          <a:lstStyle/>
          <a:p>
            <a:pPr marL="0" indent="0" algn="ctr">
              <a:buNone/>
            </a:pPr>
            <a:r>
              <a:rPr lang="en-US" sz="1050" b="1" kern="0" spc="120" dirty="0">
                <a:solidFill>
                  <a:srgbClr val="FFFFFF"/>
                </a:solidFill>
                <a:latin typeface="Calibri" pitchFamily="34" charset="0"/>
                <a:ea typeface="Calibri" pitchFamily="34" charset="-122"/>
                <a:cs typeface="Calibri" pitchFamily="34" charset="-120"/>
              </a:rPr>
              <a:t>PROCESS</a:t>
            </a:r>
            <a:endParaRPr lang="en-US" sz="1050" dirty="0"/>
          </a:p>
        </p:txBody>
      </p:sp>
      <p:sp>
        <p:nvSpPr>
          <p:cNvPr id="4" name="Text 2"/>
          <p:cNvSpPr/>
          <p:nvPr/>
        </p:nvSpPr>
        <p:spPr>
          <a:xfrm>
            <a:off x="530352" y="786384"/>
            <a:ext cx="10515600" cy="640080"/>
          </a:xfrm>
          <a:prstGeom prst="rect">
            <a:avLst/>
          </a:prstGeom>
          <a:noFill/>
          <a:ln/>
        </p:spPr>
        <p:txBody>
          <a:bodyPr wrap="square" lIns="0" tIns="0" rIns="0" bIns="0" rtlCol="0" anchor="ctr"/>
          <a:lstStyle/>
          <a:p>
            <a:pPr marL="0" indent="0">
              <a:buNone/>
            </a:pPr>
            <a:r>
              <a:rPr lang="en-US" sz="3000" b="1" dirty="0">
                <a:solidFill>
                  <a:srgbClr val="12283F"/>
                </a:solidFill>
                <a:latin typeface="Cambria" pitchFamily="34" charset="0"/>
                <a:ea typeface="Cambria" pitchFamily="34" charset="-122"/>
                <a:cs typeface="Cambria" pitchFamily="34" charset="-120"/>
              </a:rPr>
              <a:t>Challenges &amp; Key Learnings</a:t>
            </a:r>
            <a:endParaRPr lang="en-US" sz="3000" dirty="0"/>
          </a:p>
        </p:txBody>
      </p:sp>
      <p:sp>
        <p:nvSpPr>
          <p:cNvPr id="5" name="Shape 3"/>
          <p:cNvSpPr/>
          <p:nvPr/>
        </p:nvSpPr>
        <p:spPr>
          <a:xfrm>
            <a:off x="548640" y="2194560"/>
            <a:ext cx="5318608" cy="4160520"/>
          </a:xfrm>
          <a:prstGeom prst="roundRect">
            <a:avLst>
              <a:gd name="adj" fmla="val 2637"/>
            </a:avLst>
          </a:prstGeom>
          <a:solidFill>
            <a:srgbClr val="FFFFFF"/>
          </a:solidFill>
          <a:ln/>
          <a:effectLst>
            <a:outerShdw blurRad="76200" dist="25400" dir="5400000" algn="bl" rotWithShape="0">
              <a:srgbClr val="12283F">
                <a:alpha val="10000"/>
              </a:srgbClr>
            </a:outerShdw>
          </a:effectLst>
        </p:spPr>
        <p:txBody>
          <a:bodyPr/>
          <a:lstStyle/>
          <a:p>
            <a:endParaRPr lang="en-US"/>
          </a:p>
        </p:txBody>
      </p:sp>
      <p:sp>
        <p:nvSpPr>
          <p:cNvPr id="6" name="Text 4"/>
          <p:cNvSpPr/>
          <p:nvPr/>
        </p:nvSpPr>
        <p:spPr>
          <a:xfrm>
            <a:off x="822960" y="2468880"/>
            <a:ext cx="4769968" cy="320040"/>
          </a:xfrm>
          <a:prstGeom prst="rect">
            <a:avLst/>
          </a:prstGeom>
          <a:noFill/>
          <a:ln/>
        </p:spPr>
        <p:txBody>
          <a:bodyPr wrap="square" lIns="0" tIns="0" rIns="0" bIns="0" rtlCol="0" anchor="ctr"/>
          <a:lstStyle/>
          <a:p>
            <a:pPr marL="0" indent="0">
              <a:buNone/>
            </a:pPr>
            <a:r>
              <a:rPr lang="en-US" sz="1300" b="1" kern="0" spc="100" dirty="0">
                <a:solidFill>
                  <a:srgbClr val="C1443C"/>
                </a:solidFill>
                <a:latin typeface="Calibri" pitchFamily="34" charset="0"/>
                <a:ea typeface="Calibri" pitchFamily="34" charset="-122"/>
                <a:cs typeface="Calibri" pitchFamily="34" charset="-120"/>
              </a:rPr>
              <a:t>CHALLENGES</a:t>
            </a:r>
            <a:endParaRPr lang="en-US" sz="1300" dirty="0"/>
          </a:p>
        </p:txBody>
      </p:sp>
      <p:sp>
        <p:nvSpPr>
          <p:cNvPr id="7" name="Shape 5"/>
          <p:cNvSpPr/>
          <p:nvPr/>
        </p:nvSpPr>
        <p:spPr>
          <a:xfrm>
            <a:off x="822960" y="2971800"/>
            <a:ext cx="365760" cy="365760"/>
          </a:xfrm>
          <a:prstGeom prst="ellipse">
            <a:avLst/>
          </a:prstGeom>
          <a:solidFill>
            <a:srgbClr val="C1443C"/>
          </a:solidFill>
          <a:ln/>
        </p:spPr>
        <p:txBody>
          <a:bodyPr/>
          <a:lstStyle/>
          <a:p>
            <a:endParaRPr lang="en-US"/>
          </a:p>
        </p:txBody>
      </p:sp>
      <p:sp>
        <p:nvSpPr>
          <p:cNvPr id="8" name="Text 6"/>
          <p:cNvSpPr/>
          <p:nvPr/>
        </p:nvSpPr>
        <p:spPr>
          <a:xfrm>
            <a:off x="822960" y="29718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25880" y="289864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Handling missing and inconsistent health records</a:t>
            </a:r>
            <a:endParaRPr lang="en-US" sz="1200" dirty="0"/>
          </a:p>
        </p:txBody>
      </p:sp>
      <p:sp>
        <p:nvSpPr>
          <p:cNvPr id="10" name="Shape 8"/>
          <p:cNvSpPr/>
          <p:nvPr/>
        </p:nvSpPr>
        <p:spPr>
          <a:xfrm>
            <a:off x="822960" y="3749040"/>
            <a:ext cx="365760" cy="365760"/>
          </a:xfrm>
          <a:prstGeom prst="ellipse">
            <a:avLst/>
          </a:prstGeom>
          <a:solidFill>
            <a:srgbClr val="C1443C"/>
          </a:solidFill>
          <a:ln/>
        </p:spPr>
        <p:txBody>
          <a:bodyPr/>
          <a:lstStyle/>
          <a:p>
            <a:endParaRPr lang="en-US"/>
          </a:p>
        </p:txBody>
      </p:sp>
      <p:sp>
        <p:nvSpPr>
          <p:cNvPr id="11" name="Text 9"/>
          <p:cNvSpPr/>
          <p:nvPr/>
        </p:nvSpPr>
        <p:spPr>
          <a:xfrm>
            <a:off x="822960" y="37490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325880" y="367588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Choosing meaningful thresholds for BMI, blood pressure, and cholesterol risk</a:t>
            </a:r>
            <a:endParaRPr lang="en-US" sz="1200" dirty="0"/>
          </a:p>
        </p:txBody>
      </p:sp>
      <p:sp>
        <p:nvSpPr>
          <p:cNvPr id="13" name="Shape 11"/>
          <p:cNvSpPr/>
          <p:nvPr/>
        </p:nvSpPr>
        <p:spPr>
          <a:xfrm>
            <a:off x="822960" y="4526280"/>
            <a:ext cx="365760" cy="365760"/>
          </a:xfrm>
          <a:prstGeom prst="ellipse">
            <a:avLst/>
          </a:prstGeom>
          <a:solidFill>
            <a:srgbClr val="C1443C"/>
          </a:solidFill>
          <a:ln/>
        </p:spPr>
        <p:txBody>
          <a:bodyPr/>
          <a:lstStyle/>
          <a:p>
            <a:endParaRPr lang="en-US"/>
          </a:p>
        </p:txBody>
      </p:sp>
      <p:sp>
        <p:nvSpPr>
          <p:cNvPr id="14" name="Text 12"/>
          <p:cNvSpPr/>
          <p:nvPr/>
        </p:nvSpPr>
        <p:spPr>
          <a:xfrm>
            <a:off x="822960"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325880" y="445312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Designing four dashboards with a consistent, uncluttered layout</a:t>
            </a:r>
            <a:endParaRPr lang="en-US" sz="1200" dirty="0"/>
          </a:p>
        </p:txBody>
      </p:sp>
      <p:sp>
        <p:nvSpPr>
          <p:cNvPr id="16" name="Shape 14"/>
          <p:cNvSpPr/>
          <p:nvPr/>
        </p:nvSpPr>
        <p:spPr>
          <a:xfrm>
            <a:off x="822960" y="5303520"/>
            <a:ext cx="365760" cy="365760"/>
          </a:xfrm>
          <a:prstGeom prst="ellipse">
            <a:avLst/>
          </a:prstGeom>
          <a:solidFill>
            <a:srgbClr val="C1443C"/>
          </a:solidFill>
          <a:ln/>
        </p:spPr>
        <p:txBody>
          <a:bodyPr/>
          <a:lstStyle/>
          <a:p>
            <a:endParaRPr lang="en-US"/>
          </a:p>
        </p:txBody>
      </p:sp>
      <p:sp>
        <p:nvSpPr>
          <p:cNvPr id="17" name="Text 15"/>
          <p:cNvSpPr/>
          <p:nvPr/>
        </p:nvSpPr>
        <p:spPr>
          <a:xfrm>
            <a:off x="822960" y="5303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325880" y="523036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Translating raw SQL answers into clear, visual stories</a:t>
            </a:r>
            <a:endParaRPr lang="en-US" sz="1200" dirty="0"/>
          </a:p>
        </p:txBody>
      </p:sp>
      <p:sp>
        <p:nvSpPr>
          <p:cNvPr id="19" name="Shape 17"/>
          <p:cNvSpPr/>
          <p:nvPr/>
        </p:nvSpPr>
        <p:spPr>
          <a:xfrm>
            <a:off x="6324448" y="2194560"/>
            <a:ext cx="5318608" cy="4160520"/>
          </a:xfrm>
          <a:prstGeom prst="roundRect">
            <a:avLst>
              <a:gd name="adj" fmla="val 2637"/>
            </a:avLst>
          </a:prstGeom>
          <a:solidFill>
            <a:srgbClr val="FFFFFF"/>
          </a:solidFill>
          <a:ln/>
          <a:effectLst>
            <a:outerShdw blurRad="76200" dist="25400" dir="5400000" algn="bl" rotWithShape="0">
              <a:srgbClr val="12283F">
                <a:alpha val="10000"/>
              </a:srgbClr>
            </a:outerShdw>
          </a:effectLst>
        </p:spPr>
        <p:txBody>
          <a:bodyPr/>
          <a:lstStyle/>
          <a:p>
            <a:endParaRPr lang="en-US"/>
          </a:p>
        </p:txBody>
      </p:sp>
      <p:sp>
        <p:nvSpPr>
          <p:cNvPr id="20" name="Text 18"/>
          <p:cNvSpPr/>
          <p:nvPr/>
        </p:nvSpPr>
        <p:spPr>
          <a:xfrm>
            <a:off x="6598768" y="2468880"/>
            <a:ext cx="4769968" cy="320040"/>
          </a:xfrm>
          <a:prstGeom prst="rect">
            <a:avLst/>
          </a:prstGeom>
          <a:noFill/>
          <a:ln/>
        </p:spPr>
        <p:txBody>
          <a:bodyPr wrap="square" lIns="0" tIns="0" rIns="0" bIns="0" rtlCol="0" anchor="ctr"/>
          <a:lstStyle/>
          <a:p>
            <a:pPr marL="0" indent="0">
              <a:buNone/>
            </a:pPr>
            <a:r>
              <a:rPr lang="en-US" sz="1300" b="1" kern="0" spc="100" dirty="0">
                <a:solidFill>
                  <a:srgbClr val="22A699"/>
                </a:solidFill>
                <a:latin typeface="Calibri" pitchFamily="34" charset="0"/>
                <a:ea typeface="Calibri" pitchFamily="34" charset="-122"/>
                <a:cs typeface="Calibri" pitchFamily="34" charset="-120"/>
              </a:rPr>
              <a:t>KEY LEARNINGS</a:t>
            </a:r>
            <a:endParaRPr lang="en-US" sz="1300" dirty="0"/>
          </a:p>
        </p:txBody>
      </p:sp>
      <p:sp>
        <p:nvSpPr>
          <p:cNvPr id="21" name="Shape 19"/>
          <p:cNvSpPr/>
          <p:nvPr/>
        </p:nvSpPr>
        <p:spPr>
          <a:xfrm>
            <a:off x="6598768" y="2971800"/>
            <a:ext cx="365760" cy="365760"/>
          </a:xfrm>
          <a:prstGeom prst="ellipse">
            <a:avLst/>
          </a:prstGeom>
          <a:solidFill>
            <a:srgbClr val="22A699"/>
          </a:solidFill>
          <a:ln/>
        </p:spPr>
        <p:txBody>
          <a:bodyPr/>
          <a:lstStyle/>
          <a:p>
            <a:endParaRPr lang="en-US"/>
          </a:p>
        </p:txBody>
      </p:sp>
      <p:sp>
        <p:nvSpPr>
          <p:cNvPr id="22" name="Text 20"/>
          <p:cNvSpPr/>
          <p:nvPr/>
        </p:nvSpPr>
        <p:spPr>
          <a:xfrm>
            <a:off x="6598768" y="29718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21"/>
          <p:cNvSpPr/>
          <p:nvPr/>
        </p:nvSpPr>
        <p:spPr>
          <a:xfrm>
            <a:off x="7101688" y="289864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End-to-end pipeline experience, from Python to SQL to BI tools</a:t>
            </a:r>
            <a:endParaRPr lang="en-US" sz="1200" dirty="0"/>
          </a:p>
        </p:txBody>
      </p:sp>
      <p:sp>
        <p:nvSpPr>
          <p:cNvPr id="24" name="Shape 22"/>
          <p:cNvSpPr/>
          <p:nvPr/>
        </p:nvSpPr>
        <p:spPr>
          <a:xfrm>
            <a:off x="6598768" y="3749040"/>
            <a:ext cx="365760" cy="365760"/>
          </a:xfrm>
          <a:prstGeom prst="ellipse">
            <a:avLst/>
          </a:prstGeom>
          <a:solidFill>
            <a:srgbClr val="22A699"/>
          </a:solidFill>
          <a:ln/>
        </p:spPr>
        <p:txBody>
          <a:bodyPr/>
          <a:lstStyle/>
          <a:p>
            <a:endParaRPr lang="en-US"/>
          </a:p>
        </p:txBody>
      </p:sp>
      <p:sp>
        <p:nvSpPr>
          <p:cNvPr id="25" name="Text 23"/>
          <p:cNvSpPr/>
          <p:nvPr/>
        </p:nvSpPr>
        <p:spPr>
          <a:xfrm>
            <a:off x="6598768" y="37490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6" name="Text 24"/>
          <p:cNvSpPr/>
          <p:nvPr/>
        </p:nvSpPr>
        <p:spPr>
          <a:xfrm>
            <a:off x="7101688" y="367588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The importance of designing KPIs around a specific audience</a:t>
            </a:r>
            <a:endParaRPr lang="en-US" sz="1200" dirty="0"/>
          </a:p>
        </p:txBody>
      </p:sp>
      <p:sp>
        <p:nvSpPr>
          <p:cNvPr id="27" name="Shape 25"/>
          <p:cNvSpPr/>
          <p:nvPr/>
        </p:nvSpPr>
        <p:spPr>
          <a:xfrm>
            <a:off x="6598768" y="4526280"/>
            <a:ext cx="365760" cy="365760"/>
          </a:xfrm>
          <a:prstGeom prst="ellipse">
            <a:avLst/>
          </a:prstGeom>
          <a:solidFill>
            <a:srgbClr val="22A699"/>
          </a:solidFill>
          <a:ln/>
        </p:spPr>
        <p:txBody>
          <a:bodyPr/>
          <a:lstStyle/>
          <a:p>
            <a:endParaRPr lang="en-US"/>
          </a:p>
        </p:txBody>
      </p:sp>
      <p:sp>
        <p:nvSpPr>
          <p:cNvPr id="28" name="Text 26"/>
          <p:cNvSpPr/>
          <p:nvPr/>
        </p:nvSpPr>
        <p:spPr>
          <a:xfrm>
            <a:off x="6598768" y="45262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9" name="Text 27"/>
          <p:cNvSpPr/>
          <p:nvPr/>
        </p:nvSpPr>
        <p:spPr>
          <a:xfrm>
            <a:off x="7101688" y="445312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Stronger data storytelling and dashboard UX skills</a:t>
            </a:r>
            <a:endParaRPr lang="en-US" sz="1200" dirty="0"/>
          </a:p>
        </p:txBody>
      </p:sp>
      <p:sp>
        <p:nvSpPr>
          <p:cNvPr id="30" name="Shape 28"/>
          <p:cNvSpPr/>
          <p:nvPr/>
        </p:nvSpPr>
        <p:spPr>
          <a:xfrm>
            <a:off x="6598768" y="5303520"/>
            <a:ext cx="365760" cy="365760"/>
          </a:xfrm>
          <a:prstGeom prst="ellipse">
            <a:avLst/>
          </a:prstGeom>
          <a:solidFill>
            <a:srgbClr val="22A699"/>
          </a:solidFill>
          <a:ln/>
        </p:spPr>
        <p:txBody>
          <a:bodyPr/>
          <a:lstStyle/>
          <a:p>
            <a:endParaRPr lang="en-US"/>
          </a:p>
        </p:txBody>
      </p:sp>
      <p:sp>
        <p:nvSpPr>
          <p:cNvPr id="31" name="Text 29"/>
          <p:cNvSpPr/>
          <p:nvPr/>
        </p:nvSpPr>
        <p:spPr>
          <a:xfrm>
            <a:off x="6598768" y="5303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2" name="Text 30"/>
          <p:cNvSpPr/>
          <p:nvPr/>
        </p:nvSpPr>
        <p:spPr>
          <a:xfrm>
            <a:off x="7101688" y="5230368"/>
            <a:ext cx="4404208" cy="685800"/>
          </a:xfrm>
          <a:prstGeom prst="rect">
            <a:avLst/>
          </a:prstGeom>
          <a:noFill/>
          <a:ln/>
        </p:spPr>
        <p:txBody>
          <a:bodyPr wrap="square" lIns="0" tIns="0" rIns="0" bIns="0" rtlCol="0" anchor="ctr"/>
          <a:lstStyle/>
          <a:p>
            <a:pPr marL="0" indent="0">
              <a:lnSpc>
                <a:spcPts val="1500"/>
              </a:lnSpc>
              <a:buNone/>
            </a:pPr>
            <a:r>
              <a:rPr lang="en-US" sz="1200" dirty="0">
                <a:solidFill>
                  <a:srgbClr val="1A2733"/>
                </a:solidFill>
                <a:latin typeface="Calibri" pitchFamily="34" charset="0"/>
                <a:ea typeface="Calibri" pitchFamily="34" charset="-122"/>
                <a:cs typeface="Calibri" pitchFamily="34" charset="-120"/>
              </a:rPr>
              <a:t>Practical experience combining Excel and Power BI in one workflow</a:t>
            </a:r>
            <a:endParaRPr lang="en-US" sz="120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7284"/>
                </a:solidFill>
                <a:latin typeface="Calibri" pitchFamily="34" charset="0"/>
                <a:ea typeface="Calibri" pitchFamily="34" charset="-122"/>
                <a:cs typeface="Calibri" pitchFamily="34" charset="-120"/>
              </a:rPr>
              <a:t>MediSights — Challenges &amp; Learnings</a:t>
            </a:r>
            <a:endParaRPr lang="en-US" sz="900" dirty="0"/>
          </a:p>
        </p:txBody>
      </p:sp>
      <p:sp>
        <p:nvSpPr>
          <p:cNvPr id="34" name="Text 32"/>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43 / 45</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Shape"/>
          <p:cNvSpPr/>
          <p:nvPr/>
        </p:nvSpPr>
        <p:spPr>
          <a:xfrm>
            <a:off x="548640" y="457200"/>
            <a:ext cx="2468880" cy="310896"/>
          </a:xfrm>
          <a:prstGeom prst="roundRect">
            <a:avLst>
              <a:gd name="adj" fmla="val 50000"/>
            </a:avLst>
          </a:prstGeom>
          <a:solidFill>
            <a:srgbClr val="22C3A6"/>
          </a:solidFill>
          <a:ln>
            <a:noFill/>
          </a:ln>
        </p:spPr>
        <p:txBody>
          <a:bodyPr/>
          <a:lstStyle/>
          <a:p>
            <a:endParaRPr lang="en-US"/>
          </a:p>
        </p:txBody>
      </p:sp>
      <p:sp>
        <p:nvSpPr>
          <p:cNvPr id="3" name="Text"/>
          <p:cNvSpPr/>
          <p:nvPr/>
        </p:nvSpPr>
        <p:spPr>
          <a:xfrm>
            <a:off x="548640" y="457200"/>
            <a:ext cx="2468880" cy="310896"/>
          </a:xfrm>
          <a:prstGeom prst="rect">
            <a:avLst/>
          </a:prstGeom>
          <a:noFill/>
          <a:ln/>
        </p:spPr>
        <p:txBody>
          <a:bodyPr wrap="square" lIns="0" tIns="0" rIns="0" bIns="0" rtlCol="0" anchor="ctr"/>
          <a:lstStyle/>
          <a:p>
            <a:pPr marL="0" indent="0" algn="ctr">
              <a:buNone/>
            </a:pPr>
            <a:r>
              <a:rPr lang="en-US" sz="1050" b="1" spc="120" dirty="0">
                <a:solidFill>
                  <a:srgbClr val="FFFFFF"/>
                </a:solidFill>
                <a:latin typeface="Calibri" pitchFamily="34" charset="0"/>
                <a:ea typeface="Calibri" pitchFamily="34" charset="-122"/>
                <a:cs typeface="Calibri" pitchFamily="34" charset="-120"/>
              </a:rPr>
              <a:t>CONCLUSION</a:t>
            </a:r>
          </a:p>
        </p:txBody>
      </p:sp>
      <p:sp>
        <p:nvSpPr>
          <p:cNvPr id="4" name="Text"/>
          <p:cNvSpPr/>
          <p:nvPr/>
        </p:nvSpPr>
        <p:spPr>
          <a:xfrm>
            <a:off x="530352" y="786384"/>
            <a:ext cx="10515600" cy="640080"/>
          </a:xfrm>
          <a:prstGeom prst="rect">
            <a:avLst/>
          </a:prstGeom>
          <a:noFill/>
          <a:ln/>
        </p:spPr>
        <p:txBody>
          <a:bodyPr wrap="square" lIns="0" tIns="0" rIns="0" bIns="0" rtlCol="0" anchor="ctr"/>
          <a:lstStyle/>
          <a:p>
            <a:pPr marL="0" indent="0" algn="l">
              <a:buNone/>
            </a:pPr>
            <a:r>
              <a:rPr lang="en-US" sz="3000" b="1" dirty="0">
                <a:solidFill>
                  <a:srgbClr val="12283F"/>
                </a:solidFill>
                <a:latin typeface="Cambria" pitchFamily="34" charset="0"/>
                <a:ea typeface="Cambria" pitchFamily="34" charset="-122"/>
                <a:cs typeface="Cambria" pitchFamily="34" charset="-120"/>
              </a:rPr>
              <a:t>MediSights: From Raw Data to Real Decisions</a:t>
            </a:r>
          </a:p>
        </p:txBody>
      </p:sp>
      <p:sp>
        <p:nvSpPr>
          <p:cNvPr id="5" name="Text"/>
          <p:cNvSpPr/>
          <p:nvPr/>
        </p:nvSpPr>
        <p:spPr>
          <a:xfrm>
            <a:off x="548640" y="1500000"/>
            <a:ext cx="10515600" cy="1450000"/>
          </a:xfrm>
          <a:prstGeom prst="rect">
            <a:avLst/>
          </a:prstGeom>
          <a:noFill/>
          <a:ln/>
        </p:spPr>
        <p:txBody>
          <a:bodyPr wrap="square" lIns="0" tIns="0" rIns="0" bIns="0" rtlCol="0" anchor="t"/>
          <a:lstStyle/>
          <a:p>
            <a:pPr marL="0" indent="0" algn="l">
              <a:lnSpc>
                <a:spcPts val="1600"/>
              </a:lnSpc>
              <a:buNone/>
            </a:pPr>
            <a:r>
              <a:rPr lang="en-US" sz="1300" dirty="0">
                <a:solidFill>
                  <a:srgbClr val="5B7284"/>
                </a:solidFill>
                <a:latin typeface="Calibri" pitchFamily="34" charset="0"/>
                <a:ea typeface="Calibri" pitchFamily="34" charset="-122"/>
                <a:cs typeface="Calibri" pitchFamily="34" charset="-120"/>
              </a:rPr>
              <a:t>This project carries a population health dataset through a complete analytics pipeline — cleaned and modeled in Python, queried with SQL Server, and delivered through one Excel workbook, three Power BI dashboards, a Tableau workbook, and a Streamlit app. Together, these six tools give healthcare managers, clinical analysts, and wellness teams a clear, evidence-based view of population risk — turning raw records into insight that can genuinely support better health decisions.</a:t>
            </a:r>
          </a:p>
        </p:txBody>
      </p:sp>
      <p:sp>
        <p:nvSpPr>
          <p:cNvPr id="6" name="Shape"/>
          <p:cNvSpPr/>
          <p:nvPr/>
        </p:nvSpPr>
        <p:spPr>
          <a:xfrm>
            <a:off x="548640" y="3300000"/>
            <a:ext cx="2463900" cy="190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7" name="Text"/>
          <p:cNvSpPr/>
          <p:nvPr/>
        </p:nvSpPr>
        <p:spPr>
          <a:xfrm>
            <a:off x="648640" y="3650000"/>
            <a:ext cx="2263900" cy="650000"/>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4,155</a:t>
            </a:r>
          </a:p>
        </p:txBody>
      </p:sp>
      <p:sp>
        <p:nvSpPr>
          <p:cNvPr id="8" name="Text"/>
          <p:cNvSpPr/>
          <p:nvPr/>
        </p:nvSpPr>
        <p:spPr>
          <a:xfrm>
            <a:off x="648640" y="4450000"/>
            <a:ext cx="2263900" cy="550000"/>
          </a:xfrm>
          <a:prstGeom prst="rect">
            <a:avLst/>
          </a:prstGeom>
          <a:noFill/>
          <a:ln/>
        </p:spPr>
        <p:txBody>
          <a:bodyPr wrap="square" lIns="0" tIns="0" rIns="0" bIns="0" rtlCol="0" anchor="ctr"/>
          <a:lstStyle/>
          <a:p>
            <a:pPr marL="0" indent="0" algn="ctr">
              <a:lnSpc>
                <a:spcPts val="1300"/>
              </a:lnSpc>
              <a:buNone/>
            </a:pPr>
            <a:r>
              <a:rPr lang="en-US" sz="1050" b="1" dirty="0">
                <a:solidFill>
                  <a:srgbClr val="12283F"/>
                </a:solidFill>
                <a:latin typeface="Calibri" pitchFamily="34" charset="0"/>
                <a:ea typeface="Calibri" pitchFamily="34" charset="-122"/>
                <a:cs typeface="Calibri" pitchFamily="34" charset="-120"/>
              </a:rPr>
              <a:t>People Analyzed</a:t>
            </a:r>
          </a:p>
        </p:txBody>
      </p:sp>
      <p:sp>
        <p:nvSpPr>
          <p:cNvPr id="9" name="Shape"/>
          <p:cNvSpPr/>
          <p:nvPr/>
        </p:nvSpPr>
        <p:spPr>
          <a:xfrm>
            <a:off x="3232540" y="3300000"/>
            <a:ext cx="2463900" cy="190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0" name="Text"/>
          <p:cNvSpPr/>
          <p:nvPr/>
        </p:nvSpPr>
        <p:spPr>
          <a:xfrm>
            <a:off x="3332540" y="3650000"/>
            <a:ext cx="2263900" cy="650000"/>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6</a:t>
            </a:r>
          </a:p>
        </p:txBody>
      </p:sp>
      <p:sp>
        <p:nvSpPr>
          <p:cNvPr id="11" name="Text"/>
          <p:cNvSpPr/>
          <p:nvPr/>
        </p:nvSpPr>
        <p:spPr>
          <a:xfrm>
            <a:off x="3332540" y="4450000"/>
            <a:ext cx="2263900" cy="550000"/>
          </a:xfrm>
          <a:prstGeom prst="rect">
            <a:avLst/>
          </a:prstGeom>
          <a:noFill/>
          <a:ln/>
        </p:spPr>
        <p:txBody>
          <a:bodyPr wrap="square" lIns="0" tIns="0" rIns="0" bIns="0" rtlCol="0" anchor="ctr"/>
          <a:lstStyle/>
          <a:p>
            <a:pPr marL="0" indent="0" algn="ctr">
              <a:lnSpc>
                <a:spcPts val="1300"/>
              </a:lnSpc>
              <a:buNone/>
            </a:pPr>
            <a:r>
              <a:rPr lang="en-US" sz="1050" b="1" dirty="0">
                <a:solidFill>
                  <a:srgbClr val="12283F"/>
                </a:solidFill>
                <a:latin typeface="Calibri" pitchFamily="34" charset="0"/>
                <a:ea typeface="Calibri" pitchFamily="34" charset="-122"/>
                <a:cs typeface="Calibri" pitchFamily="34" charset="-120"/>
              </a:rPr>
              <a:t>Tools &amp; Apps Used</a:t>
            </a:r>
          </a:p>
        </p:txBody>
      </p:sp>
      <p:sp>
        <p:nvSpPr>
          <p:cNvPr id="12" name="Shape"/>
          <p:cNvSpPr/>
          <p:nvPr/>
        </p:nvSpPr>
        <p:spPr>
          <a:xfrm>
            <a:off x="5916440" y="3300000"/>
            <a:ext cx="2463900" cy="190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3" name="Text"/>
          <p:cNvSpPr/>
          <p:nvPr/>
        </p:nvSpPr>
        <p:spPr>
          <a:xfrm>
            <a:off x="6016440" y="3650000"/>
            <a:ext cx="2263900" cy="650000"/>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28</a:t>
            </a:r>
          </a:p>
        </p:txBody>
      </p:sp>
      <p:sp>
        <p:nvSpPr>
          <p:cNvPr id="14" name="Text"/>
          <p:cNvSpPr/>
          <p:nvPr/>
        </p:nvSpPr>
        <p:spPr>
          <a:xfrm>
            <a:off x="6016440" y="4450000"/>
            <a:ext cx="2263900" cy="550000"/>
          </a:xfrm>
          <a:prstGeom prst="rect">
            <a:avLst/>
          </a:prstGeom>
          <a:noFill/>
          <a:ln/>
        </p:spPr>
        <p:txBody>
          <a:bodyPr wrap="square" lIns="0" tIns="0" rIns="0" bIns="0" rtlCol="0" anchor="ctr"/>
          <a:lstStyle/>
          <a:p>
            <a:pPr marL="0" indent="0" algn="ctr">
              <a:lnSpc>
                <a:spcPts val="1300"/>
              </a:lnSpc>
              <a:buNone/>
            </a:pPr>
            <a:r>
              <a:rPr lang="en-US" sz="1050" b="1" dirty="0">
                <a:solidFill>
                  <a:srgbClr val="12283F"/>
                </a:solidFill>
                <a:latin typeface="Calibri" pitchFamily="34" charset="0"/>
                <a:ea typeface="Calibri" pitchFamily="34" charset="-122"/>
                <a:cs typeface="Calibri" pitchFamily="34" charset="-120"/>
              </a:rPr>
              <a:t>SQL Business Questions</a:t>
            </a:r>
          </a:p>
        </p:txBody>
      </p:sp>
      <p:sp>
        <p:nvSpPr>
          <p:cNvPr id="15" name="Shape"/>
          <p:cNvSpPr/>
          <p:nvPr/>
        </p:nvSpPr>
        <p:spPr>
          <a:xfrm>
            <a:off x="8600340" y="3300000"/>
            <a:ext cx="2463900" cy="1900000"/>
          </a:xfrm>
          <a:prstGeom prst="roundRect">
            <a:avLst>
              <a:gd name="adj" fmla="val 5000"/>
            </a:avLst>
          </a:prstGeom>
          <a:solidFill>
            <a:srgbClr val="EAF3F8"/>
          </a:solidFill>
          <a:ln w="12700">
            <a:solidFill>
              <a:srgbClr val="D7E4EC"/>
            </a:solidFill>
            <a:prstDash val="solid"/>
          </a:ln>
        </p:spPr>
        <p:txBody>
          <a:bodyPr/>
          <a:lstStyle/>
          <a:p>
            <a:endParaRPr lang="en-US"/>
          </a:p>
        </p:txBody>
      </p:sp>
      <p:sp>
        <p:nvSpPr>
          <p:cNvPr id="16" name="Text"/>
          <p:cNvSpPr/>
          <p:nvPr/>
        </p:nvSpPr>
        <p:spPr>
          <a:xfrm>
            <a:off x="8700340" y="3650000"/>
            <a:ext cx="2263900" cy="650000"/>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20</a:t>
            </a:r>
          </a:p>
        </p:txBody>
      </p:sp>
      <p:sp>
        <p:nvSpPr>
          <p:cNvPr id="17" name="Text"/>
          <p:cNvSpPr/>
          <p:nvPr/>
        </p:nvSpPr>
        <p:spPr>
          <a:xfrm>
            <a:off x="8700340" y="4450000"/>
            <a:ext cx="2263900" cy="550000"/>
          </a:xfrm>
          <a:prstGeom prst="rect">
            <a:avLst/>
          </a:prstGeom>
          <a:noFill/>
          <a:ln/>
        </p:spPr>
        <p:txBody>
          <a:bodyPr wrap="square" lIns="0" tIns="0" rIns="0" bIns="0" rtlCol="0" anchor="ctr"/>
          <a:lstStyle/>
          <a:p>
            <a:pPr marL="0" indent="0" algn="ctr">
              <a:lnSpc>
                <a:spcPts val="1300"/>
              </a:lnSpc>
              <a:buNone/>
            </a:pPr>
            <a:r>
              <a:rPr lang="en-US" sz="1050" b="1" dirty="0">
                <a:solidFill>
                  <a:srgbClr val="12283F"/>
                </a:solidFill>
                <a:latin typeface="Calibri" pitchFamily="34" charset="0"/>
                <a:ea typeface="Calibri" pitchFamily="34" charset="-122"/>
                <a:cs typeface="Calibri" pitchFamily="34" charset="-120"/>
              </a:rPr>
              <a:t>KPIs Tracked</a:t>
            </a:r>
          </a:p>
        </p:txBody>
      </p:sp>
      <p:sp>
        <p:nvSpPr>
          <p:cNvPr id="18" name="Text"/>
          <p:cNvSpPr/>
          <p:nvPr/>
        </p:nvSpPr>
        <p:spPr>
          <a:xfrm>
            <a:off x="548640" y="6473952"/>
            <a:ext cx="6000000" cy="274320"/>
          </a:xfrm>
          <a:prstGeom prst="rect">
            <a:avLst/>
          </a:prstGeom>
          <a:noFill/>
          <a:ln/>
        </p:spPr>
        <p:txBody>
          <a:bodyPr wrap="square" lIns="0" tIns="0" rIns="0" bIns="0" rtlCol="0" anchor="ctr"/>
          <a:lstStyle/>
          <a:p>
            <a:pPr marL="0" indent="0" algn="l">
              <a:buNone/>
            </a:pPr>
            <a:r>
              <a:rPr lang="en-US" sz="900" dirty="0">
                <a:solidFill>
                  <a:srgbClr val="5B7284"/>
                </a:solidFill>
                <a:latin typeface="Calibri" pitchFamily="34" charset="0"/>
                <a:ea typeface="Calibri" pitchFamily="34" charset="-122"/>
                <a:cs typeface="Calibri" pitchFamily="34" charset="-120"/>
              </a:rPr>
              <a:t>MediSights — Conclusion</a:t>
            </a:r>
          </a:p>
        </p:txBody>
      </p:sp>
      <p:sp>
        <p:nvSpPr>
          <p:cNvPr id="19" name="Text"/>
          <p:cNvSpPr/>
          <p:nvPr/>
        </p:nvSpPr>
        <p:spPr>
          <a:xfrm>
            <a:off x="10420095" y="6473952"/>
            <a:ext cx="1314400" cy="274320"/>
          </a:xfrm>
          <a:prstGeom prst="rect">
            <a:avLst/>
          </a:prstGeom>
          <a:noFill/>
          <a:ln/>
        </p:spPr>
        <p:txBody>
          <a:bodyPr wrap="square" lIns="0" tIns="0" rIns="0" bIns="0" rtlCol="0" anchor="ctr"/>
          <a:lstStyle/>
          <a:p>
            <a:pPr marL="0" indent="0" algn="r">
              <a:buNone/>
            </a:pPr>
            <a:r>
              <a:rPr lang="en-US" sz="900" dirty="0">
                <a:solidFill>
                  <a:srgbClr val="5B7284"/>
                </a:solidFill>
                <a:latin typeface="Calibri" pitchFamily="34" charset="0"/>
                <a:ea typeface="Calibri" pitchFamily="34" charset="-122"/>
                <a:cs typeface="Calibri" pitchFamily="34" charset="-120"/>
              </a:rPr>
              <a:t>44 / 45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0">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1C7293">
              <a:alpha val="22000"/>
            </a:srgbClr>
          </a:solidFill>
          <a:ln/>
        </p:spPr>
        <p:txBody>
          <a:bodyPr/>
          <a:lstStyle/>
          <a:p>
            <a:endParaRPr lang="en-US"/>
          </a:p>
        </p:txBody>
      </p:sp>
      <p:sp>
        <p:nvSpPr>
          <p:cNvPr id="3" name="Shape 1"/>
          <p:cNvSpPr/>
          <p:nvPr/>
        </p:nvSpPr>
        <p:spPr>
          <a:xfrm>
            <a:off x="-2011680" y="4114800"/>
            <a:ext cx="5029200" cy="5029200"/>
          </a:xfrm>
          <a:prstGeom prst="ellipse">
            <a:avLst/>
          </a:prstGeom>
          <a:solidFill>
            <a:srgbClr val="22C3A6">
              <a:alpha val="15000"/>
            </a:srgbClr>
          </a:solidFill>
          <a:ln/>
        </p:spPr>
        <p:txBody>
          <a:bodyPr/>
          <a:lstStyle/>
          <a:p>
            <a:endParaRPr lang="en-US"/>
          </a:p>
        </p:txBody>
      </p:sp>
      <p:sp>
        <p:nvSpPr>
          <p:cNvPr id="4" name="Text 2"/>
          <p:cNvSpPr/>
          <p:nvPr/>
        </p:nvSpPr>
        <p:spPr>
          <a:xfrm>
            <a:off x="0" y="2331720"/>
            <a:ext cx="12191695" cy="10058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0" y="3337560"/>
            <a:ext cx="12191695" cy="548640"/>
          </a:xfrm>
          <a:prstGeom prst="rect">
            <a:avLst/>
          </a:prstGeom>
          <a:noFill/>
          <a:ln/>
        </p:spPr>
        <p:txBody>
          <a:bodyPr wrap="square" lIns="0" tIns="0" rIns="0" bIns="0" rtlCol="0" anchor="ctr"/>
          <a:lstStyle/>
          <a:p>
            <a:pPr marL="0" indent="0" algn="ctr">
              <a:buNone/>
            </a:pPr>
            <a:r>
              <a:rPr lang="en-US" sz="1800" dirty="0">
                <a:solidFill>
                  <a:srgbClr val="22C3A6"/>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5943600"/>
            <a:ext cx="12191695" cy="365760"/>
          </a:xfrm>
          <a:prstGeom prst="rect">
            <a:avLst/>
          </a:prstGeom>
          <a:noFill/>
          <a:ln/>
        </p:spPr>
        <p:txBody>
          <a:bodyPr wrap="square" lIns="0" tIns="0" rIns="0" bIns="0" rtlCol="0" anchor="ctr"/>
          <a:lstStyle/>
          <a:p>
            <a:pPr marL="0" indent="0" algn="ctr">
              <a:buNone/>
            </a:pPr>
            <a:r>
              <a:rPr lang="en-US" sz="1200" dirty="0">
                <a:solidFill>
                  <a:srgbClr val="9AAAB6"/>
                </a:solidFill>
                <a:latin typeface="Calibri" pitchFamily="34" charset="0"/>
                <a:ea typeface="Calibri" pitchFamily="34" charset="-122"/>
                <a:cs typeface="Calibri" pitchFamily="34" charset="-120"/>
              </a:rPr>
              <a:t>MediSights — Data-Driven Clinical Insights  ·  NTI Final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5570</Words>
  <Application>Microsoft Office PowerPoint</Application>
  <PresentationFormat>Widescreen</PresentationFormat>
  <Paragraphs>905</Paragraphs>
  <Slides>45</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Mohamed  Ahmed  Gaballah</cp:lastModifiedBy>
  <cp:revision>3</cp:revision>
  <dcterms:created xsi:type="dcterms:W3CDTF">2026-08-13T19:37:52Z</dcterms:created>
  <dcterms:modified xsi:type="dcterms:W3CDTF">2026-08-14T16:44:43Z</dcterms:modified>
</cp:coreProperties>
</file>